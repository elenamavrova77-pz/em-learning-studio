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QRwokSlAtftcnf/lZV3O/OZjn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bg-BG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7" name="Google Shape;57;p11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1" y="-1"/>
            <a:ext cx="9144002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11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9" name="Google Shape;59;p11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1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1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1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1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5" name="Google Shape;65;p11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6" name="Google Shape;66;p11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1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8" name="Google Shape;68;p11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9" name="Google Shape;69;p11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1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1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2" name="Google Shape;72;p11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4" name="Google Shape;74;p11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7" name="Google Shape;77;p11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1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1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0" name="Google Shape;80;p11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1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2" name="Google Shape;82;p11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1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4" name="Google Shape;84;p11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1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6" name="Google Shape;86;p11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1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0" name="Google Shape;90;p11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1" name="Google Shape;91;p11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3" name="Google Shape;93;p11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4" name="Google Shape;94;p11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6" name="Google Shape;96;p11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8" name="Google Shape;98;p11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1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1" name="Google Shape;101;p11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3" name="Google Shape;103;p11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Google Shape;106;p11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7" name="Google Shape;107;p11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0" name="Google Shape;110;p11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2" name="Google Shape;112;p11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1"/>
          <p:cNvSpPr txBox="1"/>
          <p:nvPr>
            <p:ph type="ctrTitle"/>
          </p:nvPr>
        </p:nvSpPr>
        <p:spPr>
          <a:xfrm>
            <a:off x="1900238" y="1122363"/>
            <a:ext cx="6593681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1" type="subTitle"/>
          </p:nvPr>
        </p:nvSpPr>
        <p:spPr>
          <a:xfrm>
            <a:off x="1900238" y="3602038"/>
            <a:ext cx="6593681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/>
        </p:txBody>
      </p:sp>
      <p:sp>
        <p:nvSpPr>
          <p:cNvPr id="115" name="Google Shape;115;p11"/>
          <p:cNvSpPr txBox="1"/>
          <p:nvPr>
            <p:ph idx="10" type="dt"/>
          </p:nvPr>
        </p:nvSpPr>
        <p:spPr>
          <a:xfrm>
            <a:off x="5801052" y="541020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1" type="ftr"/>
          </p:nvPr>
        </p:nvSpPr>
        <p:spPr>
          <a:xfrm>
            <a:off x="1900237" y="5410202"/>
            <a:ext cx="38436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12" type="sldNum"/>
          </p:nvPr>
        </p:nvSpPr>
        <p:spPr>
          <a:xfrm>
            <a:off x="7915603" y="5410200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2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/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3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3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type="title"/>
          </p:nvPr>
        </p:nvSpPr>
        <p:spPr>
          <a:xfrm>
            <a:off x="856058" y="1419227"/>
            <a:ext cx="74295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856058" y="4424362"/>
            <a:ext cx="7429500" cy="137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4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4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4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 txBox="1"/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5"/>
          <p:cNvSpPr txBox="1"/>
          <p:nvPr>
            <p:ph idx="1" type="body"/>
          </p:nvPr>
        </p:nvSpPr>
        <p:spPr>
          <a:xfrm>
            <a:off x="856058" y="2249486"/>
            <a:ext cx="3658792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7" name="Google Shape;137;p15"/>
          <p:cNvSpPr txBox="1"/>
          <p:nvPr>
            <p:ph idx="2" type="body"/>
          </p:nvPr>
        </p:nvSpPr>
        <p:spPr>
          <a:xfrm>
            <a:off x="4629151" y="2249486"/>
            <a:ext cx="3656408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8" name="Google Shape;138;p15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5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>
            <p:ph type="title"/>
          </p:nvPr>
        </p:nvSpPr>
        <p:spPr>
          <a:xfrm>
            <a:off x="856058" y="619127"/>
            <a:ext cx="7429500" cy="14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6"/>
          <p:cNvSpPr txBox="1"/>
          <p:nvPr>
            <p:ph idx="1" type="body"/>
          </p:nvPr>
        </p:nvSpPr>
        <p:spPr>
          <a:xfrm>
            <a:off x="1078902" y="2249486"/>
            <a:ext cx="3435949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44" name="Google Shape;144;p16"/>
          <p:cNvSpPr txBox="1"/>
          <p:nvPr>
            <p:ph idx="2" type="body"/>
          </p:nvPr>
        </p:nvSpPr>
        <p:spPr>
          <a:xfrm>
            <a:off x="856058" y="3073398"/>
            <a:ext cx="3658793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45" name="Google Shape;145;p16"/>
          <p:cNvSpPr txBox="1"/>
          <p:nvPr>
            <p:ph idx="3" type="body"/>
          </p:nvPr>
        </p:nvSpPr>
        <p:spPr>
          <a:xfrm>
            <a:off x="4851992" y="2249485"/>
            <a:ext cx="3433565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46" name="Google Shape;146;p16"/>
          <p:cNvSpPr txBox="1"/>
          <p:nvPr>
            <p:ph idx="4" type="body"/>
          </p:nvPr>
        </p:nvSpPr>
        <p:spPr>
          <a:xfrm>
            <a:off x="4629150" y="3073398"/>
            <a:ext cx="3656408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7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7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7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title"/>
          </p:nvPr>
        </p:nvSpPr>
        <p:spPr>
          <a:xfrm>
            <a:off x="860029" y="609601"/>
            <a:ext cx="2892028" cy="16398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8"/>
          <p:cNvSpPr txBox="1"/>
          <p:nvPr>
            <p:ph idx="1" type="body"/>
          </p:nvPr>
        </p:nvSpPr>
        <p:spPr>
          <a:xfrm>
            <a:off x="3867150" y="592666"/>
            <a:ext cx="4418407" cy="5198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2" type="body"/>
          </p:nvPr>
        </p:nvSpPr>
        <p:spPr>
          <a:xfrm>
            <a:off x="860029" y="2249486"/>
            <a:ext cx="2892028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59" name="Google Shape;159;p18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8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856061" y="609600"/>
            <a:ext cx="3753962" cy="1639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9"/>
          <p:cNvSpPr/>
          <p:nvPr>
            <p:ph idx="2" type="pic"/>
          </p:nvPr>
        </p:nvSpPr>
        <p:spPr>
          <a:xfrm>
            <a:off x="4832866" y="609600"/>
            <a:ext cx="3452693" cy="5181602"/>
          </a:xfrm>
          <a:prstGeom prst="round2DiagRect">
            <a:avLst>
              <a:gd fmla="val 6074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56059" y="2249486"/>
            <a:ext cx="3753964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6" name="Google Shape;166;p19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9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9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56058" y="4304665"/>
            <a:ext cx="7434266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0"/>
          <p:cNvSpPr/>
          <p:nvPr>
            <p:ph idx="2" type="pic"/>
          </p:nvPr>
        </p:nvSpPr>
        <p:spPr>
          <a:xfrm>
            <a:off x="856058" y="606426"/>
            <a:ext cx="7434266" cy="3299778"/>
          </a:xfrm>
          <a:prstGeom prst="round2DiagRect">
            <a:avLst>
              <a:gd fmla="val 5101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856024" y="5124020"/>
            <a:ext cx="7433144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73" name="Google Shape;173;p20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0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0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56093" y="609600"/>
            <a:ext cx="742946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856058" y="4419600"/>
            <a:ext cx="7428344" cy="13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79" name="Google Shape;179;p21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1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1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1084659" y="609600"/>
            <a:ext cx="6977064" cy="2748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1290484" y="3365557"/>
            <a:ext cx="6564224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5" name="Google Shape;185;p22"/>
          <p:cNvSpPr txBox="1"/>
          <p:nvPr>
            <p:ph idx="2" type="body"/>
          </p:nvPr>
        </p:nvSpPr>
        <p:spPr>
          <a:xfrm>
            <a:off x="856058" y="4309919"/>
            <a:ext cx="7429502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6" name="Google Shape;186;p22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2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2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i="0" lang="bg-BG" sz="8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i="0" lang="bg-BG" sz="8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856058" y="2134042"/>
            <a:ext cx="7429501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856023" y="4657655"/>
            <a:ext cx="7428379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94" name="Google Shape;194;p23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3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3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856060" y="609600"/>
            <a:ext cx="742949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856058" y="2674463"/>
            <a:ext cx="2397674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0" name="Google Shape;200;p24"/>
          <p:cNvSpPr txBox="1"/>
          <p:nvPr>
            <p:ph idx="2" type="body"/>
          </p:nvPr>
        </p:nvSpPr>
        <p:spPr>
          <a:xfrm>
            <a:off x="856059" y="3360263"/>
            <a:ext cx="2396432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1" name="Google Shape;201;p24"/>
          <p:cNvSpPr txBox="1"/>
          <p:nvPr>
            <p:ph idx="3" type="body"/>
          </p:nvPr>
        </p:nvSpPr>
        <p:spPr>
          <a:xfrm>
            <a:off x="3386075" y="2677635"/>
            <a:ext cx="2388289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2" name="Google Shape;202;p24"/>
          <p:cNvSpPr txBox="1"/>
          <p:nvPr>
            <p:ph idx="4" type="body"/>
          </p:nvPr>
        </p:nvSpPr>
        <p:spPr>
          <a:xfrm>
            <a:off x="3386075" y="3363435"/>
            <a:ext cx="2388958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3" name="Google Shape;203;p24"/>
          <p:cNvSpPr txBox="1"/>
          <p:nvPr>
            <p:ph idx="5" type="body"/>
          </p:nvPr>
        </p:nvSpPr>
        <p:spPr>
          <a:xfrm>
            <a:off x="5889332" y="2674463"/>
            <a:ext cx="2396226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4" name="Google Shape;204;p24"/>
          <p:cNvSpPr txBox="1"/>
          <p:nvPr>
            <p:ph idx="6" type="body"/>
          </p:nvPr>
        </p:nvSpPr>
        <p:spPr>
          <a:xfrm>
            <a:off x="5889332" y="3360263"/>
            <a:ext cx="2396226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5" name="Google Shape;205;p24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4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4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856059" y="609600"/>
            <a:ext cx="742949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856060" y="4404596"/>
            <a:ext cx="239643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1" name="Google Shape;211;p25"/>
          <p:cNvSpPr/>
          <p:nvPr>
            <p:ph idx="2" type="pic"/>
          </p:nvPr>
        </p:nvSpPr>
        <p:spPr>
          <a:xfrm>
            <a:off x="856060" y="2666998"/>
            <a:ext cx="239643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2" name="Google Shape;212;p25"/>
          <p:cNvSpPr txBox="1"/>
          <p:nvPr>
            <p:ph idx="3" type="body"/>
          </p:nvPr>
        </p:nvSpPr>
        <p:spPr>
          <a:xfrm>
            <a:off x="856060" y="4980859"/>
            <a:ext cx="2396430" cy="817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3" name="Google Shape;213;p25"/>
          <p:cNvSpPr txBox="1"/>
          <p:nvPr>
            <p:ph idx="4" type="body"/>
          </p:nvPr>
        </p:nvSpPr>
        <p:spPr>
          <a:xfrm>
            <a:off x="3366790" y="4404596"/>
            <a:ext cx="24003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4" name="Google Shape;214;p25"/>
          <p:cNvSpPr/>
          <p:nvPr>
            <p:ph idx="5" type="pic"/>
          </p:nvPr>
        </p:nvSpPr>
        <p:spPr>
          <a:xfrm>
            <a:off x="3366790" y="2666998"/>
            <a:ext cx="2399205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5" name="Google Shape;215;p25"/>
          <p:cNvSpPr txBox="1"/>
          <p:nvPr>
            <p:ph idx="6" type="body"/>
          </p:nvPr>
        </p:nvSpPr>
        <p:spPr>
          <a:xfrm>
            <a:off x="3365695" y="4980857"/>
            <a:ext cx="2400300" cy="810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6" name="Google Shape;216;p25"/>
          <p:cNvSpPr txBox="1"/>
          <p:nvPr>
            <p:ph idx="7" type="body"/>
          </p:nvPr>
        </p:nvSpPr>
        <p:spPr>
          <a:xfrm>
            <a:off x="5889426" y="4404595"/>
            <a:ext cx="239305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7" name="Google Shape;217;p25"/>
          <p:cNvSpPr/>
          <p:nvPr>
            <p:ph idx="8" type="pic"/>
          </p:nvPr>
        </p:nvSpPr>
        <p:spPr>
          <a:xfrm>
            <a:off x="5889332" y="2666998"/>
            <a:ext cx="2396227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8" name="Google Shape;218;p25"/>
          <p:cNvSpPr txBox="1"/>
          <p:nvPr>
            <p:ph idx="9" type="body"/>
          </p:nvPr>
        </p:nvSpPr>
        <p:spPr>
          <a:xfrm>
            <a:off x="5889332" y="4980855"/>
            <a:ext cx="2396226" cy="81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9" name="Google Shape;219;p25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5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5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6"/>
          <p:cNvSpPr txBox="1"/>
          <p:nvPr>
            <p:ph idx="1" type="body"/>
          </p:nvPr>
        </p:nvSpPr>
        <p:spPr>
          <a:xfrm rot="5400000">
            <a:off x="2799953" y="305594"/>
            <a:ext cx="3541714" cy="7429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5" name="Google Shape;225;p26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6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/>
          <p:nvPr>
            <p:ph type="title"/>
          </p:nvPr>
        </p:nvSpPr>
        <p:spPr>
          <a:xfrm rot="5400000">
            <a:off x="4942880" y="2448522"/>
            <a:ext cx="5181601" cy="1503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27"/>
          <p:cNvSpPr txBox="1"/>
          <p:nvPr>
            <p:ph idx="1" type="body"/>
          </p:nvPr>
        </p:nvSpPr>
        <p:spPr>
          <a:xfrm rot="5400000">
            <a:off x="1170978" y="294679"/>
            <a:ext cx="5181601" cy="5811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31" name="Google Shape;231;p27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7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27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10" name="Google Shape;10;p10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1" y="-1"/>
            <a:ext cx="9144002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0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12" name="Google Shape;12;p10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13" name="Google Shape;13;p10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10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10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10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7" name="Google Shape;17;p10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10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9" name="Google Shape;19;p10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0" name="Google Shape;20;p10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10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10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" name="Google Shape;23;p10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" name="Google Shape;24;p10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5" name="Google Shape;25;p10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6" name="Google Shape;26;p10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" name="Google Shape;27;p10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8" name="Google Shape;28;p10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10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0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" name="Google Shape;31;p10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10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3" name="Google Shape;33;p10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10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5" name="Google Shape;35;p10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6" name="Google Shape;36;p10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10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10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9" name="Google Shape;39;p10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" name="Google Shape;40;p10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</p:grpSpPr>
          <p:sp>
            <p:nvSpPr>
              <p:cNvPr id="41" name="Google Shape;41;p10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2" name="Google Shape;42;p10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10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10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5" name="Google Shape;45;p10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10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7" name="Google Shape;47;p10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10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9" name="Google Shape;49;p10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10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" name="Google Shape;51;p10"/>
          <p:cNvSpPr txBox="1"/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0" type="dt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1" type="ftr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"/>
          <p:cNvSpPr txBox="1"/>
          <p:nvPr>
            <p:ph type="ctrTitle"/>
          </p:nvPr>
        </p:nvSpPr>
        <p:spPr>
          <a:xfrm>
            <a:off x="1900238" y="1122363"/>
            <a:ext cx="6593681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</a:pPr>
            <a:r>
              <a:rPr lang="bg-BG" sz="5400"/>
              <a:t>ВХОДНО - ИЗХОДНИ </a:t>
            </a:r>
            <a:br>
              <a:rPr lang="bg-BG" sz="5400"/>
            </a:br>
            <a:r>
              <a:rPr lang="bg-BG" sz="5400"/>
              <a:t>УСТОЙСТВА</a:t>
            </a:r>
            <a:endParaRPr/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"/>
          <p:cNvSpPr txBox="1"/>
          <p:nvPr>
            <p:ph idx="4294967295" type="title"/>
          </p:nvPr>
        </p:nvSpPr>
        <p:spPr>
          <a:xfrm>
            <a:off x="0" y="5492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b="1" lang="bg-BG" u="sng">
                <a:solidFill>
                  <a:schemeClr val="lt1"/>
                </a:solidFill>
              </a:rPr>
              <a:t>ВХОДНИ УСТРОЙСТВА</a:t>
            </a:r>
            <a:endParaRPr/>
          </a:p>
        </p:txBody>
      </p:sp>
      <p:sp>
        <p:nvSpPr>
          <p:cNvPr id="244" name="Google Shape;244;p2"/>
          <p:cNvSpPr txBox="1"/>
          <p:nvPr>
            <p:ph idx="4294967295" type="body"/>
          </p:nvPr>
        </p:nvSpPr>
        <p:spPr>
          <a:xfrm>
            <a:off x="719534" y="2044700"/>
            <a:ext cx="2700338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b="1" lang="bg-BG" sz="2800"/>
              <a:t>Клавиатура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b="1" lang="bg-BG" sz="2800"/>
              <a:t>Мишка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b="1" lang="bg-BG" sz="2800"/>
              <a:t>Скенер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b="1" lang="bg-BG" sz="2800"/>
              <a:t>Микрофон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b="1" lang="bg-BG" sz="2800"/>
              <a:t>Камера</a:t>
            </a:r>
            <a:endParaRPr/>
          </a:p>
        </p:txBody>
      </p:sp>
      <p:pic>
        <p:nvPicPr>
          <p:cNvPr descr="PC_Camera2" id="245" name="Google Shape;24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9151" y="3850333"/>
            <a:ext cx="1905000" cy="19050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4426" id="246" name="Google Shape;24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3725" y="2121284"/>
            <a:ext cx="2590800" cy="230028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"/>
          <p:cNvSpPr txBox="1"/>
          <p:nvPr>
            <p:ph idx="4294967295" type="title"/>
          </p:nvPr>
        </p:nvSpPr>
        <p:spPr>
          <a:xfrm>
            <a:off x="0" y="2603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b="1" lang="bg-BG" sz="4800">
                <a:solidFill>
                  <a:schemeClr val="lt1"/>
                </a:solidFill>
              </a:rPr>
              <a:t>КЛАВИАТУРА</a:t>
            </a:r>
            <a:endParaRPr/>
          </a:p>
        </p:txBody>
      </p:sp>
      <p:sp>
        <p:nvSpPr>
          <p:cNvPr id="252" name="Google Shape;252;p3"/>
          <p:cNvSpPr txBox="1"/>
          <p:nvPr>
            <p:ph idx="4294967295" type="body"/>
          </p:nvPr>
        </p:nvSpPr>
        <p:spPr>
          <a:xfrm>
            <a:off x="4725875" y="1341450"/>
            <a:ext cx="4418100" cy="47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None/>
            </a:pPr>
            <a:r>
              <a:rPr lang="bg-BG"/>
              <a:t>Клавиатурата е създадена по подобие на бутоните на пишеща машина. С тях се въвежда на текстова информация. Върху нея са разположени клавиши. Има различни стандарти за разположение на символите върху клавиатурата</a:t>
            </a:r>
            <a:endParaRPr sz="3100"/>
          </a:p>
        </p:txBody>
      </p:sp>
      <p:pic>
        <p:nvPicPr>
          <p:cNvPr descr="C:\Users\Ted\Desktop\KDB.jpg" id="253" name="Google Shape;2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701340">
            <a:off x="699637" y="2186596"/>
            <a:ext cx="3801396" cy="190720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"/>
          <p:cNvSpPr txBox="1"/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wentieth Century"/>
              <a:buNone/>
            </a:pPr>
            <a:r>
              <a:rPr b="1" lang="bg-BG"/>
              <a:t>СТАНДАРТНА КЛАВИАТУРНА ПОДРЕДБА</a:t>
            </a:r>
            <a:br>
              <a:rPr b="1" lang="bg-BG"/>
            </a:br>
            <a:endParaRPr/>
          </a:p>
        </p:txBody>
      </p:sp>
      <p:sp>
        <p:nvSpPr>
          <p:cNvPr id="259" name="Google Shape;259;p4"/>
          <p:cNvSpPr txBox="1"/>
          <p:nvPr>
            <p:ph idx="1" type="body"/>
          </p:nvPr>
        </p:nvSpPr>
        <p:spPr>
          <a:xfrm>
            <a:off x="856050" y="1857925"/>
            <a:ext cx="78750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bg-BG">
                <a:solidFill>
                  <a:schemeClr val="lt1"/>
                </a:solidFill>
              </a:rPr>
              <a:t>QWERTY - най-често използваната подредба. Името идва от първите пет клавиша на най-горния ред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bg-BG"/>
              <a:t>БДС – заимствана от старите печатащи машини. Вляво са разположени гласните звуци, а вдясно съгласните.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bg-BG">
                <a:solidFill>
                  <a:schemeClr val="lt1"/>
                </a:solidFill>
              </a:rPr>
              <a:t>Допълнителни клавиши – за управление на звук, работа в интернет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"/>
          <p:cNvSpPr txBox="1"/>
          <p:nvPr>
            <p:ph idx="4294967295" type="title"/>
          </p:nvPr>
        </p:nvSpPr>
        <p:spPr>
          <a:xfrm>
            <a:off x="3887788" y="333375"/>
            <a:ext cx="52562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bg-BG"/>
              <a:t>МИШКА</a:t>
            </a:r>
            <a:endParaRPr/>
          </a:p>
        </p:txBody>
      </p:sp>
      <p:sp>
        <p:nvSpPr>
          <p:cNvPr id="265" name="Google Shape;265;p5"/>
          <p:cNvSpPr txBox="1"/>
          <p:nvPr>
            <p:ph idx="4294967295" type="body"/>
          </p:nvPr>
        </p:nvSpPr>
        <p:spPr>
          <a:xfrm>
            <a:off x="611560" y="1340768"/>
            <a:ext cx="5184576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None/>
            </a:pPr>
            <a:r>
              <a:rPr lang="bg-BG"/>
              <a:t>Задвижва се от ръката на потребителя, предавайки информация за движението си на компютъра.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None/>
            </a:pPr>
            <a:r>
              <a:rPr lang="bg-BG"/>
              <a:t>Възможни действия с мишка: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bg-BG"/>
              <a:t>Влачене и пускане – Drag &amp; Drop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bg-BG"/>
              <a:t>Еднократно щракане с ляв бутон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bg-BG"/>
              <a:t>Двукратно щракане с ляв бутон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bg-BG"/>
              <a:t>Еднократно щракане с десен бутон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bg-BG"/>
              <a:t>Влачене с десен бутон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bg-BG"/>
              <a:t>Щракане с ролката (scroll)</a:t>
            </a:r>
            <a:endParaRPr/>
          </a:p>
        </p:txBody>
      </p:sp>
      <p:pic>
        <p:nvPicPr>
          <p:cNvPr descr="C:\Users\Ted\Desktop\LX6.jpg" id="266" name="Google Shape;2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6136" y="2492896"/>
            <a:ext cx="2355262" cy="25208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"/>
          <p:cNvSpPr txBox="1"/>
          <p:nvPr>
            <p:ph idx="4294967295" type="title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b="1" lang="bg-BG">
                <a:solidFill>
                  <a:schemeClr val="lt1"/>
                </a:solidFill>
              </a:rPr>
              <a:t>ИЗХОДНИ УСТРОЙСТВА</a:t>
            </a:r>
            <a:endParaRPr/>
          </a:p>
        </p:txBody>
      </p:sp>
      <p:sp>
        <p:nvSpPr>
          <p:cNvPr id="272" name="Google Shape;272;p6"/>
          <p:cNvSpPr txBox="1"/>
          <p:nvPr>
            <p:ph idx="4294967295" type="body"/>
          </p:nvPr>
        </p:nvSpPr>
        <p:spPr>
          <a:xfrm>
            <a:off x="575518" y="1651000"/>
            <a:ext cx="2700338" cy="2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b="1" lang="bg-BG" sz="3600"/>
              <a:t>Монитор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b="1" lang="bg-BG" sz="3600"/>
              <a:t>Плотер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b="1" lang="bg-BG" sz="3600"/>
              <a:t>Принтер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b="1" lang="bg-BG" sz="3600"/>
              <a:t>Тонколони</a:t>
            </a:r>
            <a:endParaRPr/>
          </a:p>
        </p:txBody>
      </p:sp>
      <p:pic>
        <p:nvPicPr>
          <p:cNvPr descr="skener" id="273" name="Google Shape;2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1844824"/>
            <a:ext cx="2133600" cy="144016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slushalki" id="274" name="Google Shape;2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112426">
            <a:off x="4110375" y="2578099"/>
            <a:ext cx="2468563" cy="26670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slow">
    <p:randomBar dir="ver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"/>
          <p:cNvSpPr txBox="1"/>
          <p:nvPr>
            <p:ph idx="4294967295" type="title"/>
          </p:nvPr>
        </p:nvSpPr>
        <p:spPr>
          <a:xfrm>
            <a:off x="3830638" y="274638"/>
            <a:ext cx="53133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bg-BG"/>
              <a:t>МОНИТОР</a:t>
            </a:r>
            <a:endParaRPr/>
          </a:p>
        </p:txBody>
      </p:sp>
      <p:sp>
        <p:nvSpPr>
          <p:cNvPr id="280" name="Google Shape;280;p7"/>
          <p:cNvSpPr txBox="1"/>
          <p:nvPr>
            <p:ph idx="4294967295" type="body"/>
          </p:nvPr>
        </p:nvSpPr>
        <p:spPr>
          <a:xfrm>
            <a:off x="899592" y="1412875"/>
            <a:ext cx="4104208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None/>
            </a:pPr>
            <a:r>
              <a:rPr lang="bg-BG"/>
              <a:t>Различават се по размери (дължина на диагонала в инчове), разделителна способност (брой пиксели по хоризонтала и по вертикала), честота на опресняване, фирма производител</a:t>
            </a:r>
            <a:endParaRPr/>
          </a:p>
        </p:txBody>
      </p:sp>
      <p:pic>
        <p:nvPicPr>
          <p:cNvPr descr="C:\Users\Ted\Desktop\697px-LG_L194WT-SF_LCD_monitor.jpg" id="281" name="Google Shape;2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104" y="1916832"/>
            <a:ext cx="3319463" cy="296386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"/>
          <p:cNvSpPr txBox="1"/>
          <p:nvPr>
            <p:ph idx="4294967295" type="title"/>
          </p:nvPr>
        </p:nvSpPr>
        <p:spPr>
          <a:xfrm>
            <a:off x="4406900" y="274638"/>
            <a:ext cx="4737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bg-BG"/>
              <a:t>ПРИНТЕР</a:t>
            </a:r>
            <a:endParaRPr/>
          </a:p>
        </p:txBody>
      </p:sp>
      <p:sp>
        <p:nvSpPr>
          <p:cNvPr id="287" name="Google Shape;287;p8"/>
          <p:cNvSpPr txBox="1"/>
          <p:nvPr>
            <p:ph idx="4294967295" type="body"/>
          </p:nvPr>
        </p:nvSpPr>
        <p:spPr>
          <a:xfrm>
            <a:off x="5327650" y="1649413"/>
            <a:ext cx="3816350" cy="410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None/>
            </a:pPr>
            <a:r>
              <a:rPr lang="bg-BG"/>
              <a:t>Принтерите са устройства,които служат за отпечетване на хартия на документи, които могат да вклучват текст и изображения. Могат да се използват и в локална компютърна мрежа</a:t>
            </a:r>
            <a:endParaRPr/>
          </a:p>
        </p:txBody>
      </p:sp>
      <p:pic>
        <p:nvPicPr>
          <p:cNvPr descr="C:\Users\Ted\Desktop\printer_jpg_606x606_q85.jpg" id="288" name="Google Shape;2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436730">
            <a:off x="1073400" y="2491602"/>
            <a:ext cx="3816350" cy="296714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"/>
          <p:cNvSpPr txBox="1"/>
          <p:nvPr>
            <p:ph idx="4294967295" type="title"/>
          </p:nvPr>
        </p:nvSpPr>
        <p:spPr>
          <a:xfrm>
            <a:off x="5364089" y="274638"/>
            <a:ext cx="37799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bg-BG"/>
              <a:t>ТОНКОЛОНИ</a:t>
            </a:r>
            <a:endParaRPr/>
          </a:p>
        </p:txBody>
      </p:sp>
      <p:sp>
        <p:nvSpPr>
          <p:cNvPr id="294" name="Google Shape;294;p9"/>
          <p:cNvSpPr txBox="1"/>
          <p:nvPr>
            <p:ph idx="4294967295" type="body"/>
          </p:nvPr>
        </p:nvSpPr>
        <p:spPr>
          <a:xfrm>
            <a:off x="611560" y="2314253"/>
            <a:ext cx="4141862" cy="237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None/>
            </a:pPr>
            <a:r>
              <a:rPr lang="bg-BG"/>
              <a:t>Тонколонколоните са  озвучаващите елементи. </a:t>
            </a:r>
            <a:endParaRPr/>
          </a:p>
        </p:txBody>
      </p:sp>
      <p:pic>
        <p:nvPicPr>
          <p:cNvPr descr="C:\Users\Ted\Desktop\delux_dls20051.jpg" id="295" name="Google Shape;2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06026">
            <a:off x="4405153" y="2241680"/>
            <a:ext cx="3688600" cy="2310874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2012-10-04T17:27:06Z</dcterms:created>
  <dc:creator>Izkustva</dc:creator>
</cp:coreProperties>
</file>