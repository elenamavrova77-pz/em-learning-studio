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6" r:id="rId3"/>
    <p:sldId id="257" r:id="rId4"/>
    <p:sldId id="258" r:id="rId5"/>
    <p:sldId id="267" r:id="rId6"/>
    <p:sldId id="274" r:id="rId7"/>
    <p:sldId id="275" r:id="rId8"/>
    <p:sldId id="288" r:id="rId9"/>
    <p:sldId id="276" r:id="rId10"/>
    <p:sldId id="285" r:id="rId11"/>
    <p:sldId id="259" r:id="rId12"/>
    <p:sldId id="260" r:id="rId13"/>
    <p:sldId id="287" r:id="rId14"/>
    <p:sldId id="261" r:id="rId15"/>
    <p:sldId id="278" r:id="rId16"/>
    <p:sldId id="284" r:id="rId17"/>
    <p:sldId id="263" r:id="rId18"/>
    <p:sldId id="264" r:id="rId19"/>
    <p:sldId id="265" r:id="rId20"/>
    <p:sldId id="289" r:id="rId21"/>
  </p:sldIdLst>
  <p:sldSz cx="9144000" cy="5143500" type="screen16x9"/>
  <p:notesSz cx="5143500" cy="9144000"/>
  <p:embeddedFontLst>
    <p:embeddedFont>
      <p:font typeface="Comic Sans MS" panose="030F0702030302020204" pitchFamily="66" charset="0"/>
      <p:regular r:id="rId23"/>
      <p:bold r:id="rId24"/>
      <p:italic r:id="rId25"/>
      <p:boldItalic r:id="rId26"/>
    </p:embeddedFont>
    <p:embeddedFont>
      <p:font typeface="Inter Bold" panose="020B0604020202020204" charset="0"/>
      <p:regular r:id="rId27"/>
    </p:embeddedFont>
    <p:embeddedFont>
      <p:font typeface="Inter Light" panose="020B0604020202020204" charset="0"/>
      <p:regular r:id="rId28"/>
    </p:embeddedFont>
    <p:embeddedFont>
      <p:font typeface="Montserrat Bold" panose="020B0604020202020204" charset="-52"/>
      <p:regular r:id="rId29"/>
    </p:embeddedFont>
    <p:embeddedFont>
      <p:font typeface="Montserrat Medium" panose="00000600000000000000" pitchFamily="2" charset="-52"/>
      <p:regular r:id="rId30"/>
      <p: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-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906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F003C-E9A7-7E88-0BB3-97067CAB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C5F68-C920-302C-E98B-267C353B0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CD4A3F-10BB-B228-C615-62BA9E6E8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65D74-14AB-D530-CEA9-E4E9089D18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7418B-33B9-4EF2-0CEF-BE4D3260C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B22BE5-B6B1-CCF4-CA8A-110220DD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B1A90-72FF-EF1B-3BC4-8D16EBCE0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EC711-A827-4305-9422-220670325487}" type="slidenum">
              <a:rPr lang="bg-BG" altLang="en-US"/>
              <a:pPr/>
              <a:t>‹#›</a:t>
            </a:fld>
            <a:endParaRPr lang="bg-BG" altLang="en-US"/>
          </a:p>
        </p:txBody>
      </p:sp>
    </p:spTree>
    <p:extLst>
      <p:ext uri="{BB962C8B-B14F-4D97-AF65-F5344CB8AC3E}">
        <p14:creationId xmlns:p14="http://schemas.microsoft.com/office/powerpoint/2010/main" val="1799288672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469A-6B8B-E10E-895F-AF4D7249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7D76B-46E9-97C8-292E-002B7EAA3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83D6A-0984-D190-38D8-FD162CA2A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1135EC-D492-48D2-828E-09962D635C5C}" type="slidenum">
              <a:rPr lang="bg-BG" altLang="en-US"/>
              <a:pPr/>
              <a:t>‹#›</a:t>
            </a:fld>
            <a:endParaRPr lang="bg-BG" altLang="en-US"/>
          </a:p>
        </p:txBody>
      </p:sp>
    </p:spTree>
    <p:extLst>
      <p:ext uri="{BB962C8B-B14F-4D97-AF65-F5344CB8AC3E}">
        <p14:creationId xmlns:p14="http://schemas.microsoft.com/office/powerpoint/2010/main" val="682375757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7719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37719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5B899-AAB2-68C1-FA79-A4C12A2A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9426E4-9CAE-C441-0D95-13E264D31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5F3EC-B758-5BCA-BF32-9149CB980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AD351B-3876-4387-93BC-83FAD5B64706}" type="slidenum">
              <a:rPr lang="bg-BG" altLang="en-US"/>
              <a:pPr/>
              <a:t>‹#›</a:t>
            </a:fld>
            <a:endParaRPr lang="bg-BG" altLang="en-US"/>
          </a:p>
        </p:txBody>
      </p:sp>
    </p:spTree>
    <p:extLst>
      <p:ext uri="{BB962C8B-B14F-4D97-AF65-F5344CB8AC3E}">
        <p14:creationId xmlns:p14="http://schemas.microsoft.com/office/powerpoint/2010/main" val="335616551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4300"/>
            <a:ext cx="6870700" cy="12001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371600"/>
            <a:ext cx="7696200" cy="2743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6D544-B91F-BFB2-FEAB-C4BF30D95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5E273-15BD-FF5E-1C44-C491E373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bg-BG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CFB8B-F3D4-546D-C6DD-7DF5B344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365CFC-33AD-48AA-9112-461502F430B4}" type="slidenum">
              <a:rPr lang="bg-BG" altLang="en-US"/>
              <a:pPr/>
              <a:t>‹#›</a:t>
            </a:fld>
            <a:endParaRPr lang="bg-BG" altLang="en-US"/>
          </a:p>
        </p:txBody>
      </p:sp>
    </p:spTree>
    <p:extLst>
      <p:ext uri="{BB962C8B-B14F-4D97-AF65-F5344CB8AC3E}">
        <p14:creationId xmlns:p14="http://schemas.microsoft.com/office/powerpoint/2010/main" val="76215541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8919" y="901513"/>
            <a:ext cx="4722763" cy="1104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4C8E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Операционна система и носители на информация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848919" y="2120280"/>
            <a:ext cx="4722763" cy="53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Основни единици за измерване на информация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3848919" y="4702792"/>
            <a:ext cx="2604046" cy="215354"/>
          </a:xfrm>
          <a:prstGeom prst="roundRect">
            <a:avLst>
              <a:gd name="adj" fmla="val 47398"/>
            </a:avLst>
          </a:prstGeom>
          <a:solidFill>
            <a:srgbClr val="DFE1EC"/>
          </a:solidFill>
          <a:ln/>
        </p:spPr>
      </p:sp>
      <p:sp>
        <p:nvSpPr>
          <p:cNvPr id="6" name="Text 3"/>
          <p:cNvSpPr/>
          <p:nvPr/>
        </p:nvSpPr>
        <p:spPr>
          <a:xfrm>
            <a:off x="3981749" y="4745282"/>
            <a:ext cx="289113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КМИТ, 6 КЛАС, ЕЛЕНА МАВРОВА-НЕНКОВА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66BC4B9-719A-FE80-19E1-600BBA3E3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182" y="185056"/>
            <a:ext cx="8035636" cy="845344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1. Информация. Информационни технологии. </a:t>
            </a:r>
            <a:endParaRPr lang="en-GB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Medium" pitchFamily="34" charset="0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B1CE7874-7044-62A7-1432-8F43FF7EA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524" y="1443216"/>
            <a:ext cx="5778103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bg-BG" altLang="en-US" b="1" i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     </a:t>
            </a: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rPr>
              <a:t>Информация е сведение за предмети (хора, животни), явления или действия (от околната среда).</a:t>
            </a:r>
            <a:endParaRPr lang="en-GB" altLang="en-US" b="1" dirty="0">
              <a:effectLst>
                <a:outerShdw blurRad="38100" dist="38100" dir="2700000" algn="tl">
                  <a:srgbClr val="C0C0C0"/>
                </a:outerShdw>
              </a:effectLst>
              <a:latin typeface="+mj-lt"/>
            </a:endParaRP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9AAECA65-E810-A5AD-38C5-6CB566254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1028" y="2303860"/>
            <a:ext cx="5347097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Информацията може да бъде:</a:t>
            </a:r>
          </a:p>
          <a:p>
            <a:pPr lvl="1" algn="ctr" eaLnBrk="1" hangingPunct="1">
              <a:defRPr/>
            </a:pP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</a:t>
            </a:r>
            <a:endParaRPr lang="bg-BG" altLang="en-US" dirty="0"/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2601BF73-9120-0049-52B2-31330897A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443" y="3053953"/>
            <a:ext cx="5551200" cy="17543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lvl="1" eaLnBrk="1" hangingPunct="1">
              <a:buFontTx/>
              <a:buBlip>
                <a:blip r:embed="rId2"/>
              </a:buBlip>
              <a:defRPr/>
            </a:pP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текст – букви, цифри и други специални</a:t>
            </a:r>
            <a:r>
              <a:rPr lang="en-US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знаци;</a:t>
            </a:r>
          </a:p>
          <a:p>
            <a:pPr lvl="1" eaLnBrk="1" hangingPunct="1">
              <a:buFontTx/>
              <a:buBlip>
                <a:blip r:embed="rId2"/>
              </a:buBlip>
              <a:defRPr/>
            </a:pP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звук – разговор, музика;</a:t>
            </a:r>
          </a:p>
          <a:p>
            <a:pPr lvl="1" eaLnBrk="1" hangingPunct="1">
              <a:buFontTx/>
              <a:buBlip>
                <a:blip r:embed="rId2"/>
              </a:buBlip>
              <a:defRPr/>
            </a:pP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картина – графично изображение;</a:t>
            </a:r>
          </a:p>
          <a:p>
            <a:pPr lvl="1" eaLnBrk="1" hangingPunct="1">
              <a:buFontTx/>
              <a:buBlip>
                <a:blip r:embed="rId2"/>
              </a:buBlip>
              <a:defRPr/>
            </a:pP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видеоизображение;</a:t>
            </a:r>
          </a:p>
          <a:p>
            <a:pPr lvl="1" eaLnBrk="1" hangingPunct="1">
              <a:buFontTx/>
              <a:buBlip>
                <a:blip r:embed="rId2"/>
              </a:buBlip>
              <a:defRPr/>
            </a:pPr>
            <a:r>
              <a:rPr lang="bg-BG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жестове.</a:t>
            </a:r>
          </a:p>
          <a:p>
            <a:pPr eaLnBrk="1" hangingPunct="1">
              <a:buFontTx/>
              <a:buChar char="•"/>
              <a:defRPr/>
            </a:pPr>
            <a:endParaRPr lang="bg-BG" altLang="en-US" dirty="0"/>
          </a:p>
        </p:txBody>
      </p:sp>
      <p:pic>
        <p:nvPicPr>
          <p:cNvPr id="2" name="Картина 1">
            <a:extLst>
              <a:ext uri="{FF2B5EF4-FFF2-40B4-BE49-F238E27FC236}">
                <a16:creationId xmlns:a16="http://schemas.microsoft.com/office/drawing/2014/main" id="{CAD875B4-9045-FFC8-959C-23A7FF7D881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036" y="927084"/>
            <a:ext cx="2438400" cy="24384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7966"/>
            <a:ext cx="4722763" cy="1266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Какво са информационните технологии?</a:t>
            </a:r>
            <a:endParaRPr lang="en-US" sz="26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858045"/>
            <a:ext cx="4722763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Информационните технологии обхващат всички човешки дейности, свързани със </a:t>
            </a:r>
            <a:r>
              <a:rPr lang="en-US" sz="105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събиране, обработка, съхранение и разпространение</a:t>
            </a:r>
            <a:r>
              <a:rPr lang="en-US" sz="105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на звукова, графична, текстова и числова информация.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96119" y="2636267"/>
            <a:ext cx="2297013" cy="1201341"/>
          </a:xfrm>
          <a:prstGeom prst="roundRect">
            <a:avLst>
              <a:gd name="adj" fmla="val 10123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943" y="2776091"/>
            <a:ext cx="2017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Компютри</a:t>
            </a:r>
            <a:endParaRPr lang="en-US" sz="13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4"/>
          <p:cNvSpPr/>
          <p:nvPr/>
        </p:nvSpPr>
        <p:spPr>
          <a:xfrm>
            <a:off x="635943" y="3064446"/>
            <a:ext cx="20173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Основно средство за обработка на данни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868" y="2636267"/>
            <a:ext cx="2297013" cy="1201341"/>
          </a:xfrm>
          <a:prstGeom prst="roundRect">
            <a:avLst>
              <a:gd name="adj" fmla="val 10123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61692" y="2776091"/>
            <a:ext cx="20173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Мобилни устройства</a:t>
            </a:r>
            <a:endParaRPr lang="en-US" sz="13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7"/>
          <p:cNvSpPr/>
          <p:nvPr/>
        </p:nvSpPr>
        <p:spPr>
          <a:xfrm>
            <a:off x="3061692" y="3275558"/>
            <a:ext cx="20173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Телефони, таблети, цифрови камери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6119" y="3966344"/>
            <a:ext cx="4722763" cy="779115"/>
          </a:xfrm>
          <a:prstGeom prst="roundRect">
            <a:avLst>
              <a:gd name="adj" fmla="val 15609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943" y="4106168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Умни уреди</a:t>
            </a:r>
            <a:endParaRPr lang="en-US" sz="13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5943" y="4394522"/>
            <a:ext cx="444311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Телевизори, нови домакински уреди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406896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bg-BG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2. Основни информационни дейности.</a:t>
            </a:r>
          </a:p>
        </p:txBody>
      </p:sp>
      <p:sp>
        <p:nvSpPr>
          <p:cNvPr id="3" name="Text 1"/>
          <p:cNvSpPr/>
          <p:nvPr/>
        </p:nvSpPr>
        <p:spPr>
          <a:xfrm>
            <a:off x="496119" y="1271513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Създаването на компютъра позволява използването на информацията във всички области на живота. Работата с информация преминава през четири </a:t>
            </a:r>
            <a:r>
              <a:rPr lang="en-US" sz="1400" dirty="0" err="1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основни</a:t>
            </a: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400" dirty="0" err="1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етапа</a:t>
            </a:r>
            <a:r>
              <a:rPr lang="bg-BG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(основни информационни дейности)</a:t>
            </a: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68909"/>
            <a:ext cx="4075881" cy="558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645" y="2564457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Събиране</a:t>
            </a:r>
            <a:endParaRPr lang="en-US" sz="135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 3"/>
          <p:cNvSpPr/>
          <p:nvPr/>
        </p:nvSpPr>
        <p:spPr>
          <a:xfrm>
            <a:off x="635645" y="2864867"/>
            <a:ext cx="3796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Въвеждане чрез клавиатура, мишка, микрофон, скенер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68909"/>
            <a:ext cx="4075881" cy="558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11526" y="2564457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Съхранение</a:t>
            </a:r>
            <a:endParaRPr lang="en-US" sz="135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5"/>
          <p:cNvSpPr/>
          <p:nvPr/>
        </p:nvSpPr>
        <p:spPr>
          <a:xfrm>
            <a:off x="4711526" y="2864867"/>
            <a:ext cx="3796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Записване на дискове, CD, DVD, USB флашпамет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225850"/>
            <a:ext cx="4075881" cy="5581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5645" y="3921398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Обработка</a:t>
            </a:r>
            <a:endParaRPr lang="en-US" sz="135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7"/>
          <p:cNvSpPr/>
          <p:nvPr/>
        </p:nvSpPr>
        <p:spPr>
          <a:xfrm>
            <a:off x="635645" y="4221807"/>
            <a:ext cx="3796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Анализиране, редактиране чрез компютърни програми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225850"/>
            <a:ext cx="4075881" cy="5581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11526" y="3921398"/>
            <a:ext cx="37968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Разпространение</a:t>
            </a:r>
            <a:endParaRPr lang="en-US" sz="135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9"/>
          <p:cNvSpPr/>
          <p:nvPr/>
        </p:nvSpPr>
        <p:spPr>
          <a:xfrm>
            <a:off x="4711526" y="4221807"/>
            <a:ext cx="37968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Изходни устройства: принтер, монитор, слушалки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30EEEA-DFB2-82B4-AD8E-9E1C3EEBA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71663" y="195263"/>
            <a:ext cx="5153025" cy="1200150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Основни информационни дейности </a:t>
            </a:r>
            <a:endParaRPr lang="en-GB" altLang="en-US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Увод в ИТ - Информационни технологии">
            <a:extLst>
              <a:ext uri="{FF2B5EF4-FFF2-40B4-BE49-F238E27FC236}">
                <a16:creationId xmlns:a16="http://schemas.microsoft.com/office/drawing/2014/main" id="{92CE21A9-AEEA-CCC3-CA73-02B18EE49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975" y="1323542"/>
            <a:ext cx="649605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D538CB3-09C9-EE4D-F0B6-78433015C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856" y="415529"/>
            <a:ext cx="8423562" cy="1200150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А) Начини за събиране (въвеждане) на информация</a:t>
            </a:r>
          </a:p>
        </p:txBody>
      </p:sp>
      <p:pic>
        <p:nvPicPr>
          <p:cNvPr id="17411" name="Picture 6">
            <a:extLst>
              <a:ext uri="{FF2B5EF4-FFF2-40B4-BE49-F238E27FC236}">
                <a16:creationId xmlns:a16="http://schemas.microsoft.com/office/drawing/2014/main" id="{D4EDCBD9-58CC-D651-AD95-E783C3753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441" y="1762125"/>
            <a:ext cx="1607344" cy="1607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2" name="Picture 7">
            <a:extLst>
              <a:ext uri="{FF2B5EF4-FFF2-40B4-BE49-F238E27FC236}">
                <a16:creationId xmlns:a16="http://schemas.microsoft.com/office/drawing/2014/main" id="{086DE858-1694-A784-37C6-DF4475477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7" y="1762126"/>
            <a:ext cx="2376488" cy="2375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3" name="Picture 8">
            <a:extLst>
              <a:ext uri="{FF2B5EF4-FFF2-40B4-BE49-F238E27FC236}">
                <a16:creationId xmlns:a16="http://schemas.microsoft.com/office/drawing/2014/main" id="{C8C60C02-F57B-C9FC-963B-76DED1C91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0944" y="3369469"/>
            <a:ext cx="3780235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9">
            <a:extLst>
              <a:ext uri="{FF2B5EF4-FFF2-40B4-BE49-F238E27FC236}">
                <a16:creationId xmlns:a16="http://schemas.microsoft.com/office/drawing/2014/main" id="{B444ECE7-122C-BD38-80F9-5384C50A2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97" b="11771"/>
          <a:stretch>
            <a:fillRect/>
          </a:stretch>
        </p:blipFill>
        <p:spPr bwMode="auto">
          <a:xfrm>
            <a:off x="3869532" y="1437085"/>
            <a:ext cx="2183606" cy="1837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3D43E913-89D1-7E58-F27A-F972E24901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209" y="523499"/>
            <a:ext cx="7945582" cy="1200150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Б) Начини за съхраняване на информация</a:t>
            </a:r>
          </a:p>
        </p:txBody>
      </p:sp>
      <p:pic>
        <p:nvPicPr>
          <p:cNvPr id="51217" name="Picture 17" descr="untitled">
            <a:extLst>
              <a:ext uri="{FF2B5EF4-FFF2-40B4-BE49-F238E27FC236}">
                <a16:creationId xmlns:a16="http://schemas.microsoft.com/office/drawing/2014/main" id="{254FF86B-A664-F5F7-6F88-9DF73326D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403859"/>
            <a:ext cx="1728192" cy="17281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12">
            <a:extLst>
              <a:ext uri="{FF2B5EF4-FFF2-40B4-BE49-F238E27FC236}">
                <a16:creationId xmlns:a16="http://schemas.microsoft.com/office/drawing/2014/main" id="{005F6F8C-7089-6CA2-2CC9-586257A8E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391" y="3148013"/>
            <a:ext cx="2243138" cy="1693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13">
            <a:extLst>
              <a:ext uri="{FF2B5EF4-FFF2-40B4-BE49-F238E27FC236}">
                <a16:creationId xmlns:a16="http://schemas.microsoft.com/office/drawing/2014/main" id="{54B63B4C-52CF-8DBB-0CCD-D53A0A8F8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457" y="3132535"/>
            <a:ext cx="1621631" cy="162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8" name="Picture 13">
            <a:extLst>
              <a:ext uri="{FF2B5EF4-FFF2-40B4-BE49-F238E27FC236}">
                <a16:creationId xmlns:a16="http://schemas.microsoft.com/office/drawing/2014/main" id="{CD0AF914-6FEE-03C8-3F7D-A68766077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1019" y="1762125"/>
            <a:ext cx="2946797" cy="1587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9" name="Picture 14">
            <a:extLst>
              <a:ext uri="{FF2B5EF4-FFF2-40B4-BE49-F238E27FC236}">
                <a16:creationId xmlns:a16="http://schemas.microsoft.com/office/drawing/2014/main" id="{2DA48962-A6D0-A457-BDD7-332E00451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3823" y="3148012"/>
            <a:ext cx="1612106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8A96FA82-FD80-79D2-D9DB-89C7E2893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344" y="584273"/>
            <a:ext cx="7203823" cy="1200150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В) Начини за обработване на информация</a:t>
            </a:r>
          </a:p>
        </p:txBody>
      </p:sp>
      <p:pic>
        <p:nvPicPr>
          <p:cNvPr id="19459" name="Picture 2">
            <a:extLst>
              <a:ext uri="{FF2B5EF4-FFF2-40B4-BE49-F238E27FC236}">
                <a16:creationId xmlns:a16="http://schemas.microsoft.com/office/drawing/2014/main" id="{1CC364D4-8F46-475C-A260-A5644D1AF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DEDEDE"/>
              </a:clrFrom>
              <a:clrTo>
                <a:srgbClr val="DEDED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012" y="1784423"/>
            <a:ext cx="4224338" cy="2693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60" name="Picture 3">
            <a:extLst>
              <a:ext uri="{FF2B5EF4-FFF2-40B4-BE49-F238E27FC236}">
                <a16:creationId xmlns:a16="http://schemas.microsoft.com/office/drawing/2014/main" id="{35C13872-1D1E-D9A9-8836-705CECC85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33" y="1686467"/>
            <a:ext cx="3369469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kard_rider_pny">
            <a:extLst>
              <a:ext uri="{FF2B5EF4-FFF2-40B4-BE49-F238E27FC236}">
                <a16:creationId xmlns:a16="http://schemas.microsoft.com/office/drawing/2014/main" id="{B1603F3A-70A7-2BCA-4034-8327259272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404285">
            <a:off x="5761102" y="1506280"/>
            <a:ext cx="2214563" cy="1117997"/>
          </a:xfrm>
          <a:effectLst>
            <a:softEdge rad="112500"/>
          </a:effectLst>
        </p:spPr>
      </p:pic>
      <p:sp>
        <p:nvSpPr>
          <p:cNvPr id="19459" name="Rectangle 3">
            <a:extLst>
              <a:ext uri="{FF2B5EF4-FFF2-40B4-BE49-F238E27FC236}">
                <a16:creationId xmlns:a16="http://schemas.microsoft.com/office/drawing/2014/main" id="{0E422918-1EDA-6ADE-A3D7-F0F4F0EAF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7820" y="380755"/>
            <a:ext cx="8008360" cy="1091803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</a:t>
            </a:r>
            <a:r>
              <a:rPr lang="en-US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bg-BG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Начини за разпространение на информацията</a:t>
            </a:r>
          </a:p>
        </p:txBody>
      </p:sp>
      <p:pic>
        <p:nvPicPr>
          <p:cNvPr id="20484" name="Picture 8">
            <a:extLst>
              <a:ext uri="{FF2B5EF4-FFF2-40B4-BE49-F238E27FC236}">
                <a16:creationId xmlns:a16="http://schemas.microsoft.com/office/drawing/2014/main" id="{309A8DB7-8B73-52D8-B91D-25649BBC9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93" y="955476"/>
            <a:ext cx="2220517" cy="2220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5" name="Picture 9">
            <a:extLst>
              <a:ext uri="{FF2B5EF4-FFF2-40B4-BE49-F238E27FC236}">
                <a16:creationId xmlns:a16="http://schemas.microsoft.com/office/drawing/2014/main" id="{60760AA8-0CFC-88AA-7700-627BB9E32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413" y="2512220"/>
            <a:ext cx="2569369" cy="2088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6" name="Picture 10">
            <a:extLst>
              <a:ext uri="{FF2B5EF4-FFF2-40B4-BE49-F238E27FC236}">
                <a16:creationId xmlns:a16="http://schemas.microsoft.com/office/drawing/2014/main" id="{E479601E-046A-6B20-001B-C553D1833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069" y="903684"/>
            <a:ext cx="2790825" cy="2046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7" name="Picture 11">
            <a:extLst>
              <a:ext uri="{FF2B5EF4-FFF2-40B4-BE49-F238E27FC236}">
                <a16:creationId xmlns:a16="http://schemas.microsoft.com/office/drawing/2014/main" id="{BDFF4098-B8A6-E48C-2737-791A424DA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778" y="853678"/>
            <a:ext cx="1718072" cy="171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8" name="Picture 12">
            <a:extLst>
              <a:ext uri="{FF2B5EF4-FFF2-40B4-BE49-F238E27FC236}">
                <a16:creationId xmlns:a16="http://schemas.microsoft.com/office/drawing/2014/main" id="{1AB16C0D-3F87-BB56-3090-26D3931E2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553" y="2767014"/>
            <a:ext cx="2045590" cy="2046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9" name="Picture 13">
            <a:extLst>
              <a:ext uri="{FF2B5EF4-FFF2-40B4-BE49-F238E27FC236}">
                <a16:creationId xmlns:a16="http://schemas.microsoft.com/office/drawing/2014/main" id="{D8BD8FF6-87BA-7818-0434-A4AFE56F7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744" y="2972290"/>
            <a:ext cx="1459706" cy="1458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681FF99-F90B-733B-CACE-54FE5106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95263"/>
            <a:ext cx="6604398" cy="903685"/>
          </a:xfrm>
        </p:spPr>
        <p:txBody>
          <a:bodyPr/>
          <a:lstStyle/>
          <a:p>
            <a:pPr>
              <a:defRPr/>
            </a:pPr>
            <a:r>
              <a:rPr lang="bg-BG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3</a:t>
            </a:r>
            <a:r>
              <a:rPr 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. </a:t>
            </a:r>
            <a:r>
              <a:rPr lang="bg-BG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Представяне на данните в компютърната система</a:t>
            </a:r>
          </a:p>
        </p:txBody>
      </p:sp>
      <p:sp>
        <p:nvSpPr>
          <p:cNvPr id="5" name="Контейнер за съдържание 4">
            <a:extLst>
              <a:ext uri="{FF2B5EF4-FFF2-40B4-BE49-F238E27FC236}">
                <a16:creationId xmlns:a16="http://schemas.microsoft.com/office/drawing/2014/main" id="{F413AE6C-2982-DBD0-6462-C2B6B8483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45" y="1491854"/>
            <a:ext cx="7696200" cy="3456384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bg-BG" sz="2100" dirty="0"/>
              <a:t>Компютърът обработва информацията под формата на електрически импулси, които имат две състояния: наличие на напрежение или отсъствие на напрежение.</a:t>
            </a:r>
          </a:p>
          <a:p>
            <a:pPr marL="0" indent="0" algn="ctr">
              <a:buNone/>
              <a:defRPr/>
            </a:pPr>
            <a:r>
              <a:rPr lang="bg-BG" sz="2100" dirty="0"/>
              <a:t>Следователно за представяне на информацията в компютърната система се използват две стойности:</a:t>
            </a:r>
          </a:p>
          <a:p>
            <a:pPr marL="0" indent="0">
              <a:buNone/>
              <a:defRPr/>
            </a:pPr>
            <a:r>
              <a:rPr lang="bg-BG" sz="2100" dirty="0"/>
              <a:t>     протича ток              </a:t>
            </a:r>
            <a:r>
              <a:rPr lang="bg-BG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bg-BG" sz="2100" dirty="0"/>
              <a:t> и </a:t>
            </a:r>
            <a:r>
              <a:rPr lang="bg-BG" sz="21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           </a:t>
            </a:r>
            <a:r>
              <a:rPr lang="bg-BG" sz="2100" dirty="0"/>
              <a:t>не протича ток.</a:t>
            </a:r>
          </a:p>
          <a:p>
            <a:pPr marL="0" indent="0" algn="ctr">
              <a:buNone/>
              <a:defRPr/>
            </a:pPr>
            <a:r>
              <a:rPr lang="bg-BG" sz="2100" dirty="0"/>
              <a:t>Такова представяне се нарича </a:t>
            </a:r>
            <a:r>
              <a:rPr lang="bg-BG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двоично</a:t>
            </a:r>
            <a:r>
              <a:rPr lang="bg-BG" sz="2100" dirty="0"/>
              <a:t>.</a:t>
            </a:r>
          </a:p>
          <a:p>
            <a:pPr marL="0" indent="0" algn="ctr">
              <a:buNone/>
              <a:defRPr/>
            </a:pPr>
            <a:endParaRPr lang="bg-BG" sz="2100" dirty="0"/>
          </a:p>
          <a:p>
            <a:pPr marL="0" indent="0" algn="ctr">
              <a:buNone/>
              <a:defRPr/>
            </a:pPr>
            <a:r>
              <a:rPr lang="bg-BG" sz="2100" dirty="0"/>
              <a:t>			</a:t>
            </a:r>
          </a:p>
        </p:txBody>
      </p:sp>
      <p:cxnSp>
        <p:nvCxnSpPr>
          <p:cNvPr id="21508" name="Съединител &quot;права стрелка&quot; 6">
            <a:extLst>
              <a:ext uri="{FF2B5EF4-FFF2-40B4-BE49-F238E27FC236}">
                <a16:creationId xmlns:a16="http://schemas.microsoft.com/office/drawing/2014/main" id="{EB544ACD-BC09-44D2-4F64-534FEC101DA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778594" y="3448050"/>
            <a:ext cx="583406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09" name="Съединител &quot;права стрелка&quot; 8">
            <a:extLst>
              <a:ext uri="{FF2B5EF4-FFF2-40B4-BE49-F238E27FC236}">
                <a16:creationId xmlns:a16="http://schemas.microsoft.com/office/drawing/2014/main" id="{B5D77FDA-6496-88B4-158A-20C054EEE6F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86225" y="3448050"/>
            <a:ext cx="4857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0708"/>
          <a:stretch>
            <a:fillRect/>
          </a:stretch>
        </p:blipFill>
        <p:spPr>
          <a:xfrm>
            <a:off x="685799" y="669615"/>
            <a:ext cx="2941743" cy="367888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39597" y="516329"/>
            <a:ext cx="1003488" cy="275816"/>
          </a:xfrm>
          <a:prstGeom prst="roundRect">
            <a:avLst>
              <a:gd name="adj" fmla="val 47394"/>
            </a:avLst>
          </a:prstGeom>
          <a:solidFill>
            <a:srgbClr val="910D0D"/>
          </a:solidFill>
          <a:ln/>
        </p:spPr>
      </p:sp>
      <p:sp>
        <p:nvSpPr>
          <p:cNvPr id="4" name="Text 1"/>
          <p:cNvSpPr/>
          <p:nvPr/>
        </p:nvSpPr>
        <p:spPr>
          <a:xfrm>
            <a:off x="4303392" y="575533"/>
            <a:ext cx="829196" cy="225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1946 Г.</a:t>
            </a:r>
            <a:endParaRPr lang="en-US" sz="1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2"/>
          <p:cNvSpPr/>
          <p:nvPr/>
        </p:nvSpPr>
        <p:spPr>
          <a:xfrm>
            <a:off x="4094985" y="897721"/>
            <a:ext cx="263187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Джон фон Нойман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94985" y="1317789"/>
            <a:ext cx="4626451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Американският учен </a:t>
            </a: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Джон фон Нойман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формулира идея за устройството на компютрите. Според нея </a:t>
            </a: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цялата информация в компютрите се представя с помощта на числа в двоична бройна система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само от цифрите </a:t>
            </a: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"0"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и </a:t>
            </a:r>
            <a:r>
              <a:rPr lang="en-US" sz="1400" b="1" dirty="0">
                <a:solidFill>
                  <a:srgbClr val="3D3E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"1"</a:t>
            </a:r>
            <a:r>
              <a:rPr lang="en-US" sz="14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94984" y="3219934"/>
            <a:ext cx="4529471" cy="1128563"/>
          </a:xfrm>
          <a:prstGeom prst="roundRect">
            <a:avLst>
              <a:gd name="adj" fmla="val 8819"/>
            </a:avLst>
          </a:prstGeom>
          <a:solidFill>
            <a:srgbClr val="DFE1E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265" y="3313491"/>
            <a:ext cx="295651" cy="2364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41341" y="3260973"/>
            <a:ext cx="383373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Тази идея определя и най-малката единица за измерване на информация — 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бит</a:t>
            </a: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(от </a:t>
            </a:r>
            <a:r>
              <a:rPr lang="en-US" sz="1400" i="1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Binary Digit</a:t>
            </a:r>
            <a:r>
              <a:rPr lang="en-US" sz="14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двоична цифра).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4983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Двоична бройна система </a:t>
            </a:r>
            <a:endParaRPr lang="en-US" sz="2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1147093"/>
            <a:ext cx="4722763" cy="1081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Всички данни в компютъра — текст, изображения, видео и звук — се преобразуват в числа и се представят като поредици от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"0"</a:t>
            </a: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и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"1"</a:t>
            </a: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88319"/>
            <a:ext cx="4722763" cy="108175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62127" y="2549128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Бит (b)</a:t>
            </a:r>
            <a:endParaRPr lang="en-US" sz="135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3"/>
          <p:cNvSpPr/>
          <p:nvPr/>
        </p:nvSpPr>
        <p:spPr>
          <a:xfrm>
            <a:off x="4162127" y="2855640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Най-малката единица за измерване на информация. Произлиза от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Binary Digit</a:t>
            </a: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двоична цифра.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611835"/>
            <a:ext cx="4722763" cy="10817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62127" y="3772644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Байт (B)</a:t>
            </a:r>
            <a:endParaRPr lang="en-US" sz="135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5"/>
          <p:cNvSpPr/>
          <p:nvPr/>
        </p:nvSpPr>
        <p:spPr>
          <a:xfrm>
            <a:off x="4162127" y="4079156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Основна единица.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байт = 8 бита.</a:t>
            </a: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Осем бита образуват следващата информационна единица.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DE157A7-AAAE-D81F-DC0D-096FC1385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801" y="1018998"/>
            <a:ext cx="7457046" cy="3295306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bg-BG" sz="2400" dirty="0"/>
              <a:t>Всяка една от двоичните цифри наричаме </a:t>
            </a:r>
          </a:p>
          <a:p>
            <a:pPr marL="0" indent="0" algn="ctr">
              <a:buNone/>
              <a:defRPr/>
            </a:pP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БИТ</a:t>
            </a:r>
            <a:r>
              <a:rPr lang="bg-BG" sz="2400" dirty="0"/>
              <a:t> </a:t>
            </a:r>
            <a:r>
              <a:rPr lang="bg-BG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– bit).</a:t>
            </a:r>
          </a:p>
          <a:p>
            <a:pPr marL="0" indent="0" algn="ctr">
              <a:buNone/>
              <a:defRPr/>
            </a:pPr>
            <a:r>
              <a:rPr lang="bg-BG" sz="2400" dirty="0"/>
              <a:t>Това е най-малката единица за измерване на информация.</a:t>
            </a:r>
          </a:p>
          <a:p>
            <a:pPr marL="0" indent="0" algn="ctr">
              <a:buNone/>
              <a:defRPr/>
            </a:pPr>
            <a:r>
              <a:rPr lang="en-US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1B</a:t>
            </a:r>
            <a:r>
              <a:rPr lang="en-US" altLang="en-US" sz="2400" dirty="0">
                <a:solidFill>
                  <a:schemeClr val="tx2"/>
                </a:solidFill>
              </a:rPr>
              <a:t> </a:t>
            </a:r>
            <a:r>
              <a:rPr lang="bg-BG" altLang="en-US" sz="2400" dirty="0"/>
              <a:t>се пише в</a:t>
            </a:r>
            <a:r>
              <a:rPr lang="bg-BG" altLang="en-US" sz="2400" dirty="0">
                <a:solidFill>
                  <a:schemeClr val="tx2"/>
                </a:solidFill>
              </a:rPr>
              <a:t> </a:t>
            </a:r>
            <a:r>
              <a:rPr lang="bg-BG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en-US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altLang="en-US" sz="2400" dirty="0">
                <a:solidFill>
                  <a:schemeClr val="tx2"/>
                </a:solidFill>
              </a:rPr>
              <a:t> </a:t>
            </a:r>
            <a:r>
              <a:rPr lang="en-US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en-US" sz="2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bbbbbbbb</a:t>
            </a:r>
            <a:r>
              <a:rPr lang="en-US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bg-BG" altLang="en-US" sz="2400" dirty="0"/>
              <a:t>като всяко</a:t>
            </a:r>
            <a:r>
              <a:rPr lang="bg-BG" altLang="en-US" sz="2400" dirty="0">
                <a:solidFill>
                  <a:schemeClr val="tx2"/>
                </a:solidFill>
              </a:rPr>
              <a:t> </a:t>
            </a:r>
            <a:r>
              <a:rPr lang="en-US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bg-BG" altLang="en-US" sz="2400" dirty="0">
                <a:solidFill>
                  <a:schemeClr val="tx2"/>
                </a:solidFill>
              </a:rPr>
              <a:t> </a:t>
            </a:r>
            <a:r>
              <a:rPr lang="bg-BG" altLang="en-US" sz="2400" dirty="0"/>
              <a:t>може да е </a:t>
            </a:r>
          </a:p>
          <a:p>
            <a:pPr marL="0" indent="0" algn="ctr">
              <a:buNone/>
              <a:defRPr/>
            </a:pPr>
            <a:r>
              <a:rPr lang="bg-BG" altLang="en-US" sz="2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bg-BG" altLang="en-US" sz="2400" dirty="0">
                <a:solidFill>
                  <a:schemeClr val="tx2"/>
                </a:solidFill>
              </a:rPr>
              <a:t> </a:t>
            </a:r>
            <a:r>
              <a:rPr lang="bg-BG" altLang="en-US" sz="2400" dirty="0"/>
              <a:t>или</a:t>
            </a:r>
            <a:r>
              <a:rPr lang="bg-BG" altLang="en-US" sz="2400" dirty="0">
                <a:solidFill>
                  <a:schemeClr val="tx2"/>
                </a:solidFill>
              </a:rPr>
              <a:t> </a:t>
            </a:r>
            <a:r>
              <a:rPr lang="bg-BG" alt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en-US" sz="2400" dirty="0">
                <a:solidFill>
                  <a:schemeClr val="tx2"/>
                </a:solidFill>
              </a:rPr>
              <a:t>.</a:t>
            </a:r>
          </a:p>
          <a:p>
            <a:pPr marL="0" indent="0" algn="ctr">
              <a:buNone/>
              <a:defRPr/>
            </a:pPr>
            <a:r>
              <a:rPr lang="bg-BG" altLang="en-US" sz="2400" dirty="0"/>
              <a:t>Примерно двоично представяне на 1 В:</a:t>
            </a:r>
          </a:p>
          <a:p>
            <a:pPr marL="0" indent="0" algn="ctr">
              <a:buNone/>
              <a:defRPr/>
            </a:pPr>
            <a:endParaRPr lang="bg-BG" altLang="en-US" sz="2400" dirty="0"/>
          </a:p>
          <a:p>
            <a:pPr marL="0" indent="0" algn="ctr">
              <a:buNone/>
              <a:defRPr/>
            </a:pPr>
            <a:endParaRPr lang="bg-BG" sz="2400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F781F21-A0FB-0634-3800-C79A49F88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29219"/>
              </p:ext>
            </p:extLst>
          </p:nvPr>
        </p:nvGraphicFramePr>
        <p:xfrm>
          <a:off x="2286000" y="4058143"/>
          <a:ext cx="4572000" cy="2817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7416">
                <a:tc>
                  <a:txBody>
                    <a:bodyPr/>
                    <a:lstStyle/>
                    <a:p>
                      <a:pPr algn="ctr"/>
                      <a:r>
                        <a:rPr lang="bg-BG" sz="1400" dirty="0"/>
                        <a:t>0</a:t>
                      </a:r>
                    </a:p>
                  </a:txBody>
                  <a:tcPr marL="68580" marR="68580" marT="34202" marB="342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dirty="0"/>
                        <a:t>0</a:t>
                      </a:r>
                    </a:p>
                  </a:txBody>
                  <a:tcPr marL="68580" marR="68580" marT="34202" marB="342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dirty="0"/>
                        <a:t>1</a:t>
                      </a:r>
                    </a:p>
                  </a:txBody>
                  <a:tcPr marL="68580" marR="68580" marT="34202" marB="342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dirty="0"/>
                        <a:t>1</a:t>
                      </a:r>
                    </a:p>
                  </a:txBody>
                  <a:tcPr marL="68580" marR="68580" marT="34202" marB="342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dirty="0"/>
                        <a:t>0</a:t>
                      </a:r>
                    </a:p>
                  </a:txBody>
                  <a:tcPr marL="68580" marR="68580" marT="34202" marB="342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dirty="0"/>
                        <a:t>1</a:t>
                      </a:r>
                    </a:p>
                  </a:txBody>
                  <a:tcPr marL="68580" marR="68580" marT="34202" marB="342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sz="1400" dirty="0"/>
                        <a:t>0</a:t>
                      </a:r>
                    </a:p>
                  </a:txBody>
                  <a:tcPr marL="68580" marR="68580" marT="34202" marB="3420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  <a:endParaRPr lang="bg-BG" sz="1400" dirty="0"/>
                    </a:p>
                  </a:txBody>
                  <a:tcPr marL="68580" marR="68580" marT="34202" marB="3420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9802B28B-FFD8-1D8C-EB55-516E29E76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54661" y="237348"/>
            <a:ext cx="9073970" cy="756047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</a:rPr>
              <a:t>4. Единици за измерване на информация</a:t>
            </a:r>
          </a:p>
        </p:txBody>
      </p:sp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535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Основни единици за измерване</a:t>
            </a:r>
            <a:endParaRPr 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962918"/>
            <a:ext cx="8151764" cy="73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За представяне на по-голямо количество информация използваме поредици от битове. По-долу са дадени основните единици, използвани за измерване на информация.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96119" y="187716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1B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496119" y="252211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Байт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82862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8 бита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72433" y="187716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1KB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3272433" y="252211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Килобайт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72433" y="282862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1000 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48747" y="1877169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1MB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048747" y="252211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Мегабайт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48747" y="2828627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1000 KB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84238" y="340980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1GB</a:t>
            </a:r>
            <a:endParaRPr lang="en-US" sz="3650" dirty="0"/>
          </a:p>
        </p:txBody>
      </p:sp>
      <p:sp>
        <p:nvSpPr>
          <p:cNvPr id="14" name="Text 12"/>
          <p:cNvSpPr/>
          <p:nvPr/>
        </p:nvSpPr>
        <p:spPr>
          <a:xfrm>
            <a:off x="1884238" y="405474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Гигабайт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84238" y="436125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1000 MB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0553" y="3409801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1TB</a:t>
            </a:r>
            <a:endParaRPr lang="en-US" sz="3650" dirty="0"/>
          </a:p>
        </p:txBody>
      </p:sp>
      <p:sp>
        <p:nvSpPr>
          <p:cNvPr id="17" name="Text 15"/>
          <p:cNvSpPr/>
          <p:nvPr/>
        </p:nvSpPr>
        <p:spPr>
          <a:xfrm>
            <a:off x="4660553" y="4054748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Терабайт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60553" y="436125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1000 GB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>
            <a:extLst>
              <a:ext uri="{FF2B5EF4-FFF2-40B4-BE49-F238E27FC236}">
                <a16:creationId xmlns:a16="http://schemas.microsoft.com/office/drawing/2014/main" id="{360058A9-47BF-A58A-CDE3-CD86FD603040}"/>
              </a:ext>
            </a:extLst>
          </p:cNvPr>
          <p:cNvSpPr/>
          <p:nvPr/>
        </p:nvSpPr>
        <p:spPr bwMode="auto">
          <a:xfrm>
            <a:off x="3113485" y="4137422"/>
            <a:ext cx="2160984" cy="270272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chemeClr val="accent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bg-BG" sz="135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A2CD8440-E323-4CB4-3390-FE9C592DA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182" y="267297"/>
            <a:ext cx="7640782" cy="902494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Производни мерки на основната мярка байт</a:t>
            </a:r>
            <a:r>
              <a:rPr lang="en-US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(В)</a:t>
            </a:r>
          </a:p>
        </p:txBody>
      </p:sp>
      <p:graphicFrame>
        <p:nvGraphicFramePr>
          <p:cNvPr id="55411" name="Group 115">
            <a:extLst>
              <a:ext uri="{FF2B5EF4-FFF2-40B4-BE49-F238E27FC236}">
                <a16:creationId xmlns:a16="http://schemas.microsoft.com/office/drawing/2014/main" id="{F6DD73E5-4574-3F50-BC06-BEF684C254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78757" y="1275160"/>
          <a:ext cx="6078141" cy="2646762"/>
        </p:xfrm>
        <a:graphic>
          <a:graphicData uri="http://schemas.openxmlformats.org/drawingml/2006/table">
            <a:tbl>
              <a:tblPr/>
              <a:tblGrid>
                <a:gridCol w="1188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8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Означение</a:t>
                      </a:r>
                    </a:p>
                  </a:txBody>
                  <a:tcPr marL="68579" marR="68579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Име</a:t>
                      </a: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Стойност</a:t>
                      </a: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Представяне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чрез степен</a:t>
                      </a: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български</a:t>
                      </a: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KB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килобайт</a:t>
                      </a: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</a:t>
                      </a: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00</a:t>
                      </a:r>
                      <a:endParaRPr kumimoji="0" lang="bg-BG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</a:t>
                      </a:r>
                      <a:r>
                        <a:rPr kumimoji="0" lang="en-US" altLang="en-US" sz="15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3</a:t>
                      </a:r>
                      <a:endParaRPr kumimoji="0" lang="bg-BG" altLang="en-US" sz="15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MB</a:t>
                      </a:r>
                      <a:endParaRPr kumimoji="0" lang="bg-BG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мегабайт</a:t>
                      </a: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1 000 000</a:t>
                      </a:r>
                      <a:endParaRPr kumimoji="0" lang="bg-BG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</a:t>
                      </a:r>
                      <a:r>
                        <a:rPr kumimoji="0" lang="en-US" altLang="en-US" sz="15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6</a:t>
                      </a:r>
                      <a:endParaRPr kumimoji="0" lang="bg-BG" altLang="en-US" sz="15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8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GB</a:t>
                      </a:r>
                      <a:endParaRPr kumimoji="0" lang="bg-BG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гигабайт</a:t>
                      </a: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1 000 000 000</a:t>
                      </a:r>
                      <a:endParaRPr kumimoji="0" lang="bg-BG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</a:t>
                      </a:r>
                      <a:r>
                        <a:rPr kumimoji="0" lang="en-US" altLang="en-US" sz="15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9</a:t>
                      </a:r>
                      <a:endParaRPr kumimoji="0" lang="bg-BG" altLang="en-US" sz="15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TB</a:t>
                      </a:r>
                      <a:endParaRPr kumimoji="0" lang="bg-BG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терабайт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1 000 000 000 000</a:t>
                      </a:r>
                      <a:endParaRPr kumimoji="0" lang="bg-BG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</a:t>
                      </a:r>
                      <a:r>
                        <a:rPr kumimoji="0" lang="en-US" altLang="en-US" sz="15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12</a:t>
                      </a:r>
                      <a:endParaRPr kumimoji="0" lang="bg-BG" altLang="en-US" sz="1500" b="0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9" marR="68579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590" name="Текстово поле 1">
            <a:extLst>
              <a:ext uri="{FF2B5EF4-FFF2-40B4-BE49-F238E27FC236}">
                <a16:creationId xmlns:a16="http://schemas.microsoft.com/office/drawing/2014/main" id="{44F65AC8-87E2-B7BB-67B1-3F48C5EAD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456" y="4137422"/>
            <a:ext cx="7099914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bg-BG" sz="1500" b="1" dirty="0"/>
              <a:t>		</a:t>
            </a:r>
            <a:r>
              <a:rPr lang="bg-BG" altLang="bg-BG" sz="1500" b="1" dirty="0"/>
              <a:t>     8 </a:t>
            </a:r>
            <a:r>
              <a:rPr lang="en-US" altLang="bg-BG" sz="1500" b="1" dirty="0"/>
              <a:t>bit = 1 B	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bg-BG" sz="1500" b="1" dirty="0"/>
              <a:t>1000 B = 1 KB				1000 MB = 1 TB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bg-BG" sz="1500" b="1" dirty="0"/>
              <a:t>1000 KB = 1 MB 				1000 TB = 1 GB</a:t>
            </a:r>
          </a:p>
        </p:txBody>
      </p:sp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E45C684B-9449-DF29-143B-2CB328D5B685}"/>
              </a:ext>
            </a:extLst>
          </p:cNvPr>
          <p:cNvSpPr/>
          <p:nvPr/>
        </p:nvSpPr>
        <p:spPr bwMode="auto">
          <a:xfrm>
            <a:off x="3437335" y="3973116"/>
            <a:ext cx="2160984" cy="270272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chemeClr val="accent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>
              <a:defRPr/>
            </a:pPr>
            <a:endParaRPr lang="bg-BG" sz="135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C7D61BEA-439F-90E7-F7E9-D63B5CDAE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2727" y="141685"/>
            <a:ext cx="8007927" cy="848915"/>
          </a:xfrm>
        </p:spPr>
        <p:txBody>
          <a:bodyPr/>
          <a:lstStyle/>
          <a:p>
            <a:pPr eaLnBrk="1" hangingPunct="1">
              <a:defRPr/>
            </a:pPr>
            <a:r>
              <a:rPr lang="bg-BG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Производни мерки на основната мярка байт</a:t>
            </a:r>
            <a:r>
              <a:rPr lang="en-US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(В)</a:t>
            </a:r>
          </a:p>
        </p:txBody>
      </p:sp>
      <p:graphicFrame>
        <p:nvGraphicFramePr>
          <p:cNvPr id="55411" name="Group 115">
            <a:extLst>
              <a:ext uri="{FF2B5EF4-FFF2-40B4-BE49-F238E27FC236}">
                <a16:creationId xmlns:a16="http://schemas.microsoft.com/office/drawing/2014/main" id="{4BA0DE5C-3783-21C9-1483-1E13FF0C04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656160" y="1113235"/>
          <a:ext cx="6023371" cy="2646762"/>
        </p:xfrm>
        <a:graphic>
          <a:graphicData uri="http://schemas.openxmlformats.org/drawingml/2006/table">
            <a:tbl>
              <a:tblPr/>
              <a:tblGrid>
                <a:gridCol w="1188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3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5288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Означение</a:t>
                      </a:r>
                    </a:p>
                  </a:txBody>
                  <a:tcPr marL="68570" marR="6857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Име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Стойност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Представяне по степените на 2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български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KiB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0" marR="6857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кибибайт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1024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  <a:r>
                        <a:rPr kumimoji="0" lang="bg-BG" alt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MiB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0" marR="6857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мебибайт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1048576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  <a:r>
                        <a:rPr kumimoji="0" lang="bg-BG" alt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20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8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GiB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0" marR="6857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гибибайт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1073741824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  <a:r>
                        <a:rPr kumimoji="0" lang="bg-BG" altLang="en-US" sz="1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30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01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TiB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0" marR="68570" marT="34290" marB="3429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тебибайт</a:t>
                      </a:r>
                      <a:endParaRPr kumimoji="0" lang="bg-BG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1099511627776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bg-BG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2</a:t>
                      </a:r>
                      <a:r>
                        <a:rPr kumimoji="0" lang="bg-BG" altLang="en-US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anose="030F0702030302020204" pitchFamily="66" charset="0"/>
                        </a:rPr>
                        <a:t>40</a:t>
                      </a:r>
                    </a:p>
                  </a:txBody>
                  <a:tcPr marL="68570" marR="68570" marT="34290" marB="3429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chemeClr val="accent1"/>
                        </a:gs>
                        <a:gs pos="100000">
                          <a:schemeClr val="bg1"/>
                        </a:gs>
                      </a:gsLst>
                      <a:path path="shape">
                        <a:fillToRect l="50000" t="50000" r="50000" b="5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614" name="Правоъгълник 1">
            <a:extLst>
              <a:ext uri="{FF2B5EF4-FFF2-40B4-BE49-F238E27FC236}">
                <a16:creationId xmlns:a16="http://schemas.microsoft.com/office/drawing/2014/main" id="{BE3BF590-4922-1634-3E00-64A2E44A1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709" y="3963050"/>
            <a:ext cx="6504277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bg-BG" sz="1500" b="1" dirty="0"/>
              <a:t>		</a:t>
            </a:r>
            <a:r>
              <a:rPr lang="bg-BG" altLang="bg-BG" sz="1500" b="1" dirty="0"/>
              <a:t>8 </a:t>
            </a:r>
            <a:r>
              <a:rPr lang="en-US" altLang="bg-BG" sz="1500" b="1" dirty="0"/>
              <a:t>bit = 1 B	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bg-BG" sz="1500" b="1" dirty="0"/>
              <a:t>1024 B = 1 KiB				1024 MiB = 1 TiB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bg-BG" sz="1500" b="1" dirty="0"/>
              <a:t>1024 KiB = 1 MiB 				1024 TiB = 1 GiB</a:t>
            </a:r>
          </a:p>
        </p:txBody>
      </p: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951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Практически примери</a:t>
            </a:r>
            <a:endParaRPr lang="en-US" sz="2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39982"/>
            <a:ext cx="8151763" cy="99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В операционните системи (напр. Windows) размерите на файловете и дисковете се показват с десетични представки, а се имат предвид двоичните. Това предизвиква объркване при показването на реалния капацитет.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94124"/>
            <a:ext cx="4004965" cy="10817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554932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Диск 500 GB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3127" y="2861444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Реален размер: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500 000 000 000 байта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Windows показва: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465 GB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2394124"/>
            <a:ext cx="4005039" cy="10817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79851" y="2554932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DVD 4,7 GB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879851" y="2861444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Реален размер: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4 700 000 000 байта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Windows показва: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4,35 GB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6119" y="3635349"/>
            <a:ext cx="8151763" cy="90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Разликата идва от това, че Windows използва двоични стойности (</a:t>
            </a:r>
            <a:r>
              <a:rPr lang="en-US" sz="1400" i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</a:t>
            </a:r>
            <a:r>
              <a:rPr lang="en-US" sz="1400" i="1" baseline="300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30</a:t>
            </a: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байта за GB), докато производителите на носители използват десетични (</a:t>
            </a:r>
            <a:r>
              <a:rPr lang="en-US" sz="1400" i="1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</a:t>
            </a:r>
            <a:r>
              <a:rPr lang="en-US" sz="1400" i="1" baseline="300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9</a:t>
            </a:r>
            <a:r>
              <a:rPr lang="en-US" sz="1400" dirty="0"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байта за GB).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421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Обобщение на ключовите понятия</a:t>
            </a:r>
            <a:endParaRPr lang="en-US" sz="275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470720"/>
            <a:ext cx="4004965" cy="1393403"/>
          </a:xfrm>
          <a:prstGeom prst="roundRect">
            <a:avLst>
              <a:gd name="adj" fmla="val 9157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617241"/>
            <a:ext cx="425276" cy="425276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1734145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218427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Бит (b)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49078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Най-малката единица — двоична цифра "0" или "1"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470720"/>
            <a:ext cx="4005039" cy="1393403"/>
          </a:xfrm>
          <a:prstGeom prst="roundRect">
            <a:avLst>
              <a:gd name="adj" fmla="val 9157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617241"/>
            <a:ext cx="425276" cy="425276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42" y="1734145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218427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Байт (B)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49078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Основна единица — 8 бита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393403"/>
          </a:xfrm>
          <a:prstGeom prst="roundRect">
            <a:avLst>
              <a:gd name="adj" fmla="val 9157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152403"/>
            <a:ext cx="425276" cy="425276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9619" y="326930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719438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Двоична система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4025950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Компютърът работи само с "0" и "1"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393403"/>
          </a:xfrm>
          <a:prstGeom prst="roundRect">
            <a:avLst>
              <a:gd name="adj" fmla="val 9157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152403"/>
            <a:ext cx="425276" cy="425276"/>
          </a:xfrm>
          <a:prstGeom prst="ellipse">
            <a:avLst/>
          </a:prstGeom>
          <a:solidFill>
            <a:srgbClr val="88888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342" y="326930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719438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Скали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4025950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Десетична (×1000) и двоична (×1024)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72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Въпроси и задачи</a:t>
            </a:r>
            <a:endParaRPr lang="en-US" sz="275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hape 1"/>
          <p:cNvSpPr/>
          <p:nvPr/>
        </p:nvSpPr>
        <p:spPr>
          <a:xfrm>
            <a:off x="346393" y="2303784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5150" y="2334280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95900" y="2352452"/>
            <a:ext cx="2545965" cy="146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Най-малката единица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5058" y="2750450"/>
            <a:ext cx="2280195" cy="149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/>
              <a:t>Коя е най-малката единица за измерване на </a:t>
            </a:r>
            <a:r>
              <a:rPr lang="en-US" dirty="0" err="1"/>
              <a:t>информация</a:t>
            </a:r>
            <a:r>
              <a:rPr lang="en-US" dirty="0"/>
              <a:t>?</a:t>
            </a:r>
          </a:p>
        </p:txBody>
      </p:sp>
      <p:sp>
        <p:nvSpPr>
          <p:cNvPr id="7" name="Shape 5"/>
          <p:cNvSpPr/>
          <p:nvPr/>
        </p:nvSpPr>
        <p:spPr>
          <a:xfrm>
            <a:off x="3389126" y="2276580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1902" y="2317084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834541" y="2330351"/>
            <a:ext cx="2280195" cy="73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Подредба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21721" y="2695910"/>
            <a:ext cx="2280195" cy="149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dirty="0"/>
              <a:t>Подредете в нарастващ ред: </a:t>
            </a:r>
          </a:p>
          <a:p>
            <a:pPr>
              <a:lnSpc>
                <a:spcPct val="133000"/>
              </a:lnSpc>
            </a:pPr>
            <a:r>
              <a:rPr lang="en-US" dirty="0"/>
              <a:t>KB, TB, B, GB, MB, b</a:t>
            </a:r>
          </a:p>
        </p:txBody>
      </p:sp>
      <p:sp>
        <p:nvSpPr>
          <p:cNvPr id="11" name="Shape 9"/>
          <p:cNvSpPr/>
          <p:nvPr/>
        </p:nvSpPr>
        <p:spPr>
          <a:xfrm>
            <a:off x="6048747" y="2303785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1916" y="233035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67687" y="2352451"/>
            <a:ext cx="2280195" cy="73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Пресметнете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7686" y="2719820"/>
            <a:ext cx="2280195" cy="2995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indent="0">
              <a:lnSpc>
                <a:spcPct val="133000"/>
              </a:lnSpc>
              <a:buNone/>
            </a:pPr>
            <a:r>
              <a:rPr lang="en-US" dirty="0"/>
              <a:t>9 KB = … B</a:t>
            </a:r>
          </a:p>
          <a:p>
            <a:pPr indent="0">
              <a:lnSpc>
                <a:spcPct val="133000"/>
              </a:lnSpc>
              <a:buNone/>
            </a:pPr>
            <a:r>
              <a:rPr lang="en-US" dirty="0"/>
              <a:t>6 MB = … KB </a:t>
            </a:r>
          </a:p>
          <a:p>
            <a:pPr indent="0">
              <a:lnSpc>
                <a:spcPct val="133000"/>
              </a:lnSpc>
              <a:buNone/>
            </a:pPr>
            <a:r>
              <a:rPr lang="en-US" dirty="0"/>
              <a:t>5120 KB = … MB</a:t>
            </a:r>
          </a:p>
          <a:p>
            <a:pPr indent="0">
              <a:lnSpc>
                <a:spcPct val="133000"/>
              </a:lnSpc>
              <a:buNone/>
            </a:pPr>
            <a:r>
              <a:rPr lang="en-US" dirty="0"/>
              <a:t>6 TB = … MB</a:t>
            </a:r>
          </a:p>
          <a:p>
            <a:pPr indent="0">
              <a:lnSpc>
                <a:spcPct val="133000"/>
              </a:lnSpc>
              <a:buNone/>
            </a:pPr>
            <a:r>
              <a:rPr lang="en-US" dirty="0"/>
              <a:t>32 B = … b </a:t>
            </a:r>
          </a:p>
          <a:p>
            <a:pPr indent="0">
              <a:lnSpc>
                <a:spcPct val="133000"/>
              </a:lnSpc>
              <a:buNone/>
            </a:pPr>
            <a:r>
              <a:rPr lang="en-US" dirty="0"/>
              <a:t>9216 MB = … GB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7ACE-E06C-3AE7-E12E-37B10081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AD9468-F8BA-BBF0-88E4-9EED3E39F8CD}"/>
              </a:ext>
            </a:extLst>
          </p:cNvPr>
          <p:cNvSpPr/>
          <p:nvPr/>
        </p:nvSpPr>
        <p:spPr>
          <a:xfrm>
            <a:off x="496119" y="157728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Въпроси и задачи</a:t>
            </a:r>
            <a:endParaRPr lang="en-US" sz="275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4BA162E-3E44-BA1A-B7F4-CBA6BF24C935}"/>
              </a:ext>
            </a:extLst>
          </p:cNvPr>
          <p:cNvSpPr/>
          <p:nvPr/>
        </p:nvSpPr>
        <p:spPr>
          <a:xfrm>
            <a:off x="496119" y="2303785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D21DB6A-E3F2-5417-4C88-9351E7437791}"/>
              </a:ext>
            </a:extLst>
          </p:cNvPr>
          <p:cNvSpPr/>
          <p:nvPr/>
        </p:nvSpPr>
        <p:spPr>
          <a:xfrm>
            <a:off x="549287" y="233035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Montserrat Medium" pitchFamily="34" charset="0"/>
              </a:rPr>
              <a:t>4</a:t>
            </a:r>
            <a:endParaRPr lang="en-US" sz="16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AB303B-4DB9-9164-36CE-7F3521EBD6E8}"/>
              </a:ext>
            </a:extLst>
          </p:cNvPr>
          <p:cNvSpPr/>
          <p:nvPr/>
        </p:nvSpPr>
        <p:spPr>
          <a:xfrm>
            <a:off x="903648" y="2338212"/>
            <a:ext cx="2280195" cy="149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/>
            </a:pPr>
            <a:r>
              <a:rPr lang="bg-BG" altLang="en-US" dirty="0"/>
              <a:t>Колко бита информация ще се побере в памет с капацитет 10 байта?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697753F-0BED-36AC-2DB4-D9F0E971394F}"/>
              </a:ext>
            </a:extLst>
          </p:cNvPr>
          <p:cNvSpPr/>
          <p:nvPr/>
        </p:nvSpPr>
        <p:spPr>
          <a:xfrm>
            <a:off x="3272433" y="2303785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0D70E2A-8CEB-A029-54D5-84E005169BAA}"/>
              </a:ext>
            </a:extLst>
          </p:cNvPr>
          <p:cNvSpPr/>
          <p:nvPr/>
        </p:nvSpPr>
        <p:spPr>
          <a:xfrm>
            <a:off x="3325602" y="233035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/>
              <a:t>5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F8FF9A9-DE83-7CB7-90AB-894541917F29}"/>
              </a:ext>
            </a:extLst>
          </p:cNvPr>
          <p:cNvSpPr/>
          <p:nvPr/>
        </p:nvSpPr>
        <p:spPr>
          <a:xfrm>
            <a:off x="3715382" y="2293861"/>
            <a:ext cx="2280195" cy="1497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defRPr/>
            </a:pPr>
            <a:r>
              <a:rPr lang="bg-BG" altLang="en-US" dirty="0"/>
              <a:t>Кои от посочените примери са верни</a:t>
            </a:r>
            <a:r>
              <a:rPr lang="en-US" altLang="en-US" dirty="0"/>
              <a:t>?</a:t>
            </a:r>
            <a:endParaRPr lang="bg-BG" altLang="en-US" dirty="0"/>
          </a:p>
          <a:p>
            <a:pPr lvl="1">
              <a:defRPr/>
            </a:pPr>
            <a:r>
              <a:rPr lang="en-US" altLang="en-US" dirty="0"/>
              <a:t>40 b &gt; 5 B</a:t>
            </a:r>
          </a:p>
          <a:p>
            <a:pPr lvl="1">
              <a:defRPr/>
            </a:pPr>
            <a:r>
              <a:rPr lang="en-US" altLang="en-US" dirty="0"/>
              <a:t>40 b &lt; 5 B</a:t>
            </a:r>
          </a:p>
          <a:p>
            <a:pPr lvl="1">
              <a:defRPr/>
            </a:pPr>
            <a:r>
              <a:rPr lang="en-US" altLang="en-US" dirty="0"/>
              <a:t>40 b = 5 B</a:t>
            </a:r>
            <a:endParaRPr lang="bg-BG" alt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01D43B4-6219-49F5-4D1E-BBA7D09D5297}"/>
              </a:ext>
            </a:extLst>
          </p:cNvPr>
          <p:cNvSpPr/>
          <p:nvPr/>
        </p:nvSpPr>
        <p:spPr>
          <a:xfrm>
            <a:off x="6048747" y="2303785"/>
            <a:ext cx="318939" cy="318939"/>
          </a:xfrm>
          <a:prstGeom prst="roundRect">
            <a:avLst>
              <a:gd name="adj" fmla="val 4000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4035820-3FD7-ACC9-3045-E4596F17E9B6}"/>
              </a:ext>
            </a:extLst>
          </p:cNvPr>
          <p:cNvSpPr/>
          <p:nvPr/>
        </p:nvSpPr>
        <p:spPr>
          <a:xfrm>
            <a:off x="6101916" y="2330351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/>
              <a:t>6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DEE4F8B-0591-C77F-C316-FB07595EA7C7}"/>
              </a:ext>
            </a:extLst>
          </p:cNvPr>
          <p:cNvSpPr/>
          <p:nvPr/>
        </p:nvSpPr>
        <p:spPr>
          <a:xfrm>
            <a:off x="6438527" y="2330351"/>
            <a:ext cx="2280195" cy="731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Пресметнете</a:t>
            </a: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1FCE53F-5EEF-AF04-9BBD-8CBC7C30C395}"/>
              </a:ext>
            </a:extLst>
          </p:cNvPr>
          <p:cNvSpPr/>
          <p:nvPr/>
        </p:nvSpPr>
        <p:spPr>
          <a:xfrm>
            <a:off x="5970913" y="2577379"/>
            <a:ext cx="2280195" cy="2995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1">
              <a:buFontTx/>
              <a:buChar char="•"/>
              <a:defRPr/>
            </a:pPr>
            <a:r>
              <a:rPr lang="en-US" altLang="en-US" dirty="0"/>
              <a:t>1 KiB = ?B</a:t>
            </a:r>
          </a:p>
          <a:p>
            <a:pPr lvl="1">
              <a:buFontTx/>
              <a:buChar char="•"/>
              <a:defRPr/>
            </a:pPr>
            <a:r>
              <a:rPr lang="en-US" altLang="en-US" dirty="0"/>
              <a:t>1 MiB = ?B</a:t>
            </a:r>
          </a:p>
          <a:p>
            <a:pPr lvl="1">
              <a:buFontTx/>
              <a:buChar char="•"/>
              <a:defRPr/>
            </a:pPr>
            <a:r>
              <a:rPr lang="en-US" altLang="en-US" dirty="0"/>
              <a:t>1 GiB = ?B</a:t>
            </a:r>
          </a:p>
          <a:p>
            <a:pPr lvl="1">
              <a:buFontTx/>
              <a:buChar char="•"/>
              <a:defRPr/>
            </a:pPr>
            <a:r>
              <a:rPr lang="en-US" altLang="en-US" dirty="0"/>
              <a:t>2 TiB = ?B</a:t>
            </a:r>
          </a:p>
          <a:p>
            <a:pPr lvl="1">
              <a:buFontTx/>
              <a:buChar char="•"/>
              <a:defRPr/>
            </a:pPr>
            <a:r>
              <a:rPr lang="en-US" altLang="en-US" dirty="0"/>
              <a:t>10</a:t>
            </a:r>
            <a:r>
              <a:rPr lang="bg-BG" altLang="en-US" dirty="0"/>
              <a:t>00</a:t>
            </a:r>
            <a:r>
              <a:rPr lang="en-US" altLang="en-US" dirty="0"/>
              <a:t> B = ? KB</a:t>
            </a:r>
          </a:p>
          <a:p>
            <a:pPr lvl="1">
              <a:buFontTx/>
              <a:buChar char="•"/>
              <a:defRPr/>
            </a:pPr>
            <a:r>
              <a:rPr lang="en-US" altLang="en-US" dirty="0"/>
              <a:t>30</a:t>
            </a:r>
            <a:r>
              <a:rPr lang="bg-BG" altLang="en-US" dirty="0"/>
              <a:t>00</a:t>
            </a:r>
            <a:r>
              <a:rPr lang="en-US" altLang="en-US" dirty="0"/>
              <a:t> KB = ?MB</a:t>
            </a:r>
          </a:p>
          <a:p>
            <a:pPr lvl="1">
              <a:buFontTx/>
              <a:buChar char="•"/>
              <a:defRPr/>
            </a:pPr>
            <a:r>
              <a:rPr lang="en-US" altLang="en-US" dirty="0"/>
              <a:t>10</a:t>
            </a:r>
            <a:r>
              <a:rPr lang="bg-BG" altLang="en-US" dirty="0"/>
              <a:t>00</a:t>
            </a:r>
            <a:r>
              <a:rPr lang="en-US" altLang="en-US" dirty="0"/>
              <a:t> MB = ?GB</a:t>
            </a:r>
          </a:p>
          <a:p>
            <a:pPr lvl="1">
              <a:buFontTx/>
              <a:buChar char="•"/>
              <a:defRPr/>
            </a:pPr>
            <a:r>
              <a:rPr lang="en-US" altLang="en-US" dirty="0"/>
              <a:t>10</a:t>
            </a:r>
            <a:r>
              <a:rPr lang="bg-BG" altLang="en-US" dirty="0"/>
              <a:t>00</a:t>
            </a:r>
            <a:r>
              <a:rPr lang="en-US" altLang="en-US" dirty="0"/>
              <a:t> GB = ?TB</a:t>
            </a:r>
          </a:p>
          <a:p>
            <a:pPr lvl="1">
              <a:buFontTx/>
              <a:buChar char="•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8629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1003</Words>
  <Application>Microsoft Office PowerPoint</Application>
  <PresentationFormat>Презентация на цял екран (16:9)</PresentationFormat>
  <Paragraphs>197</Paragraphs>
  <Slides>20</Slides>
  <Notes>10</Notes>
  <HiddenSlides>1</HiddenSlides>
  <MMClips>0</MMClips>
  <ScaleCrop>false</ScaleCrop>
  <HeadingPairs>
    <vt:vector size="6" baseType="variant">
      <vt:variant>
        <vt:lpstr>Използвани шрифтове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20</vt:i4>
      </vt:variant>
    </vt:vector>
  </HeadingPairs>
  <TitlesOfParts>
    <vt:vector size="28" baseType="lpstr">
      <vt:lpstr>Montserrat Medium</vt:lpstr>
      <vt:lpstr>Comic Sans MS</vt:lpstr>
      <vt:lpstr>Times New Roman</vt:lpstr>
      <vt:lpstr>Montserrat Bold</vt:lpstr>
      <vt:lpstr>Inter Bold</vt:lpstr>
      <vt:lpstr>Inter Light</vt:lpstr>
      <vt:lpstr>Arial</vt:lpstr>
      <vt:lpstr>Office Theme</vt:lpstr>
      <vt:lpstr>Презентация на PowerPoint</vt:lpstr>
      <vt:lpstr>1. Информация. Информационни технологии. </vt:lpstr>
      <vt:lpstr>Презентация на PowerPoint</vt:lpstr>
      <vt:lpstr>Презентация на PowerPoint</vt:lpstr>
      <vt:lpstr>Основни информационни дейности </vt:lpstr>
      <vt:lpstr>А) Начини за събиране (въвеждане) на информация</vt:lpstr>
      <vt:lpstr>Б) Начини за съхраняване на информация</vt:lpstr>
      <vt:lpstr>В) Начини за обработване на информация</vt:lpstr>
      <vt:lpstr>Г) Начини за разпространение на информацията</vt:lpstr>
      <vt:lpstr>3. Представяне на данните в компютърната система</vt:lpstr>
      <vt:lpstr>Презентация на PowerPoint</vt:lpstr>
      <vt:lpstr>Презентация на PowerPoint</vt:lpstr>
      <vt:lpstr>4. Единици за измерване на информация</vt:lpstr>
      <vt:lpstr>Презентация на PowerPoint</vt:lpstr>
      <vt:lpstr>Производни мерки на основната мярка байт (В)</vt:lpstr>
      <vt:lpstr>Производни мерки на основната мярка байт (В)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Елена Г. Маврова-Ненкова</dc:creator>
  <cp:lastModifiedBy>Elena Nenkova</cp:lastModifiedBy>
  <cp:revision>3</cp:revision>
  <dcterms:created xsi:type="dcterms:W3CDTF">2026-07-24T11:52:57Z</dcterms:created>
  <dcterms:modified xsi:type="dcterms:W3CDTF">2026-07-24T12:28:16Z</dcterms:modified>
</cp:coreProperties>
</file>