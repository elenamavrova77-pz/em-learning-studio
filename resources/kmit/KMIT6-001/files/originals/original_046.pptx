
<file path=[Content_Types].xml><?xml version="1.0" encoding="utf-8"?>
<Types xmlns="http://schemas.openxmlformats.org/package/2006/content-types">
  <Default Extension="fntdata" ContentType="application/x-fontdata"/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 autoCompressPictures="0">
  <p:sldMasterIdLst>
    <p:sldMasterId id="2147483648" r:id="rId1"/>
  </p:sldMasterIdLst>
  <p:notesMasterIdLst>
    <p:notesMasterId r:id="rId12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sldSz cx="9144000" cy="5143500" type="screen16x9"/>
  <p:notesSz cx="5143500" cy="9144000"/>
  <p:embeddedFontLst>
    <p:embeddedFont>
      <p:font typeface="Inter Bold" panose="020B0604020202020204" charset="0"/>
      <p:regular r:id="rId13"/>
    </p:embeddedFont>
    <p:embeddedFont>
      <p:font typeface="Inter Light" panose="020B0604020202020204" charset="0"/>
      <p:regular r:id="rId14"/>
    </p:embeddedFont>
    <p:embeddedFont>
      <p:font typeface="Montserrat Bold" panose="020B0604020202020204" charset="-52"/>
      <p:regular r:id="rId15"/>
    </p:embeddedFont>
    <p:embeddedFont>
      <p:font typeface="Montserrat Light" panose="00000400000000000000" pitchFamily="2" charset="-52"/>
      <p:regular r:id="rId16"/>
    </p:embeddedFont>
    <p:embeddedFont>
      <p:font typeface="Montserrat Medium" panose="00000600000000000000" pitchFamily="2" charset="-52"/>
      <p:regular r:id="rId17"/>
    </p:embeddedFont>
  </p:embeddedFontLst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10" d="100"/>
          <a:sy n="110" d="100"/>
        </p:scale>
        <p:origin x="586" y="67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font" Target="fonts/font1.fntdata"/><Relationship Id="rId18" Type="http://schemas.openxmlformats.org/officeDocument/2006/relationships/presProps" Target="presProps.xml"/><Relationship Id="rId3" Type="http://schemas.openxmlformats.org/officeDocument/2006/relationships/slide" Target="slides/slide2.xml"/><Relationship Id="rId21" Type="http://schemas.openxmlformats.org/officeDocument/2006/relationships/tableStyles" Target="tableStyles.xml"/><Relationship Id="rId7" Type="http://schemas.openxmlformats.org/officeDocument/2006/relationships/slide" Target="slides/slide6.xml"/><Relationship Id="rId12" Type="http://schemas.openxmlformats.org/officeDocument/2006/relationships/notesMaster" Target="notesMasters/notesMaster1.xml"/><Relationship Id="rId17" Type="http://schemas.openxmlformats.org/officeDocument/2006/relationships/font" Target="fonts/font5.fntdata"/><Relationship Id="rId2" Type="http://schemas.openxmlformats.org/officeDocument/2006/relationships/slide" Target="slides/slide1.xml"/><Relationship Id="rId16" Type="http://schemas.openxmlformats.org/officeDocument/2006/relationships/font" Target="fonts/font4.fntdata"/><Relationship Id="rId20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font" Target="fonts/font3.fntdata"/><Relationship Id="rId10" Type="http://schemas.openxmlformats.org/officeDocument/2006/relationships/slide" Target="slides/slide9.xml"/><Relationship Id="rId19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font" Target="fonts/font2.fntdata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448978007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3" Type="http://schemas.openxmlformats.org/officeDocument/2006/relationships/hyperlink" Target="https://gamma.app/?utm_source=made-with-gamma" TargetMode="External"/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2.png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master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FFFFF"/>
          </a:solidFill>
          <a:ln/>
        </p:spPr>
      </p:sp>
      <p:pic>
        <p:nvPicPr>
          <p:cNvPr id="4" name="Image 1" descr="preencoded.png">
            <a:hlinkClick r:id="rId3"/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029180" y="4844491"/>
            <a:ext cx="1071843" cy="256032"/>
          </a:xfrm>
          <a:prstGeom prst="rect">
            <a:avLst/>
          </a:prstGeom>
        </p:spPr>
      </p:pic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e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4.jpe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jpeg"/><Relationship Id="rId7" Type="http://schemas.openxmlformats.org/officeDocument/2006/relationships/image" Target="../media/image9.sv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8.png"/><Relationship Id="rId5" Type="http://schemas.openxmlformats.org/officeDocument/2006/relationships/image" Target="../media/image7.svg"/><Relationship Id="rId4" Type="http://schemas.openxmlformats.org/officeDocument/2006/relationships/image" Target="../media/image6.png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jpe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jpe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13.svg"/><Relationship Id="rId4" Type="http://schemas.openxmlformats.org/officeDocument/2006/relationships/image" Target="../media/image12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5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jpe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8.png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.jpe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715000" y="0"/>
            <a:ext cx="3429000" cy="51435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897901" y="464599"/>
            <a:ext cx="7809681" cy="650928"/>
          </a:xfrm>
          <a:prstGeom prst="rect">
            <a:avLst/>
          </a:prstGeom>
          <a:ln/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wrap="none" lIns="0" tIns="0" rIns="0" bIns="0" rtlCol="0" anchor="t"/>
          <a:lstStyle/>
          <a:p>
            <a:pPr marL="0" indent="0" algn="r">
              <a:lnSpc>
                <a:spcPct val="104000"/>
              </a:lnSpc>
              <a:buNone/>
            </a:pPr>
            <a:r>
              <a:rPr lang="en-US" sz="3200" b="1" dirty="0">
                <a:solidFill>
                  <a:srgbClr val="204C8E"/>
                </a:solidFill>
                <a:latin typeface="Montserrat Bold" pitchFamily="34" charset="0"/>
                <a:ea typeface="Montserrat Bold" pitchFamily="34" charset="-122"/>
                <a:cs typeface="Montserrat Bold" pitchFamily="34" charset="-120"/>
              </a:rPr>
              <a:t>Компютърна текстообработка</a:t>
            </a:r>
            <a:endParaRPr lang="en-US" sz="3200" dirty="0"/>
          </a:p>
        </p:txBody>
      </p:sp>
      <p:sp>
        <p:nvSpPr>
          <p:cNvPr id="4" name="Text 1"/>
          <p:cNvSpPr/>
          <p:nvPr/>
        </p:nvSpPr>
        <p:spPr>
          <a:xfrm>
            <a:off x="496119" y="2369790"/>
            <a:ext cx="5179963" cy="22681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33000"/>
              </a:lnSpc>
              <a:buNone/>
            </a:pPr>
            <a:endParaRPr lang="en-US" sz="1100" dirty="0"/>
          </a:p>
        </p:txBody>
      </p:sp>
      <p:sp>
        <p:nvSpPr>
          <p:cNvPr id="5" name="Text 2"/>
          <p:cNvSpPr/>
          <p:nvPr/>
        </p:nvSpPr>
        <p:spPr>
          <a:xfrm>
            <a:off x="343719" y="2303514"/>
            <a:ext cx="4722763" cy="137486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 fontScale="92500"/>
          </a:bodyPr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2400" b="1" dirty="0">
                <a:solidFill>
                  <a:srgbClr val="000000"/>
                </a:solidFill>
                <a:latin typeface="Montserrat Bold" pitchFamily="34" charset="0"/>
                <a:ea typeface="Montserrat Bold" pitchFamily="34" charset="-122"/>
                <a:cs typeface="Montserrat Bold" pitchFamily="34" charset="-120"/>
              </a:rPr>
              <a:t>Въвеждане на текст, съдържащ специални знаци и символи в Microsoft Word</a:t>
            </a:r>
            <a:endParaRPr lang="en-US" sz="2400" dirty="0"/>
          </a:p>
        </p:txBody>
      </p:sp>
      <p:pic>
        <p:nvPicPr>
          <p:cNvPr id="1026" name="Picture 2" descr="Курс по MS Word | Progress | Компютърни курсове">
            <a:extLst>
              <a:ext uri="{FF2B5EF4-FFF2-40B4-BE49-F238E27FC236}">
                <a16:creationId xmlns:a16="http://schemas.microsoft.com/office/drawing/2014/main" id="{886DEE92-765E-B87F-387D-68E80CD57FF8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00024" y="189217"/>
            <a:ext cx="1553441" cy="155344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715000" y="0"/>
            <a:ext cx="3429000" cy="51435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496119" y="750689"/>
            <a:ext cx="4722763" cy="35436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2200" b="1" dirty="0">
                <a:solidFill>
                  <a:srgbClr val="000000"/>
                </a:solidFill>
                <a:latin typeface="Montserrat Bold" pitchFamily="34" charset="0"/>
                <a:ea typeface="Montserrat Bold" pitchFamily="34" charset="-122"/>
                <a:cs typeface="Montserrat Bold" pitchFamily="34" charset="-120"/>
              </a:rPr>
              <a:t>До сега прилаганото</a:t>
            </a:r>
            <a:endParaRPr lang="en-US" sz="2200" dirty="0"/>
          </a:p>
        </p:txBody>
      </p:sp>
      <p:pic>
        <p:nvPicPr>
          <p:cNvPr id="4" name="Image 1" descr="preencoded.png"/>
          <p:cNvPicPr>
            <a:picLocks noChangeAspect="1"/>
          </p:cNvPicPr>
          <p:nvPr/>
        </p:nvPicPr>
        <p:blipFill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496119" y="1317650"/>
            <a:ext cx="4722763" cy="854943"/>
          </a:xfrm>
          <a:prstGeom prst="rect">
            <a:avLst/>
          </a:prstGeom>
        </p:spPr>
      </p:pic>
      <p:sp>
        <p:nvSpPr>
          <p:cNvPr id="5" name="Text 1"/>
          <p:cNvSpPr/>
          <p:nvPr/>
        </p:nvSpPr>
        <p:spPr>
          <a:xfrm>
            <a:off x="733127" y="1478459"/>
            <a:ext cx="4324945" cy="22145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350" dirty="0">
                <a:solidFill>
                  <a:srgbClr val="000000"/>
                </a:solidFill>
                <a:latin typeface="Montserrat Medium" pitchFamily="34" charset="0"/>
                <a:ea typeface="Montserrat Medium" pitchFamily="34" charset="-122"/>
                <a:cs typeface="Montserrat Medium" pitchFamily="34" charset="-120"/>
              </a:rPr>
              <a:t>Програма</a:t>
            </a:r>
            <a:endParaRPr lang="en-US" sz="1350" dirty="0"/>
          </a:p>
        </p:txBody>
      </p:sp>
      <p:sp>
        <p:nvSpPr>
          <p:cNvPr id="6" name="Text 2"/>
          <p:cNvSpPr/>
          <p:nvPr/>
        </p:nvSpPr>
        <p:spPr>
          <a:xfrm>
            <a:off x="733127" y="1784970"/>
            <a:ext cx="4324945" cy="22681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100" dirty="0">
                <a:solidFill>
                  <a:srgbClr val="3D3E44"/>
                </a:solidFill>
                <a:latin typeface="Inter Light" pitchFamily="34" charset="0"/>
                <a:ea typeface="Inter Light" pitchFamily="34" charset="-122"/>
                <a:cs typeface="Inter Light" pitchFamily="34" charset="-120"/>
              </a:rPr>
              <a:t>Работим с </a:t>
            </a:r>
            <a:r>
              <a:rPr lang="en-US" sz="1100" b="1" dirty="0">
                <a:solidFill>
                  <a:srgbClr val="000000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Microsoft Word</a:t>
            </a:r>
            <a:r>
              <a:rPr lang="en-US" sz="1100" dirty="0">
                <a:solidFill>
                  <a:srgbClr val="3D3E44"/>
                </a:solidFill>
                <a:latin typeface="Inter Light" pitchFamily="34" charset="0"/>
                <a:ea typeface="Inter Light" pitchFamily="34" charset="-122"/>
                <a:cs typeface="Inter Light" pitchFamily="34" charset="-120"/>
              </a:rPr>
              <a:t> за обработка на текст.</a:t>
            </a:r>
            <a:endParaRPr lang="en-US" sz="1100" dirty="0"/>
          </a:p>
        </p:txBody>
      </p:sp>
      <p:pic>
        <p:nvPicPr>
          <p:cNvPr id="7" name="Image 2" descr="preencoded.png"/>
          <p:cNvPicPr>
            <a:picLocks noChangeAspect="1"/>
          </p:cNvPicPr>
          <p:nvPr/>
        </p:nvPicPr>
        <p:blipFill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496119" y="2314352"/>
            <a:ext cx="4722763" cy="854943"/>
          </a:xfrm>
          <a:prstGeom prst="rect">
            <a:avLst/>
          </a:prstGeom>
        </p:spPr>
      </p:pic>
      <p:sp>
        <p:nvSpPr>
          <p:cNvPr id="8" name="Text 3"/>
          <p:cNvSpPr/>
          <p:nvPr/>
        </p:nvSpPr>
        <p:spPr>
          <a:xfrm>
            <a:off x="733127" y="2475161"/>
            <a:ext cx="4324945" cy="22145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350" dirty="0">
                <a:solidFill>
                  <a:srgbClr val="000000"/>
                </a:solidFill>
                <a:latin typeface="Montserrat Medium" pitchFamily="34" charset="0"/>
                <a:ea typeface="Montserrat Medium" pitchFamily="34" charset="-122"/>
                <a:cs typeface="Montserrat Medium" pitchFamily="34" charset="-120"/>
              </a:rPr>
              <a:t>Елементи на текста</a:t>
            </a:r>
            <a:endParaRPr lang="en-US" sz="1350" dirty="0"/>
          </a:p>
        </p:txBody>
      </p:sp>
      <p:sp>
        <p:nvSpPr>
          <p:cNvPr id="9" name="Text 4"/>
          <p:cNvSpPr/>
          <p:nvPr/>
        </p:nvSpPr>
        <p:spPr>
          <a:xfrm>
            <a:off x="733127" y="2781672"/>
            <a:ext cx="4324945" cy="22681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100" dirty="0">
                <a:solidFill>
                  <a:srgbClr val="000000"/>
                </a:solidFill>
                <a:latin typeface="Inter Light" pitchFamily="34" charset="0"/>
                <a:ea typeface="Inter Light" pitchFamily="34" charset="-122"/>
                <a:cs typeface="Inter Light" pitchFamily="34" charset="-120"/>
              </a:rPr>
              <a:t>Символ → дума → ред → изречение → абзац → страница</a:t>
            </a:r>
            <a:endParaRPr lang="en-US" sz="1100" dirty="0"/>
          </a:p>
        </p:txBody>
      </p:sp>
      <p:pic>
        <p:nvPicPr>
          <p:cNvPr id="10" name="Image 3" descr="preencoded.png"/>
          <p:cNvPicPr>
            <a:picLocks noChangeAspect="1"/>
          </p:cNvPicPr>
          <p:nvPr/>
        </p:nvPicPr>
        <p:blipFill>
          <a:blip r:embed="rId6">
            <a:extLs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>
            <a:off x="496119" y="3311054"/>
            <a:ext cx="4722763" cy="1081757"/>
          </a:xfrm>
          <a:prstGeom prst="rect">
            <a:avLst/>
          </a:prstGeom>
        </p:spPr>
      </p:pic>
      <p:sp>
        <p:nvSpPr>
          <p:cNvPr id="11" name="Text 5"/>
          <p:cNvSpPr/>
          <p:nvPr/>
        </p:nvSpPr>
        <p:spPr>
          <a:xfrm>
            <a:off x="733127" y="3471863"/>
            <a:ext cx="4324945" cy="22145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350" dirty="0">
                <a:solidFill>
                  <a:srgbClr val="000000"/>
                </a:solidFill>
                <a:latin typeface="Montserrat Medium" pitchFamily="34" charset="0"/>
                <a:ea typeface="Montserrat Medium" pitchFamily="34" charset="-122"/>
                <a:cs typeface="Montserrat Medium" pitchFamily="34" charset="-120"/>
              </a:rPr>
              <a:t>Правила при въвеждане</a:t>
            </a:r>
            <a:endParaRPr lang="en-US" sz="1350" dirty="0"/>
          </a:p>
        </p:txBody>
      </p:sp>
      <p:sp>
        <p:nvSpPr>
          <p:cNvPr id="12" name="Text 6"/>
          <p:cNvSpPr/>
          <p:nvPr/>
        </p:nvSpPr>
        <p:spPr>
          <a:xfrm>
            <a:off x="733127" y="3778374"/>
            <a:ext cx="4324945" cy="45362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100" dirty="0">
                <a:solidFill>
                  <a:srgbClr val="000000"/>
                </a:solidFill>
                <a:latin typeface="Inter Light" pitchFamily="34" charset="0"/>
                <a:ea typeface="Inter Light" pitchFamily="34" charset="-122"/>
                <a:cs typeface="Inter Light" pitchFamily="34" charset="-120"/>
              </a:rPr>
              <a:t>При въвеждането на текст трябва да се съобразят определени правила.</a:t>
            </a:r>
            <a:endParaRPr lang="en-US" sz="11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Shape 1">
            <a:extLst>
              <a:ext uri="{FF2B5EF4-FFF2-40B4-BE49-F238E27FC236}">
                <a16:creationId xmlns:a16="http://schemas.microsoft.com/office/drawing/2014/main" id="{1BC4A13D-71E5-0E4D-1AB2-1BE51DCDA9C4}"/>
              </a:ext>
            </a:extLst>
          </p:cNvPr>
          <p:cNvSpPr/>
          <p:nvPr/>
        </p:nvSpPr>
        <p:spPr>
          <a:xfrm>
            <a:off x="4653557" y="2080096"/>
            <a:ext cx="4107135" cy="2325650"/>
          </a:xfrm>
          <a:prstGeom prst="roundRect">
            <a:avLst>
              <a:gd name="adj" fmla="val 12456"/>
            </a:avLst>
          </a:prstGeom>
          <a:solidFill>
            <a:srgbClr val="C6C9DC"/>
          </a:solidFill>
          <a:ln/>
        </p:spPr>
      </p:sp>
      <p:sp>
        <p:nvSpPr>
          <p:cNvPr id="2" name="Text 0"/>
          <p:cNvSpPr/>
          <p:nvPr/>
        </p:nvSpPr>
        <p:spPr>
          <a:xfrm>
            <a:off x="535781" y="1203014"/>
            <a:ext cx="8151763" cy="44298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2750" b="1" dirty="0">
                <a:solidFill>
                  <a:srgbClr val="00206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Montserrat Medium" pitchFamily="34" charset="0"/>
                <a:ea typeface="Montserrat Medium" pitchFamily="34" charset="-122"/>
                <a:cs typeface="Montserrat Medium" pitchFamily="34" charset="-120"/>
              </a:rPr>
              <a:t>Редактиране и форматиране</a:t>
            </a:r>
            <a:endParaRPr lang="en-US" sz="2750" b="1" dirty="0">
              <a:solidFill>
                <a:srgbClr val="002060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</p:txBody>
      </p:sp>
      <p:sp>
        <p:nvSpPr>
          <p:cNvPr id="3" name="Shape 1"/>
          <p:cNvSpPr/>
          <p:nvPr/>
        </p:nvSpPr>
        <p:spPr>
          <a:xfrm>
            <a:off x="394022" y="2080096"/>
            <a:ext cx="4107135" cy="2325650"/>
          </a:xfrm>
          <a:prstGeom prst="roundRect">
            <a:avLst>
              <a:gd name="adj" fmla="val 12456"/>
            </a:avLst>
          </a:prstGeom>
          <a:solidFill>
            <a:srgbClr val="C6C9DC"/>
          </a:solidFill>
          <a:ln/>
        </p:spPr>
      </p:sp>
      <p:sp>
        <p:nvSpPr>
          <p:cNvPr id="4" name="Text 2"/>
          <p:cNvSpPr/>
          <p:nvPr/>
        </p:nvSpPr>
        <p:spPr>
          <a:xfrm>
            <a:off x="535781" y="2221855"/>
            <a:ext cx="3823618" cy="22145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b="1" dirty="0">
                <a:solidFill>
                  <a:srgbClr val="00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Montserrat Medium" pitchFamily="34" charset="0"/>
                <a:ea typeface="Montserrat Medium" pitchFamily="34" charset="-122"/>
                <a:cs typeface="Montserrat Medium" pitchFamily="34" charset="-120"/>
              </a:rPr>
              <a:t>Редактиране</a:t>
            </a:r>
            <a:endParaRPr lang="en-US" b="1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</p:txBody>
      </p:sp>
      <p:sp>
        <p:nvSpPr>
          <p:cNvPr id="5" name="Text 3"/>
          <p:cNvSpPr/>
          <p:nvPr/>
        </p:nvSpPr>
        <p:spPr>
          <a:xfrm>
            <a:off x="535781" y="2585070"/>
            <a:ext cx="3823618" cy="103096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400" dirty="0">
                <a:solidFill>
                  <a:srgbClr val="3D3E44"/>
                </a:solidFill>
                <a:latin typeface="Inter Light" pitchFamily="34" charset="0"/>
                <a:ea typeface="Inter Light" pitchFamily="34" charset="-122"/>
                <a:cs typeface="Inter Light" pitchFamily="34" charset="-120"/>
              </a:rPr>
              <a:t>След въвеждане текстът може да се </a:t>
            </a:r>
            <a:r>
              <a:rPr lang="en-US" sz="1400" b="1" dirty="0">
                <a:solidFill>
                  <a:srgbClr val="3D3E44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променя, изтрива, копира, вмъква и пренася</a:t>
            </a:r>
            <a:r>
              <a:rPr lang="en-US" sz="1400" dirty="0">
                <a:solidFill>
                  <a:srgbClr val="3D3E44"/>
                </a:solidFill>
                <a:latin typeface="Inter Light" pitchFamily="34" charset="0"/>
                <a:ea typeface="Inter Light" pitchFamily="34" charset="-122"/>
                <a:cs typeface="Inter Light" pitchFamily="34" charset="-120"/>
              </a:rPr>
              <a:t>.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4749701" y="2221855"/>
            <a:ext cx="3902943" cy="22145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Montserrat Medium" pitchFamily="34" charset="0"/>
                <a:ea typeface="Montserrat Medium" pitchFamily="34" charset="-122"/>
                <a:cs typeface="Montserrat Medium" pitchFamily="34" charset="-120"/>
              </a:rPr>
              <a:t>Форматиране</a:t>
            </a:r>
            <a:endParaRPr lang="en-US" b="1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</p:txBody>
      </p:sp>
      <p:sp>
        <p:nvSpPr>
          <p:cNvPr id="7" name="Text 5"/>
          <p:cNvSpPr/>
          <p:nvPr/>
        </p:nvSpPr>
        <p:spPr>
          <a:xfrm>
            <a:off x="4749701" y="2535806"/>
            <a:ext cx="4009799" cy="96169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400" dirty="0">
                <a:solidFill>
                  <a:srgbClr val="3D3E44"/>
                </a:solidFill>
                <a:latin typeface="Inter Light" pitchFamily="34" charset="0"/>
                <a:ea typeface="Inter Light" pitchFamily="34" charset="-122"/>
                <a:cs typeface="Inter Light" pitchFamily="34" charset="-120"/>
              </a:rPr>
              <a:t>Променя </a:t>
            </a:r>
            <a:r>
              <a:rPr lang="en-US" sz="1400" b="1" dirty="0">
                <a:solidFill>
                  <a:srgbClr val="3D3E44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външния вид</a:t>
            </a:r>
            <a:r>
              <a:rPr lang="en-US" sz="1400" dirty="0">
                <a:solidFill>
                  <a:srgbClr val="3D3E44"/>
                </a:solidFill>
                <a:latin typeface="Inter Light" pitchFamily="34" charset="0"/>
                <a:ea typeface="Inter Light" pitchFamily="34" charset="-122"/>
                <a:cs typeface="Inter Light" pitchFamily="34" charset="-120"/>
              </a:rPr>
              <a:t> на текста и </a:t>
            </a:r>
            <a:endParaRPr lang="bg-BG" sz="1400" dirty="0">
              <a:solidFill>
                <a:srgbClr val="3D3E44"/>
              </a:solidFill>
              <a:latin typeface="Inter Light" pitchFamily="34" charset="0"/>
              <a:ea typeface="Inter Light" pitchFamily="34" charset="-122"/>
              <a:cs typeface="Inter Light" pitchFamily="34" charset="-120"/>
            </a:endParaRPr>
          </a:p>
          <a:p>
            <a:pPr marL="0" indent="0" algn="l">
              <a:lnSpc>
                <a:spcPct val="133000"/>
              </a:lnSpc>
              <a:buNone/>
            </a:pPr>
            <a:r>
              <a:rPr lang="en-US" sz="1400" dirty="0" err="1">
                <a:solidFill>
                  <a:srgbClr val="3D3E44"/>
                </a:solidFill>
                <a:latin typeface="Inter Light" pitchFamily="34" charset="0"/>
                <a:ea typeface="Inter Light" pitchFamily="34" charset="-122"/>
                <a:cs typeface="Inter Light" pitchFamily="34" charset="-120"/>
              </a:rPr>
              <a:t>неговите</a:t>
            </a:r>
            <a:r>
              <a:rPr lang="en-US" sz="1400" dirty="0">
                <a:solidFill>
                  <a:srgbClr val="3D3E44"/>
                </a:solidFill>
                <a:latin typeface="Inter Light" pitchFamily="34" charset="0"/>
                <a:ea typeface="Inter Light" pitchFamily="34" charset="-122"/>
                <a:cs typeface="Inter Light" pitchFamily="34" charset="-120"/>
              </a:rPr>
              <a:t> елементи.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4749701" y="3127951"/>
            <a:ext cx="3902943" cy="106997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 fontScale="85000" lnSpcReduction="10000"/>
          </a:bodyPr>
          <a:lstStyle/>
          <a:p>
            <a:pPr marL="223520" indent="-223520" algn="l">
              <a:lnSpc>
                <a:spcPct val="133000"/>
              </a:lnSpc>
              <a:buSzPct val="100000"/>
              <a:buChar char="•"/>
            </a:pPr>
            <a:r>
              <a:rPr lang="en-US" sz="1400" b="1" dirty="0">
                <a:solidFill>
                  <a:srgbClr val="3D3E44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Ниво символ:</a:t>
            </a:r>
            <a:r>
              <a:rPr lang="en-US" sz="1400" dirty="0">
                <a:solidFill>
                  <a:srgbClr val="3D3E44"/>
                </a:solidFill>
                <a:latin typeface="Inter Light" pitchFamily="34" charset="0"/>
                <a:ea typeface="Inter Light" pitchFamily="34" charset="-122"/>
                <a:cs typeface="Inter Light" pitchFamily="34" charset="-120"/>
              </a:rPr>
              <a:t> шрифт, размер, стил, цвят, ефект</a:t>
            </a:r>
            <a:endParaRPr lang="en-US" sz="1400" dirty="0"/>
          </a:p>
          <a:p>
            <a:pPr marL="223520" indent="-223520" algn="l">
              <a:lnSpc>
                <a:spcPct val="133000"/>
              </a:lnSpc>
              <a:buSzPct val="100000"/>
              <a:buChar char="•"/>
            </a:pPr>
            <a:r>
              <a:rPr lang="en-US" sz="1400" b="1" dirty="0">
                <a:solidFill>
                  <a:srgbClr val="3D3E44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Ниво абзац:</a:t>
            </a:r>
            <a:r>
              <a:rPr lang="en-US" sz="1400" dirty="0">
                <a:solidFill>
                  <a:srgbClr val="3D3E44"/>
                </a:solidFill>
                <a:latin typeface="Inter Light" pitchFamily="34" charset="0"/>
                <a:ea typeface="Inter Light" pitchFamily="34" charset="-122"/>
                <a:cs typeface="Inter Light" pitchFamily="34" charset="-120"/>
              </a:rPr>
              <a:t> отстъпване, отстъп, разстояние между абзаците, интерлинеатурно разстояние</a:t>
            </a:r>
            <a:endParaRPr lang="en-US" sz="14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3429000" cy="51435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3731392" y="384052"/>
            <a:ext cx="4722763" cy="38754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>
              <a:lnSpc>
                <a:spcPct val="104000"/>
              </a:lnSpc>
            </a:pPr>
            <a:r>
              <a:rPr lang="en-US" sz="2750" b="1" dirty="0">
                <a:solidFill>
                  <a:srgbClr val="00206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Montserrat Medium" pitchFamily="34" charset="0"/>
              </a:rPr>
              <a:t>Специални знаци и </a:t>
            </a:r>
            <a:r>
              <a:rPr lang="en-US" sz="2750" b="1" dirty="0" err="1">
                <a:solidFill>
                  <a:srgbClr val="00206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Montserrat Medium" pitchFamily="34" charset="0"/>
              </a:rPr>
              <a:t>символи</a:t>
            </a:r>
            <a:endParaRPr lang="en-US" sz="2750" b="1" dirty="0">
              <a:solidFill>
                <a:srgbClr val="002060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Montserrat Medium" pitchFamily="34" charset="0"/>
            </a:endParaRPr>
          </a:p>
        </p:txBody>
      </p:sp>
      <p:sp>
        <p:nvSpPr>
          <p:cNvPr id="4" name="Text 1"/>
          <p:cNvSpPr/>
          <p:nvPr/>
        </p:nvSpPr>
        <p:spPr>
          <a:xfrm>
            <a:off x="3789219" y="880094"/>
            <a:ext cx="5354781" cy="50970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 lnSpcReduction="10000"/>
          </a:bodyPr>
          <a:lstStyle/>
          <a:p>
            <a:pPr marL="0" indent="0" algn="l">
              <a:lnSpc>
                <a:spcPct val="125000"/>
              </a:lnSpc>
              <a:buNone/>
            </a:pPr>
            <a:r>
              <a:rPr lang="en-US" sz="1400" dirty="0">
                <a:solidFill>
                  <a:srgbClr val="3D3E44"/>
                </a:solidFill>
                <a:latin typeface="Inter Light" pitchFamily="34" charset="0"/>
                <a:ea typeface="Inter Light" pitchFamily="34" charset="-122"/>
                <a:cs typeface="Inter Light" pitchFamily="34" charset="-120"/>
              </a:rPr>
              <a:t>При въвеждане на текст понякога са нужни символи, </a:t>
            </a:r>
            <a:r>
              <a:rPr lang="en-US" sz="1400" b="1" dirty="0">
                <a:solidFill>
                  <a:srgbClr val="3D3E44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липсващи на клавиатурата</a:t>
            </a:r>
            <a:r>
              <a:rPr lang="en-US" sz="1400" dirty="0">
                <a:solidFill>
                  <a:srgbClr val="3D3E44"/>
                </a:solidFill>
                <a:latin typeface="Inter Light" pitchFamily="34" charset="0"/>
                <a:ea typeface="Inter Light" pitchFamily="34" charset="-122"/>
                <a:cs typeface="Inter Light" pitchFamily="34" charset="-120"/>
              </a:rPr>
              <a:t>:</a:t>
            </a:r>
            <a:endParaRPr lang="en-US" sz="1400" dirty="0"/>
          </a:p>
        </p:txBody>
      </p:sp>
      <p:sp>
        <p:nvSpPr>
          <p:cNvPr id="5" name="Shape 2"/>
          <p:cNvSpPr/>
          <p:nvPr/>
        </p:nvSpPr>
        <p:spPr>
          <a:xfrm>
            <a:off x="3925119" y="1523851"/>
            <a:ext cx="4722763" cy="702469"/>
          </a:xfrm>
          <a:prstGeom prst="roundRect">
            <a:avLst>
              <a:gd name="adj" fmla="val 15893"/>
            </a:avLst>
          </a:prstGeom>
          <a:solidFill>
            <a:srgbClr val="EFF0F6"/>
          </a:solidFill>
          <a:ln w="4763">
            <a:solidFill>
              <a:srgbClr val="C5C7D2"/>
            </a:solidFill>
            <a:prstDash val="solid"/>
          </a:ln>
        </p:spPr>
      </p:sp>
      <p:sp>
        <p:nvSpPr>
          <p:cNvPr id="6" name="Text 3"/>
          <p:cNvSpPr/>
          <p:nvPr/>
        </p:nvSpPr>
        <p:spPr>
          <a:xfrm>
            <a:off x="4053855" y="1652587"/>
            <a:ext cx="4465290" cy="19384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dirty="0">
                <a:solidFill>
                  <a:srgbClr val="3D3E44"/>
                </a:solidFill>
                <a:latin typeface="Montserrat Medium" pitchFamily="34" charset="0"/>
                <a:ea typeface="Montserrat Medium" pitchFamily="34" charset="-122"/>
                <a:cs typeface="Montserrat Medium" pitchFamily="34" charset="-120"/>
              </a:rPr>
              <a:t>Математически</a:t>
            </a:r>
            <a:endParaRPr lang="en-US" dirty="0"/>
          </a:p>
        </p:txBody>
      </p:sp>
      <p:sp>
        <p:nvSpPr>
          <p:cNvPr id="7" name="Text 4"/>
          <p:cNvSpPr/>
          <p:nvPr/>
        </p:nvSpPr>
        <p:spPr>
          <a:xfrm>
            <a:off x="4053855" y="1911548"/>
            <a:ext cx="4465290" cy="18603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25000"/>
              </a:lnSpc>
              <a:buNone/>
            </a:pPr>
            <a:r>
              <a:rPr lang="en-US" sz="1100" dirty="0">
                <a:solidFill>
                  <a:srgbClr val="3D3E44"/>
                </a:solidFill>
                <a:latin typeface="Inter Light" pitchFamily="34" charset="0"/>
                <a:ea typeface="Inter Light" pitchFamily="34" charset="-122"/>
                <a:cs typeface="Inter Light" pitchFamily="34" charset="-120"/>
              </a:rPr>
              <a:t>+, −, =, &lt;, &gt;, ≤, ≥ и др.</a:t>
            </a:r>
            <a:endParaRPr lang="en-US" sz="1100" dirty="0"/>
          </a:p>
        </p:txBody>
      </p:sp>
      <p:sp>
        <p:nvSpPr>
          <p:cNvPr id="8" name="Shape 5"/>
          <p:cNvSpPr/>
          <p:nvPr/>
        </p:nvSpPr>
        <p:spPr>
          <a:xfrm>
            <a:off x="3925119" y="2334816"/>
            <a:ext cx="4722763" cy="702469"/>
          </a:xfrm>
          <a:prstGeom prst="roundRect">
            <a:avLst>
              <a:gd name="adj" fmla="val 15893"/>
            </a:avLst>
          </a:prstGeom>
          <a:solidFill>
            <a:srgbClr val="EFF0F6"/>
          </a:solidFill>
          <a:ln w="4763">
            <a:solidFill>
              <a:srgbClr val="C5C7D2"/>
            </a:solidFill>
            <a:prstDash val="solid"/>
          </a:ln>
        </p:spPr>
      </p:sp>
      <p:sp>
        <p:nvSpPr>
          <p:cNvPr id="9" name="Text 6"/>
          <p:cNvSpPr/>
          <p:nvPr/>
        </p:nvSpPr>
        <p:spPr>
          <a:xfrm>
            <a:off x="4053855" y="2463552"/>
            <a:ext cx="4465290" cy="19384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dirty="0">
                <a:solidFill>
                  <a:srgbClr val="3D3E44"/>
                </a:solidFill>
                <a:latin typeface="Montserrat Medium" pitchFamily="34" charset="0"/>
                <a:ea typeface="Montserrat Medium" pitchFamily="34" charset="-122"/>
                <a:cs typeface="Montserrat Medium" pitchFamily="34" charset="-120"/>
              </a:rPr>
              <a:t>Гръцки букви</a:t>
            </a:r>
            <a:endParaRPr lang="en-US" dirty="0"/>
          </a:p>
        </p:txBody>
      </p:sp>
      <p:sp>
        <p:nvSpPr>
          <p:cNvPr id="10" name="Text 7"/>
          <p:cNvSpPr/>
          <p:nvPr/>
        </p:nvSpPr>
        <p:spPr>
          <a:xfrm>
            <a:off x="4053855" y="2722513"/>
            <a:ext cx="4465290" cy="18603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25000"/>
              </a:lnSpc>
              <a:buNone/>
            </a:pPr>
            <a:r>
              <a:rPr lang="en-US" sz="1100" dirty="0">
                <a:solidFill>
                  <a:srgbClr val="3D3E44"/>
                </a:solidFill>
                <a:latin typeface="Inter Light" pitchFamily="34" charset="0"/>
                <a:ea typeface="Inter Light" pitchFamily="34" charset="-122"/>
                <a:cs typeface="Inter Light" pitchFamily="34" charset="-120"/>
              </a:rPr>
              <a:t>α, β, γ, π, θ и др.</a:t>
            </a:r>
            <a:endParaRPr lang="en-US" sz="1100" dirty="0"/>
          </a:p>
        </p:txBody>
      </p:sp>
      <p:sp>
        <p:nvSpPr>
          <p:cNvPr id="11" name="Shape 8"/>
          <p:cNvSpPr/>
          <p:nvPr/>
        </p:nvSpPr>
        <p:spPr>
          <a:xfrm>
            <a:off x="3925119" y="3145780"/>
            <a:ext cx="4722763" cy="702469"/>
          </a:xfrm>
          <a:prstGeom prst="roundRect">
            <a:avLst>
              <a:gd name="adj" fmla="val 15893"/>
            </a:avLst>
          </a:prstGeom>
          <a:solidFill>
            <a:srgbClr val="EFF0F6"/>
          </a:solidFill>
          <a:ln w="4763">
            <a:solidFill>
              <a:srgbClr val="C5C7D2"/>
            </a:solidFill>
            <a:prstDash val="solid"/>
          </a:ln>
        </p:spPr>
      </p:sp>
      <p:sp>
        <p:nvSpPr>
          <p:cNvPr id="12" name="Text 9"/>
          <p:cNvSpPr/>
          <p:nvPr/>
        </p:nvSpPr>
        <p:spPr>
          <a:xfrm>
            <a:off x="4053855" y="3274516"/>
            <a:ext cx="4465290" cy="19384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dirty="0">
                <a:solidFill>
                  <a:srgbClr val="3D3E44"/>
                </a:solidFill>
                <a:latin typeface="Montserrat Medium" pitchFamily="34" charset="0"/>
                <a:ea typeface="Montserrat Medium" pitchFamily="34" charset="-122"/>
                <a:cs typeface="Montserrat Medium" pitchFamily="34" charset="-120"/>
              </a:rPr>
              <a:t>Валути</a:t>
            </a:r>
            <a:endParaRPr lang="en-US" dirty="0"/>
          </a:p>
        </p:txBody>
      </p:sp>
      <p:sp>
        <p:nvSpPr>
          <p:cNvPr id="13" name="Text 10"/>
          <p:cNvSpPr/>
          <p:nvPr/>
        </p:nvSpPr>
        <p:spPr>
          <a:xfrm>
            <a:off x="4053855" y="3533477"/>
            <a:ext cx="4465290" cy="18603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25000"/>
              </a:lnSpc>
              <a:buNone/>
            </a:pPr>
            <a:r>
              <a:rPr lang="en-US" sz="1100" dirty="0">
                <a:solidFill>
                  <a:srgbClr val="3D3E44"/>
                </a:solidFill>
                <a:latin typeface="Inter Light" pitchFamily="34" charset="0"/>
                <a:ea typeface="Inter Light" pitchFamily="34" charset="-122"/>
                <a:cs typeface="Inter Light" pitchFamily="34" charset="-120"/>
              </a:rPr>
              <a:t>€, £ и др.</a:t>
            </a:r>
            <a:endParaRPr lang="en-US" sz="1100" dirty="0"/>
          </a:p>
        </p:txBody>
      </p:sp>
      <p:sp>
        <p:nvSpPr>
          <p:cNvPr id="14" name="Shape 11"/>
          <p:cNvSpPr/>
          <p:nvPr/>
        </p:nvSpPr>
        <p:spPr>
          <a:xfrm>
            <a:off x="3925119" y="3956745"/>
            <a:ext cx="4722763" cy="707231"/>
          </a:xfrm>
          <a:prstGeom prst="roundRect">
            <a:avLst>
              <a:gd name="adj" fmla="val 15786"/>
            </a:avLst>
          </a:prstGeom>
          <a:solidFill>
            <a:srgbClr val="EFF0F6"/>
          </a:solidFill>
          <a:ln w="4763">
            <a:solidFill>
              <a:srgbClr val="C5C7D2"/>
            </a:solidFill>
            <a:prstDash val="solid"/>
          </a:ln>
        </p:spPr>
      </p:sp>
      <p:sp>
        <p:nvSpPr>
          <p:cNvPr id="15" name="Text 12"/>
          <p:cNvSpPr/>
          <p:nvPr/>
        </p:nvSpPr>
        <p:spPr>
          <a:xfrm>
            <a:off x="4053855" y="4085481"/>
            <a:ext cx="4465290" cy="19384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dirty="0">
                <a:solidFill>
                  <a:srgbClr val="3D3E44"/>
                </a:solidFill>
                <a:latin typeface="Montserrat Medium" pitchFamily="34" charset="0"/>
                <a:ea typeface="Montserrat Medium" pitchFamily="34" charset="-122"/>
                <a:cs typeface="Montserrat Medium" pitchFamily="34" charset="-120"/>
              </a:rPr>
              <a:t>Специални</a:t>
            </a:r>
            <a:endParaRPr lang="en-US" dirty="0"/>
          </a:p>
        </p:txBody>
      </p:sp>
      <p:sp>
        <p:nvSpPr>
          <p:cNvPr id="16" name="Text 13"/>
          <p:cNvSpPr/>
          <p:nvPr/>
        </p:nvSpPr>
        <p:spPr>
          <a:xfrm>
            <a:off x="4053855" y="4344442"/>
            <a:ext cx="4465290" cy="19079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25000"/>
              </a:lnSpc>
              <a:buNone/>
            </a:pPr>
            <a:r>
              <a:rPr lang="en-US" sz="1100" dirty="0">
                <a:solidFill>
                  <a:srgbClr val="3D3E44"/>
                </a:solidFill>
                <a:latin typeface="Inter Light" pitchFamily="34" charset="0"/>
                <a:ea typeface="Inter Light" pitchFamily="34" charset="-122"/>
                <a:cs typeface="Inter Light" pitchFamily="34" charset="-120"/>
              </a:rPr>
              <a:t>Дълго тире, многоточие, </a:t>
            </a:r>
            <a:r>
              <a:rPr lang="en-US" sz="1100" dirty="0">
                <a:solidFill>
                  <a:srgbClr val="000000"/>
                </a:solidFill>
                <a:latin typeface="Twemoji Mozilla" pitchFamily="34" charset="0"/>
                <a:ea typeface="Twemoji Mozilla" pitchFamily="34" charset="-122"/>
                <a:cs typeface="Twemoji Mozilla" pitchFamily="34" charset="-120"/>
              </a:rPr>
              <a:t>©</a:t>
            </a:r>
            <a:r>
              <a:rPr lang="en-US" sz="1100" dirty="0">
                <a:solidFill>
                  <a:srgbClr val="3D3E44"/>
                </a:solidFill>
                <a:latin typeface="Inter Light" pitchFamily="34" charset="0"/>
                <a:ea typeface="Inter Light" pitchFamily="34" charset="-122"/>
                <a:cs typeface="Inter Light" pitchFamily="34" charset="-120"/>
              </a:rPr>
              <a:t> и др.</a:t>
            </a:r>
            <a:endParaRPr lang="en-US" sz="11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96119" y="405333"/>
            <a:ext cx="8151763" cy="35994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2750" b="1" dirty="0">
                <a:solidFill>
                  <a:srgbClr val="00206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Montserrat Medium" pitchFamily="34" charset="0"/>
              </a:rPr>
              <a:t>Шрифтове със </a:t>
            </a:r>
            <a:r>
              <a:rPr lang="en-US" sz="2750" b="1" dirty="0" err="1">
                <a:solidFill>
                  <a:srgbClr val="00206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Montserrat Medium" pitchFamily="34" charset="0"/>
              </a:rPr>
              <a:t>специални</a:t>
            </a:r>
            <a:r>
              <a:rPr lang="en-US" sz="2750" b="1" dirty="0">
                <a:solidFill>
                  <a:srgbClr val="00206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Montserrat Medium" pitchFamily="34" charset="0"/>
              </a:rPr>
              <a:t> </a:t>
            </a:r>
            <a:r>
              <a:rPr lang="en-US" sz="2750" b="1" dirty="0" err="1">
                <a:solidFill>
                  <a:srgbClr val="00206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Montserrat Medium" pitchFamily="34" charset="0"/>
              </a:rPr>
              <a:t>символи</a:t>
            </a:r>
            <a:endParaRPr lang="en-US" sz="2750" b="1" dirty="0">
              <a:solidFill>
                <a:srgbClr val="002060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Montserrat Medium" pitchFamily="34" charset="0"/>
            </a:endParaRPr>
          </a:p>
        </p:txBody>
      </p:sp>
      <p:pic>
        <p:nvPicPr>
          <p:cNvPr id="3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96119" y="1010841"/>
            <a:ext cx="5200278" cy="2946797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5973550" y="1493282"/>
            <a:ext cx="2792096" cy="272934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21000"/>
              </a:lnSpc>
              <a:buNone/>
            </a:pPr>
            <a:r>
              <a:rPr lang="en-US" sz="1600" dirty="0">
                <a:solidFill>
                  <a:srgbClr val="3D3E44"/>
                </a:solidFill>
                <a:latin typeface="Inter Light" pitchFamily="34" charset="0"/>
                <a:ea typeface="Inter Light" pitchFamily="34" charset="-122"/>
                <a:cs typeface="Inter Light" pitchFamily="34" charset="-120"/>
              </a:rPr>
              <a:t>Наличните специални знаци </a:t>
            </a:r>
            <a:r>
              <a:rPr lang="en-US" sz="1600" b="1" dirty="0">
                <a:solidFill>
                  <a:srgbClr val="3D3E44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зависят от избрания шрифт</a:t>
            </a:r>
            <a:r>
              <a:rPr lang="en-US" sz="1600" dirty="0">
                <a:solidFill>
                  <a:srgbClr val="3D3E44"/>
                </a:solidFill>
                <a:latin typeface="Inter Light" pitchFamily="34" charset="0"/>
                <a:ea typeface="Inter Light" pitchFamily="34" charset="-122"/>
                <a:cs typeface="Inter Light" pitchFamily="34" charset="-120"/>
              </a:rPr>
              <a:t>. Различните шрифтове разполагат с различни специални символи.</a:t>
            </a:r>
            <a:endParaRPr lang="en-US" sz="1600" dirty="0"/>
          </a:p>
        </p:txBody>
      </p:sp>
      <p:pic>
        <p:nvPicPr>
          <p:cNvPr id="5" name="Image 1" descr="preencoded.png"/>
          <p:cNvPicPr>
            <a:picLocks noChangeAspect="1"/>
          </p:cNvPicPr>
          <p:nvPr/>
        </p:nvPicPr>
        <p:blipFill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539279" y="4171652"/>
            <a:ext cx="172715" cy="172715"/>
          </a:xfrm>
          <a:prstGeom prst="rect">
            <a:avLst/>
          </a:prstGeom>
        </p:spPr>
      </p:pic>
      <p:sp>
        <p:nvSpPr>
          <p:cNvPr id="6" name="Text 2"/>
          <p:cNvSpPr/>
          <p:nvPr/>
        </p:nvSpPr>
        <p:spPr>
          <a:xfrm>
            <a:off x="870347" y="4168080"/>
            <a:ext cx="3643164" cy="17993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dirty="0">
                <a:solidFill>
                  <a:srgbClr val="3D3E44"/>
                </a:solidFill>
                <a:latin typeface="Montserrat Medium" pitchFamily="34" charset="0"/>
                <a:ea typeface="Montserrat Medium" pitchFamily="34" charset="-122"/>
                <a:cs typeface="Montserrat Medium" pitchFamily="34" charset="-120"/>
              </a:rPr>
              <a:t>Symbol</a:t>
            </a:r>
            <a:endParaRPr lang="en-US" dirty="0"/>
          </a:p>
        </p:txBody>
      </p:sp>
      <p:sp>
        <p:nvSpPr>
          <p:cNvPr id="7" name="Text 3"/>
          <p:cNvSpPr/>
          <p:nvPr/>
        </p:nvSpPr>
        <p:spPr>
          <a:xfrm>
            <a:off x="870347" y="4487614"/>
            <a:ext cx="3643164" cy="16698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21000"/>
              </a:lnSpc>
              <a:buNone/>
            </a:pPr>
            <a:r>
              <a:rPr lang="en-US" sz="1200" dirty="0">
                <a:solidFill>
                  <a:srgbClr val="3D3E44"/>
                </a:solidFill>
                <a:latin typeface="Inter Light" pitchFamily="34" charset="0"/>
                <a:ea typeface="Inter Light" pitchFamily="34" charset="-122"/>
                <a:cs typeface="Inter Light" pitchFamily="34" charset="-120"/>
              </a:rPr>
              <a:t>Шрифт с математически и гръцки символи</a:t>
            </a:r>
            <a:endParaRPr lang="en-US" sz="1200" dirty="0"/>
          </a:p>
        </p:txBody>
      </p:sp>
      <p:pic>
        <p:nvPicPr>
          <p:cNvPr id="8" name="Image 2" descr="preencoded.png"/>
          <p:cNvPicPr>
            <a:picLocks noChangeAspect="1"/>
          </p:cNvPicPr>
          <p:nvPr/>
        </p:nvPicPr>
        <p:blipFill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4340796" y="4175298"/>
            <a:ext cx="172715" cy="172715"/>
          </a:xfrm>
          <a:prstGeom prst="rect">
            <a:avLst/>
          </a:prstGeom>
        </p:spPr>
      </p:pic>
      <p:sp>
        <p:nvSpPr>
          <p:cNvPr id="9" name="Text 4"/>
          <p:cNvSpPr/>
          <p:nvPr/>
        </p:nvSpPr>
        <p:spPr>
          <a:xfrm>
            <a:off x="4630489" y="4115870"/>
            <a:ext cx="3643164" cy="17993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dirty="0">
                <a:solidFill>
                  <a:srgbClr val="3D3E44"/>
                </a:solidFill>
                <a:latin typeface="Montserrat Medium" pitchFamily="34" charset="0"/>
                <a:ea typeface="Montserrat Medium" pitchFamily="34" charset="-122"/>
                <a:cs typeface="Montserrat Medium" pitchFamily="34" charset="-120"/>
              </a:rPr>
              <a:t>Webdings / Wingdings</a:t>
            </a:r>
            <a:endParaRPr lang="en-US" dirty="0"/>
          </a:p>
        </p:txBody>
      </p:sp>
      <p:sp>
        <p:nvSpPr>
          <p:cNvPr id="10" name="Text 5"/>
          <p:cNvSpPr/>
          <p:nvPr/>
        </p:nvSpPr>
        <p:spPr>
          <a:xfrm>
            <a:off x="4572000" y="4487614"/>
            <a:ext cx="4193646" cy="73937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Autofit/>
          </a:bodyPr>
          <a:lstStyle/>
          <a:p>
            <a:pPr marL="0" indent="0" algn="l">
              <a:lnSpc>
                <a:spcPct val="121000"/>
              </a:lnSpc>
              <a:buNone/>
            </a:pPr>
            <a:r>
              <a:rPr lang="en-US" sz="1200" dirty="0">
                <a:solidFill>
                  <a:srgbClr val="3D3E44"/>
                </a:solidFill>
                <a:latin typeface="Inter Light" pitchFamily="34" charset="0"/>
                <a:ea typeface="Inter Light" pitchFamily="34" charset="-122"/>
                <a:cs typeface="Inter Light" pitchFamily="34" charset="-120"/>
              </a:rPr>
              <a:t>Шрифтове с графични изображения, оформени като символи (Wingdings, Wingdings 2, Wingdings 3)</a:t>
            </a:r>
            <a:endParaRPr lang="en-US" sz="12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0"/>
          <p:cNvSpPr/>
          <p:nvPr/>
        </p:nvSpPr>
        <p:spPr>
          <a:xfrm>
            <a:off x="496119" y="263398"/>
            <a:ext cx="8151763" cy="3461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2750" b="1" dirty="0">
                <a:solidFill>
                  <a:srgbClr val="00206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Montserrat Medium" pitchFamily="34" charset="0"/>
              </a:rPr>
              <a:t>Достъп до символи в MS Word</a:t>
            </a:r>
          </a:p>
        </p:txBody>
      </p:sp>
      <p:sp>
        <p:nvSpPr>
          <p:cNvPr id="4" name="Text 1"/>
          <p:cNvSpPr/>
          <p:nvPr/>
        </p:nvSpPr>
        <p:spPr>
          <a:xfrm>
            <a:off x="4502727" y="1046160"/>
            <a:ext cx="4200573" cy="2484099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 lnSpcReduction="10000"/>
          </a:bodyPr>
          <a:lstStyle/>
          <a:p>
            <a:pPr marL="0" indent="0" algn="l">
              <a:lnSpc>
                <a:spcPct val="119000"/>
              </a:lnSpc>
              <a:buNone/>
            </a:pPr>
            <a:r>
              <a:rPr lang="en-US" sz="1600" dirty="0">
                <a:solidFill>
                  <a:srgbClr val="3D3E44"/>
                </a:solidFill>
                <a:latin typeface="Inter Light" pitchFamily="34" charset="0"/>
                <a:ea typeface="Inter Light" pitchFamily="34" charset="-122"/>
                <a:cs typeface="Inter Light" pitchFamily="34" charset="-120"/>
              </a:rPr>
              <a:t>Специалните знаци и символи се въвеждат чрез панела </a:t>
            </a:r>
            <a:r>
              <a:rPr lang="en-US" sz="1600" b="1" dirty="0">
                <a:solidFill>
                  <a:srgbClr val="3D3E44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Symbols (Символи)</a:t>
            </a:r>
            <a:r>
              <a:rPr lang="en-US" sz="1600" dirty="0">
                <a:solidFill>
                  <a:srgbClr val="3D3E44"/>
                </a:solidFill>
                <a:latin typeface="Inter Light" pitchFamily="34" charset="0"/>
                <a:ea typeface="Inter Light" pitchFamily="34" charset="-122"/>
                <a:cs typeface="Inter Light" pitchFamily="34" charset="-120"/>
              </a:rPr>
              <a:t> в менюто </a:t>
            </a:r>
            <a:r>
              <a:rPr lang="en-US" sz="1600" b="1" dirty="0">
                <a:solidFill>
                  <a:srgbClr val="3D3E44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Insert (Вмъкване)</a:t>
            </a:r>
            <a:r>
              <a:rPr lang="en-US" sz="1600" dirty="0">
                <a:solidFill>
                  <a:srgbClr val="3D3E44"/>
                </a:solidFill>
                <a:latin typeface="Inter Light" pitchFamily="34" charset="0"/>
                <a:ea typeface="Inter Light" pitchFamily="34" charset="-122"/>
                <a:cs typeface="Inter Light" pitchFamily="34" charset="-120"/>
              </a:rPr>
              <a:t>. Позиционираните текстове показват мястото, където трябва да въведете символа. </a:t>
            </a:r>
            <a:endParaRPr lang="bg-BG" sz="1600" dirty="0">
              <a:solidFill>
                <a:srgbClr val="3D3E44"/>
              </a:solidFill>
              <a:latin typeface="Inter Light" pitchFamily="34" charset="0"/>
              <a:ea typeface="Inter Light" pitchFamily="34" charset="-122"/>
              <a:cs typeface="Inter Light" pitchFamily="34" charset="-120"/>
            </a:endParaRPr>
          </a:p>
          <a:p>
            <a:pPr marL="0" indent="0" algn="l">
              <a:lnSpc>
                <a:spcPct val="119000"/>
              </a:lnSpc>
              <a:buNone/>
            </a:pPr>
            <a:r>
              <a:rPr lang="en-US" sz="1600" dirty="0" err="1">
                <a:solidFill>
                  <a:srgbClr val="3D3E44"/>
                </a:solidFill>
                <a:latin typeface="Inter Light" pitchFamily="34" charset="0"/>
                <a:ea typeface="Inter Light" pitchFamily="34" charset="-122"/>
                <a:cs typeface="Inter Light" pitchFamily="34" charset="-120"/>
              </a:rPr>
              <a:t>Ако</a:t>
            </a:r>
            <a:r>
              <a:rPr lang="en-US" sz="1600" dirty="0">
                <a:solidFill>
                  <a:srgbClr val="3D3E44"/>
                </a:solidFill>
                <a:latin typeface="Inter Light" pitchFamily="34" charset="0"/>
                <a:ea typeface="Inter Light" pitchFamily="34" charset="-122"/>
                <a:cs typeface="Inter Light" pitchFamily="34" charset="-120"/>
              </a:rPr>
              <a:t> търсеният символ не се намира там, изберете командата </a:t>
            </a:r>
            <a:r>
              <a:rPr lang="en-US" sz="1600" b="1" dirty="0">
                <a:solidFill>
                  <a:srgbClr val="3D3E44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More Symbols (Още символи)</a:t>
            </a:r>
            <a:r>
              <a:rPr lang="en-US" sz="1600" dirty="0">
                <a:solidFill>
                  <a:srgbClr val="3D3E44"/>
                </a:solidFill>
                <a:latin typeface="Inter Light" pitchFamily="34" charset="0"/>
                <a:ea typeface="Inter Light" pitchFamily="34" charset="-122"/>
                <a:cs typeface="Inter Light" pitchFamily="34" charset="-120"/>
              </a:rPr>
              <a:t>.</a:t>
            </a:r>
            <a:endParaRPr lang="en-US" sz="1600" dirty="0"/>
          </a:p>
        </p:txBody>
      </p:sp>
      <p:sp>
        <p:nvSpPr>
          <p:cNvPr id="5" name="Shape 2"/>
          <p:cNvSpPr/>
          <p:nvPr/>
        </p:nvSpPr>
        <p:spPr>
          <a:xfrm>
            <a:off x="496119" y="3955473"/>
            <a:ext cx="8151763" cy="774061"/>
          </a:xfrm>
          <a:prstGeom prst="roundRect">
            <a:avLst>
              <a:gd name="adj" fmla="val 26410"/>
            </a:avLst>
          </a:prstGeom>
          <a:solidFill>
            <a:srgbClr val="DFE1EC"/>
          </a:solidFill>
          <a:ln/>
        </p:spPr>
      </p:sp>
      <p:pic>
        <p:nvPicPr>
          <p:cNvPr id="6" name="Image 1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 flipV="1">
            <a:off x="606847" y="4139553"/>
            <a:ext cx="249138" cy="211895"/>
          </a:xfrm>
          <a:prstGeom prst="rect">
            <a:avLst/>
          </a:prstGeom>
        </p:spPr>
      </p:pic>
      <p:sp>
        <p:nvSpPr>
          <p:cNvPr id="7" name="Text 3"/>
          <p:cNvSpPr/>
          <p:nvPr/>
        </p:nvSpPr>
        <p:spPr>
          <a:xfrm>
            <a:off x="904476" y="4131986"/>
            <a:ext cx="7532942" cy="59754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19000"/>
              </a:lnSpc>
              <a:buNone/>
            </a:pPr>
            <a:r>
              <a:rPr lang="en-US" sz="1400" dirty="0">
                <a:solidFill>
                  <a:srgbClr val="000000"/>
                </a:solidFill>
                <a:latin typeface="Inter Light" pitchFamily="34" charset="0"/>
                <a:ea typeface="Inter Light" pitchFamily="34" charset="-122"/>
                <a:cs typeface="Inter Light" pitchFamily="34" charset="-120"/>
              </a:rPr>
              <a:t>Задание 2: Стартирайте MS Word и въведете текста с математически </a:t>
            </a:r>
            <a:r>
              <a:rPr lang="en-US" sz="1400" dirty="0" err="1">
                <a:solidFill>
                  <a:srgbClr val="000000"/>
                </a:solidFill>
                <a:latin typeface="Inter Light" pitchFamily="34" charset="0"/>
                <a:ea typeface="Inter Light" pitchFamily="34" charset="-122"/>
                <a:cs typeface="Inter Light" pitchFamily="34" charset="-120"/>
              </a:rPr>
              <a:t>символи</a:t>
            </a:r>
            <a:r>
              <a:rPr lang="en-US" sz="1400" dirty="0">
                <a:solidFill>
                  <a:srgbClr val="000000"/>
                </a:solidFill>
                <a:latin typeface="Inter Light" pitchFamily="34" charset="0"/>
                <a:ea typeface="Inter Light" pitchFamily="34" charset="-122"/>
                <a:cs typeface="Inter Light" pitchFamily="34" charset="-120"/>
              </a:rPr>
              <a:t> </a:t>
            </a:r>
            <a:endParaRPr lang="bg-BG" sz="1400" dirty="0">
              <a:solidFill>
                <a:srgbClr val="000000"/>
              </a:solidFill>
              <a:latin typeface="Inter Light" pitchFamily="34" charset="0"/>
              <a:ea typeface="Inter Light" pitchFamily="34" charset="-122"/>
              <a:cs typeface="Inter Light" pitchFamily="34" charset="-120"/>
            </a:endParaRPr>
          </a:p>
          <a:p>
            <a:pPr marL="0" indent="0" algn="l">
              <a:lnSpc>
                <a:spcPct val="119000"/>
              </a:lnSpc>
              <a:buNone/>
            </a:pPr>
            <a:r>
              <a:rPr lang="en-US" sz="1400" dirty="0">
                <a:solidFill>
                  <a:srgbClr val="000000"/>
                </a:solidFill>
                <a:latin typeface="Inter Light" pitchFamily="34" charset="0"/>
                <a:ea typeface="Inter Light" pitchFamily="34" charset="-122"/>
                <a:cs typeface="Inter Light" pitchFamily="34" charset="-120"/>
              </a:rPr>
              <a:t>и гръцки букви.</a:t>
            </a:r>
            <a:endParaRPr lang="en-US" sz="1400" dirty="0"/>
          </a:p>
        </p:txBody>
      </p:sp>
      <p:pic>
        <p:nvPicPr>
          <p:cNvPr id="9" name="Картина 8">
            <a:extLst>
              <a:ext uri="{FF2B5EF4-FFF2-40B4-BE49-F238E27FC236}">
                <a16:creationId xmlns:a16="http://schemas.microsoft.com/office/drawing/2014/main" id="{BB02E445-780B-FE8B-97D9-A2C70731062B}"/>
              </a:ext>
            </a:extLst>
          </p:cNvPr>
          <p:cNvPicPr>
            <a:picLocks noChangeAspect="1"/>
          </p:cNvPicPr>
          <p:nvPr/>
        </p:nvPicPr>
        <p:blipFill>
          <a:blip r:embed="rId4"/>
          <a:srcRect l="25758" t="36633" r="48106" b="28889"/>
          <a:stretch>
            <a:fillRect/>
          </a:stretch>
        </p:blipFill>
        <p:spPr>
          <a:xfrm>
            <a:off x="496118" y="730156"/>
            <a:ext cx="3795819" cy="3023744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96119" y="396106"/>
            <a:ext cx="8151763" cy="39454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2750" b="1" dirty="0">
                <a:solidFill>
                  <a:srgbClr val="00206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Montserrat Medium" pitchFamily="34" charset="0"/>
              </a:rPr>
              <a:t>Диалогов </a:t>
            </a:r>
            <a:r>
              <a:rPr lang="en-US" sz="2750" b="1" dirty="0" err="1">
                <a:solidFill>
                  <a:srgbClr val="00206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Montserrat Medium" pitchFamily="34" charset="0"/>
              </a:rPr>
              <a:t>прозорец</a:t>
            </a:r>
            <a:r>
              <a:rPr lang="en-US" sz="2750" b="1" dirty="0">
                <a:solidFill>
                  <a:srgbClr val="00206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Montserrat Medium" pitchFamily="34" charset="0"/>
              </a:rPr>
              <a:t> Symbol</a:t>
            </a:r>
          </a:p>
        </p:txBody>
      </p:sp>
      <p:pic>
        <p:nvPicPr>
          <p:cNvPr id="3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178100" y="1015529"/>
            <a:ext cx="4787801" cy="2841575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5510481" y="2968720"/>
            <a:ext cx="1190138" cy="68779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ctr">
              <a:lnSpc>
                <a:spcPct val="104000"/>
              </a:lnSpc>
              <a:buNone/>
            </a:pPr>
            <a:r>
              <a:rPr lang="en-US" sz="1400" dirty="0">
                <a:solidFill>
                  <a:srgbClr val="3D3E44"/>
                </a:solidFill>
                <a:latin typeface="Montserrat Medium" pitchFamily="34" charset="0"/>
                <a:ea typeface="Montserrat Medium" pitchFamily="34" charset="-122"/>
                <a:cs typeface="Montserrat Medium" pitchFamily="34" charset="-120"/>
              </a:rPr>
              <a:t>Вмъкнете и затворете</a:t>
            </a:r>
            <a:endParaRPr lang="en-US" sz="1400" dirty="0"/>
          </a:p>
        </p:txBody>
      </p:sp>
      <p:sp>
        <p:nvSpPr>
          <p:cNvPr id="5" name="Text 2"/>
          <p:cNvSpPr/>
          <p:nvPr/>
        </p:nvSpPr>
        <p:spPr>
          <a:xfrm>
            <a:off x="4010581" y="3083352"/>
            <a:ext cx="1190138" cy="458529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ctr">
              <a:lnSpc>
                <a:spcPct val="104000"/>
              </a:lnSpc>
              <a:buNone/>
            </a:pPr>
            <a:r>
              <a:rPr lang="en-US" sz="1400" dirty="0">
                <a:solidFill>
                  <a:srgbClr val="3D3E44"/>
                </a:solidFill>
                <a:latin typeface="Montserrat Medium" pitchFamily="34" charset="0"/>
                <a:ea typeface="Montserrat Medium" pitchFamily="34" charset="-122"/>
                <a:cs typeface="Montserrat Medium" pitchFamily="34" charset="-120"/>
              </a:rPr>
              <a:t>Изберете шрифт</a:t>
            </a:r>
            <a:endParaRPr lang="en-US" sz="1400" dirty="0"/>
          </a:p>
        </p:txBody>
      </p:sp>
      <p:sp>
        <p:nvSpPr>
          <p:cNvPr id="6" name="Text 3"/>
          <p:cNvSpPr/>
          <p:nvPr/>
        </p:nvSpPr>
        <p:spPr>
          <a:xfrm>
            <a:off x="2486226" y="3083352"/>
            <a:ext cx="1190138" cy="458529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ctr">
              <a:lnSpc>
                <a:spcPct val="104000"/>
              </a:lnSpc>
              <a:buNone/>
            </a:pPr>
            <a:r>
              <a:rPr lang="en-US" sz="1400" dirty="0">
                <a:solidFill>
                  <a:srgbClr val="3D3E44"/>
                </a:solidFill>
                <a:latin typeface="Montserrat Medium" pitchFamily="34" charset="0"/>
                <a:ea typeface="Montserrat Medium" pitchFamily="34" charset="-122"/>
                <a:cs typeface="Montserrat Medium" pitchFamily="34" charset="-120"/>
              </a:rPr>
              <a:t>Отворете Symbol</a:t>
            </a:r>
            <a:endParaRPr lang="en-US" sz="1400" dirty="0"/>
          </a:p>
        </p:txBody>
      </p:sp>
      <p:sp>
        <p:nvSpPr>
          <p:cNvPr id="7" name="Text 4"/>
          <p:cNvSpPr/>
          <p:nvPr/>
        </p:nvSpPr>
        <p:spPr>
          <a:xfrm>
            <a:off x="221674" y="3676210"/>
            <a:ext cx="8301518" cy="123955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ctr">
              <a:lnSpc>
                <a:spcPct val="126000"/>
              </a:lnSpc>
              <a:buNone/>
            </a:pPr>
            <a:r>
              <a:rPr lang="en-US" sz="1200" dirty="0">
                <a:solidFill>
                  <a:srgbClr val="3D3E44"/>
                </a:solidFill>
                <a:latin typeface="Inter Light" pitchFamily="34" charset="0"/>
                <a:ea typeface="Inter Light" pitchFamily="34" charset="-122"/>
                <a:cs typeface="Inter Light" pitchFamily="34" charset="-120"/>
              </a:rPr>
              <a:t>Диалоговият прозорец </a:t>
            </a:r>
            <a:r>
              <a:rPr lang="en-US" sz="1200" b="1" dirty="0">
                <a:solidFill>
                  <a:srgbClr val="3D3E44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Symbol (Символ)</a:t>
            </a:r>
            <a:r>
              <a:rPr lang="en-US" sz="1200" dirty="0">
                <a:solidFill>
                  <a:srgbClr val="3D3E44"/>
                </a:solidFill>
                <a:latin typeface="Inter Light" pitchFamily="34" charset="0"/>
                <a:ea typeface="Inter Light" pitchFamily="34" charset="-122"/>
                <a:cs typeface="Inter Light" pitchFamily="34" charset="-120"/>
              </a:rPr>
              <a:t> се състои от </a:t>
            </a:r>
            <a:r>
              <a:rPr lang="en-US" sz="1200" dirty="0" err="1">
                <a:solidFill>
                  <a:srgbClr val="3D3E44"/>
                </a:solidFill>
                <a:latin typeface="Inter Light" pitchFamily="34" charset="0"/>
                <a:ea typeface="Inter Light" pitchFamily="34" charset="-122"/>
                <a:cs typeface="Inter Light" pitchFamily="34" charset="-120"/>
              </a:rPr>
              <a:t>два</a:t>
            </a:r>
            <a:r>
              <a:rPr lang="en-US" sz="1200" dirty="0">
                <a:solidFill>
                  <a:srgbClr val="3D3E44"/>
                </a:solidFill>
                <a:latin typeface="Inter Light" pitchFamily="34" charset="0"/>
                <a:ea typeface="Inter Light" pitchFamily="34" charset="-122"/>
                <a:cs typeface="Inter Light" pitchFamily="34" charset="-120"/>
              </a:rPr>
              <a:t> </a:t>
            </a:r>
            <a:r>
              <a:rPr lang="en-US" sz="1200" dirty="0" err="1">
                <a:solidFill>
                  <a:srgbClr val="3D3E44"/>
                </a:solidFill>
                <a:latin typeface="Inter Light" pitchFamily="34" charset="0"/>
                <a:ea typeface="Inter Light" pitchFamily="34" charset="-122"/>
                <a:cs typeface="Inter Light" pitchFamily="34" charset="-120"/>
              </a:rPr>
              <a:t>раздела</a:t>
            </a:r>
            <a:r>
              <a:rPr lang="bg-BG" sz="1200" dirty="0">
                <a:solidFill>
                  <a:srgbClr val="3D3E44"/>
                </a:solidFill>
                <a:latin typeface="Inter Light" pitchFamily="34" charset="0"/>
                <a:ea typeface="Inter Light" pitchFamily="34" charset="-122"/>
                <a:cs typeface="Inter Light" pitchFamily="34" charset="-120"/>
              </a:rPr>
              <a:t>:</a:t>
            </a:r>
          </a:p>
          <a:p>
            <a:pPr marL="0" indent="0" algn="ctr">
              <a:lnSpc>
                <a:spcPct val="126000"/>
              </a:lnSpc>
              <a:buNone/>
            </a:pPr>
            <a:r>
              <a:rPr lang="en-US" sz="1200" b="1" dirty="0">
                <a:solidFill>
                  <a:srgbClr val="3D3E44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Symbols (Символи)</a:t>
            </a:r>
            <a:r>
              <a:rPr lang="en-US" sz="1200" dirty="0">
                <a:solidFill>
                  <a:srgbClr val="3D3E44"/>
                </a:solidFill>
                <a:latin typeface="Inter Light" pitchFamily="34" charset="0"/>
                <a:ea typeface="Inter Light" pitchFamily="34" charset="-122"/>
                <a:cs typeface="Inter Light" pitchFamily="34" charset="-120"/>
              </a:rPr>
              <a:t> и </a:t>
            </a:r>
            <a:r>
              <a:rPr lang="en-US" sz="1200" b="1" dirty="0">
                <a:solidFill>
                  <a:srgbClr val="3D3E44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Special Characters (Специални знаци)</a:t>
            </a:r>
            <a:r>
              <a:rPr lang="en-US" sz="1200" dirty="0">
                <a:solidFill>
                  <a:srgbClr val="3D3E44"/>
                </a:solidFill>
                <a:latin typeface="Inter Light" pitchFamily="34" charset="0"/>
                <a:ea typeface="Inter Light" pitchFamily="34" charset="-122"/>
                <a:cs typeface="Inter Light" pitchFamily="34" charset="-120"/>
              </a:rPr>
              <a:t>. </a:t>
            </a:r>
            <a:endParaRPr lang="bg-BG" sz="1200" dirty="0">
              <a:solidFill>
                <a:srgbClr val="3D3E44"/>
              </a:solidFill>
              <a:latin typeface="Inter Light" pitchFamily="34" charset="0"/>
              <a:ea typeface="Inter Light" pitchFamily="34" charset="-122"/>
              <a:cs typeface="Inter Light" pitchFamily="34" charset="-120"/>
            </a:endParaRPr>
          </a:p>
          <a:p>
            <a:pPr marL="0" indent="0" algn="ctr">
              <a:lnSpc>
                <a:spcPct val="126000"/>
              </a:lnSpc>
              <a:buNone/>
            </a:pPr>
            <a:r>
              <a:rPr lang="en-US" sz="1200" dirty="0">
                <a:solidFill>
                  <a:srgbClr val="3D3E44"/>
                </a:solidFill>
                <a:latin typeface="Inter Light" pitchFamily="34" charset="0"/>
                <a:ea typeface="Inter Light" pitchFamily="34" charset="-122"/>
                <a:cs typeface="Inter Light" pitchFamily="34" charset="-120"/>
              </a:rPr>
              <a:t>В раздела Symbols от списъка </a:t>
            </a:r>
            <a:r>
              <a:rPr lang="en-US" sz="1200" b="1" dirty="0">
                <a:solidFill>
                  <a:srgbClr val="3D3E44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Font (Шрифт)</a:t>
            </a:r>
            <a:r>
              <a:rPr lang="en-US" sz="1200" dirty="0">
                <a:solidFill>
                  <a:srgbClr val="3D3E44"/>
                </a:solidFill>
                <a:latin typeface="Inter Light" pitchFamily="34" charset="0"/>
                <a:ea typeface="Inter Light" pitchFamily="34" charset="-122"/>
                <a:cs typeface="Inter Light" pitchFamily="34" charset="-120"/>
              </a:rPr>
              <a:t> изберете шрифт, а от списъка </a:t>
            </a:r>
            <a:r>
              <a:rPr lang="en-US" sz="1200" b="1" dirty="0">
                <a:solidFill>
                  <a:srgbClr val="3D3E44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Subset (Подмножество)</a:t>
            </a:r>
            <a:r>
              <a:rPr lang="en-US" sz="1200" dirty="0">
                <a:solidFill>
                  <a:srgbClr val="3D3E44"/>
                </a:solidFill>
                <a:latin typeface="Inter Light" pitchFamily="34" charset="0"/>
                <a:ea typeface="Inter Light" pitchFamily="34" charset="-122"/>
                <a:cs typeface="Inter Light" pitchFamily="34" charset="-120"/>
              </a:rPr>
              <a:t> — допълнителен набор от символи за съответния шрифт. Избраният символ се въвежда чрез двукратно кликване или бутона </a:t>
            </a:r>
            <a:r>
              <a:rPr lang="en-US" sz="1200" b="1" dirty="0">
                <a:solidFill>
                  <a:srgbClr val="3D3E44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Insert (Вмъкване)</a:t>
            </a:r>
            <a:r>
              <a:rPr lang="en-US" sz="1200" dirty="0">
                <a:solidFill>
                  <a:srgbClr val="3D3E44"/>
                </a:solidFill>
                <a:latin typeface="Inter Light" pitchFamily="34" charset="0"/>
                <a:ea typeface="Inter Light" pitchFamily="34" charset="-122"/>
                <a:cs typeface="Inter Light" pitchFamily="34" charset="-120"/>
              </a:rPr>
              <a:t>, след което натиснете </a:t>
            </a:r>
            <a:r>
              <a:rPr lang="en-US" sz="1200" b="1" dirty="0">
                <a:solidFill>
                  <a:srgbClr val="3D3E44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Close (Затвори)</a:t>
            </a:r>
            <a:r>
              <a:rPr lang="en-US" sz="1200" dirty="0">
                <a:solidFill>
                  <a:srgbClr val="3D3E44"/>
                </a:solidFill>
                <a:latin typeface="Inter Light" pitchFamily="34" charset="0"/>
                <a:ea typeface="Inter Light" pitchFamily="34" charset="-122"/>
                <a:cs typeface="Inter Light" pitchFamily="34" charset="-120"/>
              </a:rPr>
              <a:t>.</a:t>
            </a:r>
            <a:endParaRPr lang="en-US" sz="12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96119" y="393576"/>
            <a:ext cx="8151763" cy="22845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>
              <a:lnSpc>
                <a:spcPct val="104000"/>
              </a:lnSpc>
            </a:pPr>
            <a:r>
              <a:rPr lang="en-US" b="1" dirty="0" err="1">
                <a:solidFill>
                  <a:srgbClr val="00206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Montserrat Medium" pitchFamily="34" charset="0"/>
              </a:rPr>
              <a:t>Раздел</a:t>
            </a:r>
            <a:r>
              <a:rPr lang="bg-BG" b="1" dirty="0">
                <a:solidFill>
                  <a:srgbClr val="00206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Montserrat Medium" pitchFamily="34" charset="0"/>
              </a:rPr>
              <a:t>и</a:t>
            </a:r>
            <a:r>
              <a:rPr lang="en-US" b="1" dirty="0">
                <a:solidFill>
                  <a:srgbClr val="00206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Montserrat Medium" pitchFamily="34" charset="0"/>
              </a:rPr>
              <a:t> Symbols (</a:t>
            </a:r>
            <a:r>
              <a:rPr lang="en-US" b="1" dirty="0" err="1">
                <a:solidFill>
                  <a:srgbClr val="00206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Montserrat Medium" pitchFamily="34" charset="0"/>
              </a:rPr>
              <a:t>Символи</a:t>
            </a:r>
            <a:r>
              <a:rPr lang="en-US" b="1" dirty="0">
                <a:solidFill>
                  <a:srgbClr val="00206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Montserrat Medium" pitchFamily="34" charset="0"/>
              </a:rPr>
              <a:t>)</a:t>
            </a:r>
            <a:r>
              <a:rPr lang="bg-BG" b="1" dirty="0">
                <a:solidFill>
                  <a:srgbClr val="00206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Montserrat Medium" pitchFamily="34" charset="0"/>
              </a:rPr>
              <a:t> и </a:t>
            </a:r>
            <a:r>
              <a:rPr lang="en-US" b="1" dirty="0">
                <a:solidFill>
                  <a:srgbClr val="00206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Montserrat Medium" pitchFamily="34" charset="0"/>
              </a:rPr>
              <a:t>Special Characters</a:t>
            </a:r>
            <a:r>
              <a:rPr lang="bg-BG" b="1" dirty="0">
                <a:solidFill>
                  <a:srgbClr val="00206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Montserrat Medium" pitchFamily="34" charset="0"/>
              </a:rPr>
              <a:t> (Специални знаци)</a:t>
            </a:r>
            <a:endParaRPr lang="en-US" b="1" dirty="0">
              <a:solidFill>
                <a:srgbClr val="002060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Montserrat Medium" pitchFamily="34" charset="0"/>
            </a:endParaRPr>
          </a:p>
        </p:txBody>
      </p:sp>
      <p:pic>
        <p:nvPicPr>
          <p:cNvPr id="3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96119" y="720849"/>
            <a:ext cx="3986733" cy="3986733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4717473" y="1227196"/>
            <a:ext cx="3986733" cy="22845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4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Montserrat Medium" pitchFamily="34" charset="0"/>
                <a:ea typeface="Montserrat Medium" pitchFamily="34" charset="-122"/>
                <a:cs typeface="Montserrat Medium" pitchFamily="34" charset="-120"/>
              </a:rPr>
              <a:t>Раздел Symbols</a:t>
            </a:r>
            <a:endParaRPr lang="en-US" sz="1400" b="1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</p:txBody>
      </p:sp>
      <p:sp>
        <p:nvSpPr>
          <p:cNvPr id="5" name="Text 2"/>
          <p:cNvSpPr/>
          <p:nvPr/>
        </p:nvSpPr>
        <p:spPr>
          <a:xfrm>
            <a:off x="4717470" y="1523814"/>
            <a:ext cx="3986735" cy="60818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01000"/>
              </a:lnSpc>
              <a:buNone/>
            </a:pPr>
            <a:r>
              <a:rPr lang="en-US" sz="1200" dirty="0">
                <a:solidFill>
                  <a:srgbClr val="3D3E44"/>
                </a:solidFill>
                <a:latin typeface="Inter Light" pitchFamily="34" charset="0"/>
                <a:ea typeface="Inter Light" pitchFamily="34" charset="-122"/>
                <a:cs typeface="Inter Light" pitchFamily="34" charset="-120"/>
              </a:rPr>
              <a:t>Съдържа всички символи за избрания шрифт. Изберете шрифт от падащия списък </a:t>
            </a:r>
            <a:r>
              <a:rPr lang="en-US" sz="1200" b="1" dirty="0">
                <a:solidFill>
                  <a:srgbClr val="3D3E44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Font</a:t>
            </a:r>
            <a:r>
              <a:rPr lang="en-US" sz="1200" dirty="0">
                <a:solidFill>
                  <a:srgbClr val="3D3E44"/>
                </a:solidFill>
                <a:latin typeface="Inter Light" pitchFamily="34" charset="0"/>
                <a:ea typeface="Inter Light" pitchFamily="34" charset="-122"/>
                <a:cs typeface="Inter Light" pitchFamily="34" charset="-120"/>
              </a:rPr>
              <a:t> и подмножество от </a:t>
            </a:r>
            <a:r>
              <a:rPr lang="en-US" sz="1200" b="1" dirty="0">
                <a:solidFill>
                  <a:srgbClr val="3D3E44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Subset</a:t>
            </a:r>
            <a:r>
              <a:rPr lang="en-US" sz="1200" dirty="0">
                <a:solidFill>
                  <a:srgbClr val="3D3E44"/>
                </a:solidFill>
                <a:latin typeface="Inter Light" pitchFamily="34" charset="0"/>
                <a:ea typeface="Inter Light" pitchFamily="34" charset="-122"/>
                <a:cs typeface="Inter Light" pitchFamily="34" charset="-120"/>
              </a:rPr>
              <a:t>.</a:t>
            </a:r>
            <a:endParaRPr lang="en-US" sz="1200" dirty="0"/>
          </a:p>
        </p:txBody>
      </p:sp>
      <p:sp>
        <p:nvSpPr>
          <p:cNvPr id="6" name="Text 3"/>
          <p:cNvSpPr/>
          <p:nvPr/>
        </p:nvSpPr>
        <p:spPr>
          <a:xfrm>
            <a:off x="4717473" y="2622955"/>
            <a:ext cx="3986733" cy="32015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>
              <a:lnSpc>
                <a:spcPct val="104000"/>
              </a:lnSpc>
            </a:pPr>
            <a:r>
              <a:rPr lang="en-US" sz="14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Montserrat Medium" pitchFamily="34" charset="0"/>
              </a:rPr>
              <a:t>Раздел Special Characters</a:t>
            </a:r>
          </a:p>
        </p:txBody>
      </p:sp>
      <p:sp>
        <p:nvSpPr>
          <p:cNvPr id="7" name="Text 4"/>
          <p:cNvSpPr/>
          <p:nvPr/>
        </p:nvSpPr>
        <p:spPr>
          <a:xfrm>
            <a:off x="4717472" y="2943109"/>
            <a:ext cx="3532910" cy="60818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1000"/>
              </a:lnSpc>
              <a:buNone/>
            </a:pPr>
            <a:r>
              <a:rPr lang="en-US" sz="1200" dirty="0">
                <a:solidFill>
                  <a:srgbClr val="3D3E44"/>
                </a:solidFill>
                <a:latin typeface="Inter Light" pitchFamily="34" charset="0"/>
                <a:ea typeface="Inter Light" pitchFamily="34" charset="-122"/>
                <a:cs typeface="Inter Light" pitchFamily="34" charset="-120"/>
              </a:rPr>
              <a:t>Съдържа специални </a:t>
            </a:r>
            <a:r>
              <a:rPr lang="en-US" sz="1200" dirty="0" err="1">
                <a:solidFill>
                  <a:srgbClr val="3D3E44"/>
                </a:solidFill>
                <a:latin typeface="Inter Light" pitchFamily="34" charset="0"/>
                <a:ea typeface="Inter Light" pitchFamily="34" charset="-122"/>
                <a:cs typeface="Inter Light" pitchFamily="34" charset="-120"/>
              </a:rPr>
              <a:t>типографски</a:t>
            </a:r>
            <a:r>
              <a:rPr lang="en-US" sz="1200" dirty="0">
                <a:solidFill>
                  <a:srgbClr val="3D3E44"/>
                </a:solidFill>
                <a:latin typeface="Inter Light" pitchFamily="34" charset="0"/>
                <a:ea typeface="Inter Light" pitchFamily="34" charset="-122"/>
                <a:cs typeface="Inter Light" pitchFamily="34" charset="-120"/>
              </a:rPr>
              <a:t> </a:t>
            </a:r>
            <a:r>
              <a:rPr lang="en-US" sz="1200" dirty="0" err="1">
                <a:solidFill>
                  <a:srgbClr val="3D3E44"/>
                </a:solidFill>
                <a:latin typeface="Inter Light" pitchFamily="34" charset="0"/>
                <a:ea typeface="Inter Light" pitchFamily="34" charset="-122"/>
                <a:cs typeface="Inter Light" pitchFamily="34" charset="-120"/>
              </a:rPr>
              <a:t>знаци</a:t>
            </a:r>
            <a:r>
              <a:rPr lang="bg-BG" sz="1200" dirty="0">
                <a:solidFill>
                  <a:srgbClr val="3D3E44"/>
                </a:solidFill>
                <a:latin typeface="Inter Light" pitchFamily="34" charset="0"/>
                <a:ea typeface="Inter Light" pitchFamily="34" charset="-122"/>
                <a:cs typeface="Inter Light" pitchFamily="34" charset="-120"/>
              </a:rPr>
              <a:t>:</a:t>
            </a:r>
          </a:p>
          <a:p>
            <a:pPr marL="0" indent="0" algn="l">
              <a:lnSpc>
                <a:spcPct val="101000"/>
              </a:lnSpc>
              <a:buNone/>
            </a:pPr>
            <a:r>
              <a:rPr lang="en-US" sz="1200" dirty="0" err="1">
                <a:solidFill>
                  <a:srgbClr val="3D3E44"/>
                </a:solidFill>
                <a:latin typeface="Inter Light" pitchFamily="34" charset="0"/>
                <a:ea typeface="Inter Light" pitchFamily="34" charset="-122"/>
                <a:cs typeface="Inter Light" pitchFamily="34" charset="-120"/>
              </a:rPr>
              <a:t>дълго</a:t>
            </a:r>
            <a:r>
              <a:rPr lang="en-US" sz="1200" dirty="0">
                <a:solidFill>
                  <a:srgbClr val="3D3E44"/>
                </a:solidFill>
                <a:latin typeface="Inter Light" pitchFamily="34" charset="0"/>
                <a:ea typeface="Inter Light" pitchFamily="34" charset="-122"/>
                <a:cs typeface="Inter Light" pitchFamily="34" charset="-120"/>
              </a:rPr>
              <a:t> тире, </a:t>
            </a:r>
            <a:r>
              <a:rPr lang="en-US" sz="1200" dirty="0" err="1">
                <a:solidFill>
                  <a:srgbClr val="3D3E44"/>
                </a:solidFill>
                <a:latin typeface="Inter Light" pitchFamily="34" charset="0"/>
                <a:ea typeface="Inter Light" pitchFamily="34" charset="-122"/>
                <a:cs typeface="Inter Light" pitchFamily="34" charset="-120"/>
              </a:rPr>
              <a:t>многоточие</a:t>
            </a:r>
            <a:r>
              <a:rPr lang="en-US" sz="1200" dirty="0">
                <a:solidFill>
                  <a:srgbClr val="3D3E44"/>
                </a:solidFill>
                <a:latin typeface="Inter Light" pitchFamily="34" charset="0"/>
                <a:ea typeface="Inter Light" pitchFamily="34" charset="-122"/>
                <a:cs typeface="Inter Light" pitchFamily="34" charset="-120"/>
              </a:rPr>
              <a:t>, </a:t>
            </a:r>
            <a:endParaRPr lang="bg-BG" sz="1200" dirty="0">
              <a:solidFill>
                <a:srgbClr val="3D3E44"/>
              </a:solidFill>
              <a:latin typeface="Inter Light" pitchFamily="34" charset="0"/>
              <a:ea typeface="Inter Light" pitchFamily="34" charset="-122"/>
              <a:cs typeface="Inter Light" pitchFamily="34" charset="-120"/>
            </a:endParaRPr>
          </a:p>
          <a:p>
            <a:pPr marL="0" indent="0" algn="l">
              <a:lnSpc>
                <a:spcPct val="101000"/>
              </a:lnSpc>
              <a:buNone/>
            </a:pPr>
            <a:r>
              <a:rPr lang="en-US" sz="1200" dirty="0" err="1">
                <a:solidFill>
                  <a:srgbClr val="3D3E44"/>
                </a:solidFill>
                <a:latin typeface="Inter Light" pitchFamily="34" charset="0"/>
                <a:ea typeface="Inter Light" pitchFamily="34" charset="-122"/>
                <a:cs typeface="Inter Light" pitchFamily="34" charset="-120"/>
              </a:rPr>
              <a:t>знак</a:t>
            </a:r>
            <a:r>
              <a:rPr lang="en-US" sz="1200" dirty="0">
                <a:solidFill>
                  <a:srgbClr val="3D3E44"/>
                </a:solidFill>
                <a:latin typeface="Inter Light" pitchFamily="34" charset="0"/>
                <a:ea typeface="Inter Light" pitchFamily="34" charset="-122"/>
                <a:cs typeface="Inter Light" pitchFamily="34" charset="-120"/>
              </a:rPr>
              <a:t> за авторско право и др.</a:t>
            </a:r>
            <a:endParaRPr lang="en-US" sz="1200" dirty="0"/>
          </a:p>
        </p:txBody>
      </p:sp>
      <p:sp>
        <p:nvSpPr>
          <p:cNvPr id="8" name="Shape 5"/>
          <p:cNvSpPr/>
          <p:nvPr/>
        </p:nvSpPr>
        <p:spPr>
          <a:xfrm>
            <a:off x="4665912" y="3688258"/>
            <a:ext cx="3986733" cy="537377"/>
          </a:xfrm>
          <a:prstGeom prst="roundRect">
            <a:avLst>
              <a:gd name="adj" fmla="val 33212"/>
            </a:avLst>
          </a:prstGeom>
          <a:solidFill>
            <a:srgbClr val="B6D6FC"/>
          </a:solidFill>
          <a:ln/>
        </p:spPr>
      </p:sp>
      <p:pic>
        <p:nvPicPr>
          <p:cNvPr id="9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741464" y="3716536"/>
            <a:ext cx="269132" cy="215395"/>
          </a:xfrm>
          <a:prstGeom prst="rect">
            <a:avLst/>
          </a:prstGeom>
        </p:spPr>
      </p:pic>
      <p:sp>
        <p:nvSpPr>
          <p:cNvPr id="10" name="Text 6"/>
          <p:cNvSpPr/>
          <p:nvPr/>
        </p:nvSpPr>
        <p:spPr>
          <a:xfrm>
            <a:off x="5031377" y="3771952"/>
            <a:ext cx="4133404" cy="50909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1000"/>
              </a:lnSpc>
              <a:buNone/>
            </a:pPr>
            <a:r>
              <a:rPr lang="en-US" sz="1200" dirty="0">
                <a:solidFill>
                  <a:srgbClr val="000000"/>
                </a:solidFill>
                <a:latin typeface="Inter Light" pitchFamily="34" charset="0"/>
                <a:ea typeface="Inter Light" pitchFamily="34" charset="-122"/>
                <a:cs typeface="Inter Light" pitchFamily="34" charset="-120"/>
              </a:rPr>
              <a:t>Последно използваните символи се </a:t>
            </a:r>
            <a:r>
              <a:rPr lang="en-US" sz="1200" dirty="0" err="1">
                <a:solidFill>
                  <a:srgbClr val="000000"/>
                </a:solidFill>
                <a:latin typeface="Inter Light" pitchFamily="34" charset="0"/>
                <a:ea typeface="Inter Light" pitchFamily="34" charset="-122"/>
                <a:cs typeface="Inter Light" pitchFamily="34" charset="-120"/>
              </a:rPr>
              <a:t>показват</a:t>
            </a:r>
            <a:r>
              <a:rPr lang="en-US" sz="1200" dirty="0">
                <a:solidFill>
                  <a:srgbClr val="000000"/>
                </a:solidFill>
                <a:latin typeface="Inter Light" pitchFamily="34" charset="0"/>
                <a:ea typeface="Inter Light" pitchFamily="34" charset="-122"/>
                <a:cs typeface="Inter Light" pitchFamily="34" charset="-120"/>
              </a:rPr>
              <a:t> </a:t>
            </a:r>
            <a:endParaRPr lang="bg-BG" sz="1200" dirty="0">
              <a:solidFill>
                <a:srgbClr val="000000"/>
              </a:solidFill>
              <a:latin typeface="Inter Light" pitchFamily="34" charset="0"/>
              <a:ea typeface="Inter Light" pitchFamily="34" charset="-122"/>
              <a:cs typeface="Inter Light" pitchFamily="34" charset="-120"/>
            </a:endParaRPr>
          </a:p>
          <a:p>
            <a:pPr marL="0" indent="0" algn="l">
              <a:lnSpc>
                <a:spcPct val="101000"/>
              </a:lnSpc>
              <a:buNone/>
            </a:pPr>
            <a:r>
              <a:rPr lang="en-US" sz="1200" dirty="0">
                <a:solidFill>
                  <a:srgbClr val="000000"/>
                </a:solidFill>
                <a:latin typeface="Inter Light" pitchFamily="34" charset="0"/>
                <a:ea typeface="Inter Light" pitchFamily="34" charset="-122"/>
                <a:cs typeface="Inter Light" pitchFamily="34" charset="-120"/>
              </a:rPr>
              <a:t>в полето </a:t>
            </a:r>
            <a:r>
              <a:rPr lang="en-US" sz="1200" b="1" dirty="0">
                <a:solidFill>
                  <a:srgbClr val="000000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Recently used symbols</a:t>
            </a:r>
            <a:r>
              <a:rPr lang="en-US" sz="1200" dirty="0">
                <a:solidFill>
                  <a:srgbClr val="000000"/>
                </a:solidFill>
                <a:latin typeface="Inter Light" pitchFamily="34" charset="0"/>
                <a:ea typeface="Inter Light" pitchFamily="34" charset="-122"/>
                <a:cs typeface="Inter Light" pitchFamily="34" charset="-120"/>
              </a:rPr>
              <a:t>.</a:t>
            </a:r>
            <a:endParaRPr lang="en-US" sz="12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96119" y="940371"/>
            <a:ext cx="8151763" cy="44298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2750" b="1" dirty="0">
                <a:solidFill>
                  <a:srgbClr val="00206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Montserrat Medium" pitchFamily="34" charset="0"/>
              </a:rPr>
              <a:t>Стъпки за въвеждане на </a:t>
            </a:r>
            <a:r>
              <a:rPr lang="en-US" sz="2750" b="1" dirty="0" err="1">
                <a:solidFill>
                  <a:srgbClr val="00206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Montserrat Medium" pitchFamily="34" charset="0"/>
              </a:rPr>
              <a:t>символ</a:t>
            </a:r>
            <a:endParaRPr lang="en-US" sz="2750" b="1" dirty="0">
              <a:solidFill>
                <a:srgbClr val="002060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Montserrat Medium" pitchFamily="34" charset="0"/>
            </a:endParaRPr>
          </a:p>
        </p:txBody>
      </p:sp>
      <p:sp>
        <p:nvSpPr>
          <p:cNvPr id="3" name="Text 1"/>
          <p:cNvSpPr/>
          <p:nvPr/>
        </p:nvSpPr>
        <p:spPr>
          <a:xfrm>
            <a:off x="496119" y="1666875"/>
            <a:ext cx="283518" cy="1771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1400" dirty="0">
                <a:latin typeface="Montserrat Light" pitchFamily="34" charset="0"/>
                <a:ea typeface="Montserrat Light" pitchFamily="34" charset="-122"/>
                <a:cs typeface="Montserrat Light" pitchFamily="34" charset="-120"/>
              </a:rPr>
              <a:t>01</a:t>
            </a:r>
            <a:endParaRPr lang="en-US" sz="1400" dirty="0"/>
          </a:p>
        </p:txBody>
      </p:sp>
      <p:sp>
        <p:nvSpPr>
          <p:cNvPr id="4" name="Shape 2"/>
          <p:cNvSpPr/>
          <p:nvPr/>
        </p:nvSpPr>
        <p:spPr>
          <a:xfrm>
            <a:off x="496119" y="1888778"/>
            <a:ext cx="4004965" cy="19050"/>
          </a:xfrm>
          <a:prstGeom prst="rect">
            <a:avLst/>
          </a:prstGeom>
          <a:solidFill>
            <a:srgbClr val="888888"/>
          </a:solidFill>
          <a:ln/>
        </p:spPr>
      </p:sp>
      <p:sp>
        <p:nvSpPr>
          <p:cNvPr id="5" name="Text 3"/>
          <p:cNvSpPr/>
          <p:nvPr/>
        </p:nvSpPr>
        <p:spPr>
          <a:xfrm>
            <a:off x="496119" y="1997720"/>
            <a:ext cx="4004965" cy="22145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600" dirty="0">
                <a:latin typeface="Montserrat Medium" pitchFamily="34" charset="0"/>
                <a:ea typeface="Montserrat Medium" pitchFamily="34" charset="-122"/>
                <a:cs typeface="Montserrat Medium" pitchFamily="34" charset="-120"/>
              </a:rPr>
              <a:t>Позиционирайте курсора</a:t>
            </a:r>
            <a:endParaRPr lang="en-US" sz="1600" dirty="0"/>
          </a:p>
        </p:txBody>
      </p:sp>
      <p:sp>
        <p:nvSpPr>
          <p:cNvPr id="6" name="Text 4"/>
          <p:cNvSpPr/>
          <p:nvPr/>
        </p:nvSpPr>
        <p:spPr>
          <a:xfrm>
            <a:off x="496119" y="2304231"/>
            <a:ext cx="4004965" cy="45362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Autofit/>
          </a:bodyPr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400" dirty="0">
                <a:latin typeface="Inter Light" pitchFamily="34" charset="0"/>
                <a:ea typeface="Inter Light" pitchFamily="34" charset="-122"/>
                <a:cs typeface="Inter Light" pitchFamily="34" charset="-120"/>
              </a:rPr>
              <a:t>Кликнете на мястото, където искате да въведете символа.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4642842" y="1666875"/>
            <a:ext cx="283518" cy="1771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1400" dirty="0">
                <a:latin typeface="Montserrat Light" pitchFamily="34" charset="0"/>
                <a:ea typeface="Montserrat Light" pitchFamily="34" charset="-122"/>
                <a:cs typeface="Montserrat Light" pitchFamily="34" charset="-120"/>
              </a:rPr>
              <a:t>02</a:t>
            </a:r>
            <a:endParaRPr lang="en-US" sz="1400" dirty="0"/>
          </a:p>
        </p:txBody>
      </p:sp>
      <p:sp>
        <p:nvSpPr>
          <p:cNvPr id="8" name="Shape 6"/>
          <p:cNvSpPr/>
          <p:nvPr/>
        </p:nvSpPr>
        <p:spPr>
          <a:xfrm>
            <a:off x="4642842" y="1902916"/>
            <a:ext cx="4005039" cy="19050"/>
          </a:xfrm>
          <a:prstGeom prst="rect">
            <a:avLst/>
          </a:prstGeom>
          <a:solidFill>
            <a:srgbClr val="888888"/>
          </a:solidFill>
          <a:ln/>
        </p:spPr>
      </p:sp>
      <p:sp>
        <p:nvSpPr>
          <p:cNvPr id="9" name="Text 7"/>
          <p:cNvSpPr/>
          <p:nvPr/>
        </p:nvSpPr>
        <p:spPr>
          <a:xfrm>
            <a:off x="4642842" y="1997720"/>
            <a:ext cx="4005039" cy="22145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600" dirty="0">
                <a:latin typeface="Montserrat Medium" pitchFamily="34" charset="0"/>
                <a:ea typeface="Montserrat Medium" pitchFamily="34" charset="-122"/>
                <a:cs typeface="Montserrat Medium" pitchFamily="34" charset="-120"/>
              </a:rPr>
              <a:t>Отворете диалога</a:t>
            </a:r>
            <a:endParaRPr lang="en-US" sz="1600" dirty="0"/>
          </a:p>
        </p:txBody>
      </p:sp>
      <p:sp>
        <p:nvSpPr>
          <p:cNvPr id="10" name="Text 8"/>
          <p:cNvSpPr/>
          <p:nvPr/>
        </p:nvSpPr>
        <p:spPr>
          <a:xfrm>
            <a:off x="4642842" y="2304231"/>
            <a:ext cx="4005039" cy="22681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400" b="1" dirty="0">
                <a:latin typeface="Inter Bold" pitchFamily="34" charset="0"/>
                <a:ea typeface="Inter Bold" pitchFamily="34" charset="-122"/>
                <a:cs typeface="Inter Bold" pitchFamily="34" charset="-120"/>
              </a:rPr>
              <a:t>Insert → Symbol → More Symbols</a:t>
            </a:r>
            <a:endParaRPr lang="en-US" sz="1400" dirty="0"/>
          </a:p>
        </p:txBody>
      </p:sp>
      <p:sp>
        <p:nvSpPr>
          <p:cNvPr id="11" name="Text 9"/>
          <p:cNvSpPr/>
          <p:nvPr/>
        </p:nvSpPr>
        <p:spPr>
          <a:xfrm>
            <a:off x="496119" y="3005882"/>
            <a:ext cx="283518" cy="1771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1400" dirty="0">
                <a:latin typeface="Montserrat Light" pitchFamily="34" charset="0"/>
                <a:ea typeface="Montserrat Light" pitchFamily="34" charset="-122"/>
                <a:cs typeface="Montserrat Light" pitchFamily="34" charset="-120"/>
              </a:rPr>
              <a:t>03</a:t>
            </a:r>
            <a:endParaRPr lang="en-US" sz="1400" dirty="0"/>
          </a:p>
        </p:txBody>
      </p:sp>
      <p:sp>
        <p:nvSpPr>
          <p:cNvPr id="12" name="Shape 10"/>
          <p:cNvSpPr/>
          <p:nvPr/>
        </p:nvSpPr>
        <p:spPr>
          <a:xfrm>
            <a:off x="496119" y="3213571"/>
            <a:ext cx="4004965" cy="19050"/>
          </a:xfrm>
          <a:prstGeom prst="rect">
            <a:avLst/>
          </a:prstGeom>
          <a:solidFill>
            <a:srgbClr val="888888"/>
          </a:solidFill>
          <a:ln/>
        </p:spPr>
      </p:sp>
      <p:sp>
        <p:nvSpPr>
          <p:cNvPr id="13" name="Text 11"/>
          <p:cNvSpPr/>
          <p:nvPr/>
        </p:nvSpPr>
        <p:spPr>
          <a:xfrm>
            <a:off x="496119" y="3336727"/>
            <a:ext cx="4004965" cy="22145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600" dirty="0">
                <a:latin typeface="Montserrat Medium" pitchFamily="34" charset="0"/>
                <a:ea typeface="Montserrat Medium" pitchFamily="34" charset="-122"/>
                <a:cs typeface="Montserrat Medium" pitchFamily="34" charset="-120"/>
              </a:rPr>
              <a:t>Изберете шрифт</a:t>
            </a:r>
            <a:endParaRPr lang="en-US" sz="1600" dirty="0"/>
          </a:p>
        </p:txBody>
      </p:sp>
      <p:sp>
        <p:nvSpPr>
          <p:cNvPr id="14" name="Text 12"/>
          <p:cNvSpPr/>
          <p:nvPr/>
        </p:nvSpPr>
        <p:spPr>
          <a:xfrm>
            <a:off x="496119" y="3643238"/>
            <a:ext cx="4004965" cy="45362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Autofit/>
          </a:bodyPr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400" dirty="0">
                <a:latin typeface="Inter Light" pitchFamily="34" charset="0"/>
                <a:ea typeface="Inter Light" pitchFamily="34" charset="-122"/>
                <a:cs typeface="Inter Light" pitchFamily="34" charset="-120"/>
              </a:rPr>
              <a:t>От списъка </a:t>
            </a:r>
            <a:r>
              <a:rPr lang="en-US" sz="1400" b="1" dirty="0">
                <a:latin typeface="Inter Bold" pitchFamily="34" charset="0"/>
                <a:ea typeface="Inter Bold" pitchFamily="34" charset="-122"/>
                <a:cs typeface="Inter Bold" pitchFamily="34" charset="-120"/>
              </a:rPr>
              <a:t>Font</a:t>
            </a:r>
            <a:r>
              <a:rPr lang="en-US" sz="1400" dirty="0">
                <a:latin typeface="Inter Light" pitchFamily="34" charset="0"/>
                <a:ea typeface="Inter Light" pitchFamily="34" charset="-122"/>
                <a:cs typeface="Inter Light" pitchFamily="34" charset="-120"/>
              </a:rPr>
              <a:t> изберете подходящ шрифт (Symbol, Wingdings и др.)</a:t>
            </a:r>
            <a:endParaRPr lang="en-US" sz="1400" dirty="0"/>
          </a:p>
        </p:txBody>
      </p:sp>
      <p:sp>
        <p:nvSpPr>
          <p:cNvPr id="15" name="Text 13"/>
          <p:cNvSpPr/>
          <p:nvPr/>
        </p:nvSpPr>
        <p:spPr>
          <a:xfrm>
            <a:off x="4642842" y="3005882"/>
            <a:ext cx="283518" cy="1771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1400" dirty="0">
                <a:latin typeface="Montserrat Light" pitchFamily="34" charset="0"/>
                <a:ea typeface="Montserrat Light" pitchFamily="34" charset="-122"/>
                <a:cs typeface="Montserrat Light" pitchFamily="34" charset="-120"/>
              </a:rPr>
              <a:t>04</a:t>
            </a:r>
            <a:endParaRPr lang="en-US" sz="1400" dirty="0"/>
          </a:p>
        </p:txBody>
      </p:sp>
      <p:sp>
        <p:nvSpPr>
          <p:cNvPr id="16" name="Shape 14"/>
          <p:cNvSpPr/>
          <p:nvPr/>
        </p:nvSpPr>
        <p:spPr>
          <a:xfrm>
            <a:off x="4642842" y="3213571"/>
            <a:ext cx="4005039" cy="19050"/>
          </a:xfrm>
          <a:prstGeom prst="rect">
            <a:avLst/>
          </a:prstGeom>
          <a:solidFill>
            <a:srgbClr val="888888"/>
          </a:solidFill>
          <a:ln/>
        </p:spPr>
      </p:sp>
      <p:sp>
        <p:nvSpPr>
          <p:cNvPr id="17" name="Text 15"/>
          <p:cNvSpPr/>
          <p:nvPr/>
        </p:nvSpPr>
        <p:spPr>
          <a:xfrm>
            <a:off x="4642842" y="3336727"/>
            <a:ext cx="4005039" cy="22145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600" dirty="0">
                <a:latin typeface="Montserrat Medium" pitchFamily="34" charset="0"/>
                <a:ea typeface="Montserrat Medium" pitchFamily="34" charset="-122"/>
                <a:cs typeface="Montserrat Medium" pitchFamily="34" charset="-120"/>
              </a:rPr>
              <a:t>Вмъкнете символа</a:t>
            </a:r>
            <a:endParaRPr lang="en-US" sz="1600" dirty="0"/>
          </a:p>
        </p:txBody>
      </p:sp>
      <p:sp>
        <p:nvSpPr>
          <p:cNvPr id="18" name="Text 16"/>
          <p:cNvSpPr/>
          <p:nvPr/>
        </p:nvSpPr>
        <p:spPr>
          <a:xfrm>
            <a:off x="4642842" y="3643238"/>
            <a:ext cx="4005039" cy="45362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 fontScale="92500" lnSpcReduction="20000"/>
          </a:bodyPr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400" dirty="0">
                <a:latin typeface="Inter Light" pitchFamily="34" charset="0"/>
                <a:ea typeface="Inter Light" pitchFamily="34" charset="-122"/>
                <a:cs typeface="Inter Light" pitchFamily="34" charset="-120"/>
              </a:rPr>
              <a:t>Двукратно кликване върху символа или бутон </a:t>
            </a:r>
            <a:r>
              <a:rPr lang="en-US" sz="1400" b="1" dirty="0">
                <a:latin typeface="Inter Bold" pitchFamily="34" charset="0"/>
                <a:ea typeface="Inter Bold" pitchFamily="34" charset="-122"/>
                <a:cs typeface="Inter Bold" pitchFamily="34" charset="-120"/>
              </a:rPr>
              <a:t>Insert</a:t>
            </a:r>
            <a:r>
              <a:rPr lang="en-US" sz="1400" dirty="0">
                <a:latin typeface="Inter Light" pitchFamily="34" charset="0"/>
                <a:ea typeface="Inter Light" pitchFamily="34" charset="-122"/>
                <a:cs typeface="Inter Light" pitchFamily="34" charset="-120"/>
              </a:rPr>
              <a:t>, след това </a:t>
            </a:r>
            <a:r>
              <a:rPr lang="en-US" sz="1400" b="1" dirty="0">
                <a:latin typeface="Inter Bold" pitchFamily="34" charset="0"/>
                <a:ea typeface="Inter Bold" pitchFamily="34" charset="-122"/>
                <a:cs typeface="Inter Bold" pitchFamily="34" charset="-120"/>
              </a:rPr>
              <a:t>Close</a:t>
            </a:r>
            <a:endParaRPr lang="en-US" sz="14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715000" y="0"/>
            <a:ext cx="3429000" cy="51435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496119" y="888950"/>
            <a:ext cx="4722763" cy="44298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2750" b="1" dirty="0">
                <a:solidFill>
                  <a:srgbClr val="C0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Montserrat Medium" pitchFamily="34" charset="0"/>
                <a:ea typeface="Montserrat Medium" pitchFamily="34" charset="-122"/>
                <a:cs typeface="Montserrat Medium" pitchFamily="34" charset="-120"/>
              </a:rPr>
              <a:t>Обобщение</a:t>
            </a:r>
            <a:endParaRPr lang="en-US" sz="2750" b="1" dirty="0">
              <a:solidFill>
                <a:srgbClr val="C00000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</p:txBody>
      </p:sp>
      <p:sp>
        <p:nvSpPr>
          <p:cNvPr id="4" name="Shape 1"/>
          <p:cNvSpPr/>
          <p:nvPr/>
        </p:nvSpPr>
        <p:spPr>
          <a:xfrm>
            <a:off x="496119" y="1544538"/>
            <a:ext cx="4722763" cy="2096839"/>
          </a:xfrm>
          <a:prstGeom prst="roundRect">
            <a:avLst>
              <a:gd name="adj" fmla="val 6085"/>
            </a:avLst>
          </a:prstGeom>
          <a:solidFill>
            <a:srgbClr val="EFF0F6"/>
          </a:solidFill>
          <a:ln w="4763">
            <a:solidFill>
              <a:srgbClr val="C5C7D2"/>
            </a:solidFill>
            <a:prstDash val="solid"/>
          </a:ln>
        </p:spPr>
      </p:sp>
      <p:sp>
        <p:nvSpPr>
          <p:cNvPr id="5" name="Shape 2"/>
          <p:cNvSpPr/>
          <p:nvPr/>
        </p:nvSpPr>
        <p:spPr>
          <a:xfrm>
            <a:off x="500881" y="1549301"/>
            <a:ext cx="2356619" cy="1270471"/>
          </a:xfrm>
          <a:prstGeom prst="rect">
            <a:avLst/>
          </a:prstGeom>
          <a:solidFill>
            <a:srgbClr val="EFF0F6"/>
          </a:solidFill>
          <a:ln/>
        </p:spPr>
      </p:sp>
      <p:sp>
        <p:nvSpPr>
          <p:cNvPr id="6" name="Text 3"/>
          <p:cNvSpPr/>
          <p:nvPr/>
        </p:nvSpPr>
        <p:spPr>
          <a:xfrm>
            <a:off x="642640" y="1691060"/>
            <a:ext cx="2073101" cy="22145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400" dirty="0">
                <a:solidFill>
                  <a:srgbClr val="3D3E44"/>
                </a:solidFill>
                <a:latin typeface="Montserrat Medium" pitchFamily="34" charset="0"/>
                <a:ea typeface="Montserrat Medium" pitchFamily="34" charset="-122"/>
                <a:cs typeface="Montserrat Medium" pitchFamily="34" charset="-120"/>
              </a:rPr>
              <a:t>Редактиране</a:t>
            </a:r>
            <a:endParaRPr lang="en-US" sz="1400" dirty="0"/>
          </a:p>
        </p:txBody>
      </p:sp>
      <p:sp>
        <p:nvSpPr>
          <p:cNvPr id="7" name="Text 4"/>
          <p:cNvSpPr/>
          <p:nvPr/>
        </p:nvSpPr>
        <p:spPr>
          <a:xfrm>
            <a:off x="642640" y="1997571"/>
            <a:ext cx="2073101" cy="68044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Autofit/>
          </a:bodyPr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200" dirty="0">
                <a:solidFill>
                  <a:srgbClr val="3D3E44"/>
                </a:solidFill>
                <a:latin typeface="Inter Light" pitchFamily="34" charset="0"/>
                <a:ea typeface="Inter Light" pitchFamily="34" charset="-122"/>
                <a:cs typeface="Inter Light" pitchFamily="34" charset="-120"/>
              </a:rPr>
              <a:t>Промяна, изтриване, копиране, вмъкване, пренасяне</a:t>
            </a:r>
            <a:endParaRPr lang="en-US" sz="1200" dirty="0"/>
          </a:p>
        </p:txBody>
      </p:sp>
      <p:sp>
        <p:nvSpPr>
          <p:cNvPr id="8" name="Shape 5"/>
          <p:cNvSpPr/>
          <p:nvPr/>
        </p:nvSpPr>
        <p:spPr>
          <a:xfrm>
            <a:off x="2857500" y="1549301"/>
            <a:ext cx="2356619" cy="1270471"/>
          </a:xfrm>
          <a:prstGeom prst="rect">
            <a:avLst/>
          </a:prstGeom>
          <a:solidFill>
            <a:srgbClr val="EFF0F6"/>
          </a:solidFill>
          <a:ln/>
        </p:spPr>
      </p:sp>
      <p:sp>
        <p:nvSpPr>
          <p:cNvPr id="9" name="Shape 6"/>
          <p:cNvSpPr/>
          <p:nvPr/>
        </p:nvSpPr>
        <p:spPr>
          <a:xfrm>
            <a:off x="2857500" y="1549301"/>
            <a:ext cx="19050" cy="1270471"/>
          </a:xfrm>
          <a:prstGeom prst="roundRect">
            <a:avLst>
              <a:gd name="adj" fmla="val 669768"/>
            </a:avLst>
          </a:prstGeom>
          <a:solidFill>
            <a:srgbClr val="C5C7D2"/>
          </a:solidFill>
          <a:ln/>
        </p:spPr>
      </p:sp>
      <p:sp>
        <p:nvSpPr>
          <p:cNvPr id="10" name="Text 7"/>
          <p:cNvSpPr/>
          <p:nvPr/>
        </p:nvSpPr>
        <p:spPr>
          <a:xfrm>
            <a:off x="2999259" y="1691060"/>
            <a:ext cx="2073101" cy="22145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400" dirty="0">
                <a:solidFill>
                  <a:srgbClr val="3D3E44"/>
                </a:solidFill>
                <a:latin typeface="Montserrat Medium" pitchFamily="34" charset="0"/>
                <a:ea typeface="Montserrat Medium" pitchFamily="34" charset="-122"/>
                <a:cs typeface="Montserrat Medium" pitchFamily="34" charset="-120"/>
              </a:rPr>
              <a:t>Форматиране</a:t>
            </a:r>
            <a:endParaRPr lang="en-US" sz="1400" dirty="0"/>
          </a:p>
        </p:txBody>
      </p:sp>
      <p:sp>
        <p:nvSpPr>
          <p:cNvPr id="11" name="Text 8"/>
          <p:cNvSpPr/>
          <p:nvPr/>
        </p:nvSpPr>
        <p:spPr>
          <a:xfrm>
            <a:off x="2999259" y="1997571"/>
            <a:ext cx="2073101" cy="45362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Autofit/>
          </a:bodyPr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200" dirty="0">
                <a:solidFill>
                  <a:srgbClr val="3D3E44"/>
                </a:solidFill>
                <a:latin typeface="Inter Light" pitchFamily="34" charset="0"/>
                <a:ea typeface="Inter Light" pitchFamily="34" charset="-122"/>
                <a:cs typeface="Inter Light" pitchFamily="34" charset="-120"/>
              </a:rPr>
              <a:t>Шрифт, размер, стил, цвят, отстъпи, интерлинеаж</a:t>
            </a:r>
            <a:endParaRPr lang="en-US" sz="1200" dirty="0"/>
          </a:p>
        </p:txBody>
      </p:sp>
      <p:sp>
        <p:nvSpPr>
          <p:cNvPr id="12" name="Shape 9"/>
          <p:cNvSpPr/>
          <p:nvPr/>
        </p:nvSpPr>
        <p:spPr>
          <a:xfrm>
            <a:off x="500881" y="2819772"/>
            <a:ext cx="4713238" cy="816843"/>
          </a:xfrm>
          <a:prstGeom prst="rect">
            <a:avLst/>
          </a:prstGeom>
          <a:solidFill>
            <a:srgbClr val="EFF0F6"/>
          </a:solidFill>
          <a:ln/>
        </p:spPr>
      </p:sp>
      <p:sp>
        <p:nvSpPr>
          <p:cNvPr id="13" name="Shape 10"/>
          <p:cNvSpPr/>
          <p:nvPr/>
        </p:nvSpPr>
        <p:spPr>
          <a:xfrm>
            <a:off x="500881" y="2819772"/>
            <a:ext cx="4713238" cy="19050"/>
          </a:xfrm>
          <a:prstGeom prst="roundRect">
            <a:avLst>
              <a:gd name="adj" fmla="val 669768"/>
            </a:avLst>
          </a:prstGeom>
          <a:solidFill>
            <a:srgbClr val="C5C7D2"/>
          </a:solidFill>
          <a:ln/>
        </p:spPr>
      </p:sp>
      <p:sp>
        <p:nvSpPr>
          <p:cNvPr id="14" name="Text 11"/>
          <p:cNvSpPr/>
          <p:nvPr/>
        </p:nvSpPr>
        <p:spPr>
          <a:xfrm>
            <a:off x="642640" y="2961531"/>
            <a:ext cx="4429720" cy="22145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400" dirty="0">
                <a:solidFill>
                  <a:srgbClr val="3D3E44"/>
                </a:solidFill>
                <a:latin typeface="Montserrat Medium" pitchFamily="34" charset="0"/>
                <a:ea typeface="Montserrat Medium" pitchFamily="34" charset="-122"/>
                <a:cs typeface="Montserrat Medium" pitchFamily="34" charset="-120"/>
              </a:rPr>
              <a:t>Специални знаци</a:t>
            </a:r>
            <a:endParaRPr lang="en-US" sz="1400" dirty="0"/>
          </a:p>
        </p:txBody>
      </p:sp>
      <p:sp>
        <p:nvSpPr>
          <p:cNvPr id="15" name="Text 12"/>
          <p:cNvSpPr/>
          <p:nvPr/>
        </p:nvSpPr>
        <p:spPr>
          <a:xfrm>
            <a:off x="642640" y="3268042"/>
            <a:ext cx="4429720" cy="22681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200" dirty="0">
                <a:solidFill>
                  <a:srgbClr val="3D3E44"/>
                </a:solidFill>
                <a:latin typeface="Inter Light" pitchFamily="34" charset="0"/>
                <a:ea typeface="Inter Light" pitchFamily="34" charset="-122"/>
                <a:cs typeface="Inter Light" pitchFamily="34" charset="-120"/>
              </a:rPr>
              <a:t>Insert → Symbol → избор на шрифт → вмъкване</a:t>
            </a:r>
            <a:endParaRPr lang="en-US" sz="1200" dirty="0"/>
          </a:p>
        </p:txBody>
      </p:sp>
      <p:sp>
        <p:nvSpPr>
          <p:cNvPr id="16" name="Text 13"/>
          <p:cNvSpPr/>
          <p:nvPr/>
        </p:nvSpPr>
        <p:spPr>
          <a:xfrm>
            <a:off x="496119" y="3800846"/>
            <a:ext cx="4722763" cy="902771"/>
          </a:xfrm>
          <a:prstGeom prst="rect">
            <a:avLst/>
          </a:prstGeom>
          <a:ln/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400" dirty="0">
                <a:solidFill>
                  <a:srgbClr val="3D3E44"/>
                </a:solidFill>
                <a:latin typeface="Inter Light" pitchFamily="34" charset="0"/>
                <a:ea typeface="Inter Light" pitchFamily="34" charset="-122"/>
                <a:cs typeface="Inter Light" pitchFamily="34" charset="-120"/>
              </a:rPr>
              <a:t>Овладейте инструментите за специални знаци, за да създавате професионални математически и научни текстове в MS Word.</a:t>
            </a:r>
            <a:endParaRPr lang="en-US" sz="14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Тема на Office">
  <a:themeElements>
    <a:clrScheme name="О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О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О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22</TotalTime>
  <Words>549</Words>
  <Application>Microsoft Office PowerPoint</Application>
  <PresentationFormat>Презентация на цял екран (16:9)</PresentationFormat>
  <Paragraphs>85</Paragraphs>
  <Slides>10</Slides>
  <Notes>10</Notes>
  <HiddenSlides>0</HiddenSlides>
  <MMClips>0</MMClips>
  <ScaleCrop>false</ScaleCrop>
  <HeadingPairs>
    <vt:vector size="6" baseType="variant">
      <vt:variant>
        <vt:lpstr>Използвани шрифтове</vt:lpstr>
      </vt:variant>
      <vt:variant>
        <vt:i4>7</vt:i4>
      </vt:variant>
      <vt:variant>
        <vt:lpstr>Тема</vt:lpstr>
      </vt:variant>
      <vt:variant>
        <vt:i4>1</vt:i4>
      </vt:variant>
      <vt:variant>
        <vt:lpstr>Заглавия на слайдовете</vt:lpstr>
      </vt:variant>
      <vt:variant>
        <vt:i4>10</vt:i4>
      </vt:variant>
    </vt:vector>
  </HeadingPairs>
  <TitlesOfParts>
    <vt:vector size="18" baseType="lpstr">
      <vt:lpstr>Montserrat Light</vt:lpstr>
      <vt:lpstr>Twemoji Mozilla</vt:lpstr>
      <vt:lpstr>Montserrat Bold</vt:lpstr>
      <vt:lpstr>Montserrat Medium</vt:lpstr>
      <vt:lpstr>Inter Bold</vt:lpstr>
      <vt:lpstr>Inter Light</vt:lpstr>
      <vt:lpstr>Arial</vt:lpstr>
      <vt:lpstr>Office Theme</vt:lpstr>
      <vt:lpstr>Презентация на PowerPoint</vt:lpstr>
      <vt:lpstr>Презентация на PowerPoint</vt:lpstr>
      <vt:lpstr>Презентация на PowerPoint</vt:lpstr>
      <vt:lpstr>Презентация на PowerPoint</vt:lpstr>
      <vt:lpstr>Презентация на PowerPoint</vt:lpstr>
      <vt:lpstr>Презентация на PowerPoint</vt:lpstr>
      <vt:lpstr>Презентация на PowerPoint</vt:lpstr>
      <vt:lpstr>Презентация на PowerPoint</vt:lpstr>
      <vt:lpstr>Презентация на PowerPoint</vt:lpstr>
      <vt:lpstr>Презентация на PowerPoint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>Елена Г. Маврова-Ненкова</dc:creator>
  <cp:lastModifiedBy>Elena Nenkova</cp:lastModifiedBy>
  <cp:revision>3</cp:revision>
  <dcterms:created xsi:type="dcterms:W3CDTF">2026-07-24T15:32:08Z</dcterms:created>
  <dcterms:modified xsi:type="dcterms:W3CDTF">2026-07-24T15:54:27Z</dcterms:modified>
</cp:coreProperties>
</file>