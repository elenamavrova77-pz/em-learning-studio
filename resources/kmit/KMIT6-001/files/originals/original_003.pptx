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4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5.xml" ContentType="application/vnd.openxmlformats-officedocument.them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3"/>
  </p:notesMasterIdLst>
  <p:handoutMasterIdLst>
    <p:handoutMasterId r:id="rId14"/>
  </p:handoutMasterIdLst>
  <p:sldIdLst>
    <p:sldId id="256" r:id="rId4"/>
    <p:sldId id="261" r:id="rId5"/>
    <p:sldId id="278" r:id="rId6"/>
    <p:sldId id="306" r:id="rId7"/>
    <p:sldId id="309" r:id="rId8"/>
    <p:sldId id="307" r:id="rId9"/>
    <p:sldId id="308" r:id="rId10"/>
    <p:sldId id="310" r:id="rId11"/>
    <p:sldId id="312" r:id="rId12"/>
  </p:sldIdLst>
  <p:sldSz cx="9144000" cy="5143500" type="screen16x9"/>
  <p:notesSz cx="6858000" cy="9144000"/>
  <p:custDataLst>
    <p:tags r:id="rId15"/>
  </p:custDataLst>
  <p:defaultTextStyle>
    <a:defPPr>
      <a:defRPr lang="ko-K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238" autoAdjust="0"/>
  </p:normalViewPr>
  <p:slideViewPr>
    <p:cSldViewPr>
      <p:cViewPr varScale="1">
        <p:scale>
          <a:sx n="102" d="100"/>
          <a:sy n="102" d="100"/>
        </p:scale>
        <p:origin x="8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heme" Target="../theme/theme5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머리글 개체 틀 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28675" name="날짜 개체 틀 2"/>
          <p:cNvSpPr>
            <a:spLocks noGrp="1" noChangeArrowheads="1"/>
          </p:cNvSpPr>
          <p:nvPr>
            <p:ph type="dt" sz="quarter" idx="2"/>
            <p:custDataLst>
              <p:tags r:id="rId3"/>
            </p:custDataLst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fld id="{D9E8F9F3-4918-4392-8E19-FCD7415573D5}" type="datetime1">
              <a:rPr lang="ko-KR" altLang="en-US"/>
              <a:pPr/>
              <a:t>2026-07-25</a:t>
            </a:fld>
            <a:endParaRPr lang="ko-KR" altLang="en-US"/>
          </a:p>
        </p:txBody>
      </p:sp>
      <p:sp>
        <p:nvSpPr>
          <p:cNvPr id="28676" name="바닥글 개체 틀 3"/>
          <p:cNvSpPr>
            <a:spLocks noGrp="1" noChangeArrowheads="1"/>
          </p:cNvSpPr>
          <p:nvPr>
            <p:ph type="ftr" sz="quarter" idx="3"/>
            <p:custDataLst>
              <p:tags r:id="rId4"/>
            </p:custDataLst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30773E-42C5-4B13-84D2-DE05FB0C34D7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fld id="{4562EE4D-B164-480F-9BE3-CE5B2D20DF3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7410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2" Type="http://schemas.openxmlformats.org/officeDocument/2006/relationships/tags" Target="../tags/tag43.xml"/><Relationship Id="rId1" Type="http://schemas.openxmlformats.org/officeDocument/2006/relationships/theme" Target="../theme/theme4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Header Placeholder 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27651" name="Date Placeholder 2"/>
          <p:cNvSpPr>
            <a:spLocks noGrp="1" noChangeArrowheads="1"/>
          </p:cNvSpPr>
          <p:nvPr>
            <p:ph type="dt" idx="2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fld id="{A9012A82-B282-4401-A2E8-3C3B5F17FE47}" type="datetime1">
              <a:rPr lang="ko-KR" altLang="en-US"/>
              <a:pPr/>
              <a:t>2026-07-25</a:t>
            </a:fld>
            <a:endParaRPr lang="ko-KR" altLang="en-US"/>
          </a:p>
        </p:txBody>
      </p:sp>
      <p:sp>
        <p:nvSpPr>
          <p:cNvPr id="27652" name="Slide Image Placeholder 3"/>
          <p:cNvSpPr>
            <a:spLocks noGrp="1" noRot="1" noChangeAspect="1" noChangeArrowheads="1"/>
          </p:cNvSpPr>
          <p:nvPr>
            <p:ph type="sldImg" idx="5"/>
            <p:custDataLst>
              <p:tags r:id="rId4"/>
            </p:custDataLst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Notes Placeholder 4"/>
          <p:cNvSpPr>
            <a:spLocks noGrp="1" noChangeArrowheads="1"/>
          </p:cNvSpPr>
          <p:nvPr>
            <p:ph type="body" sz="quarter" idx="1"/>
            <p:custDataLst>
              <p:tags r:id="rId5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27654" name="Footer Placeholder 5"/>
          <p:cNvSpPr>
            <a:spLocks noGrp="1" noChangeArrowheads="1"/>
          </p:cNvSpPr>
          <p:nvPr>
            <p:ph type="ftr" sz="quarter" idx="3"/>
            <p:custDataLst>
              <p:tags r:id="rId6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fld id="{C6176DED-0644-43D0-AC8B-507A883A9E3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385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.jpeg"/><Relationship Id="rId2" Type="http://schemas.openxmlformats.org/officeDocument/2006/relationships/tags" Target="../tags/tag3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1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image" Target="../media/image1.jpeg"/><Relationship Id="rId2" Type="http://schemas.openxmlformats.org/officeDocument/2006/relationships/tags" Target="../tags/tag30.xml"/><Relationship Id="rId16" Type="http://schemas.openxmlformats.org/officeDocument/2006/relationships/image" Target="../media/image11.jpe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944688" y="0"/>
            <a:ext cx="5254625" cy="5143500"/>
            <a:chOff x="1619672" y="548680"/>
            <a:chExt cx="5904656" cy="5778928"/>
          </a:xfrm>
        </p:grpSpPr>
        <p:sp>
          <p:nvSpPr>
            <p:cNvPr id="5" name="Oval 4"/>
            <p:cNvSpPr/>
            <p:nvPr/>
          </p:nvSpPr>
          <p:spPr>
            <a:xfrm>
              <a:off x="2411716" y="1269262"/>
              <a:ext cx="4320567" cy="4319927"/>
            </a:xfrm>
            <a:prstGeom prst="ellipse">
              <a:avLst/>
            </a:prstGeom>
            <a:noFill/>
            <a:ln w="19050" cap="flat" cmpd="sng" algn="ctr">
              <a:solidFill>
                <a:srgbClr val="FFFFFF">
                  <a:alpha val="69804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ko-KR" alt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2483072" y="1340607"/>
              <a:ext cx="4177856" cy="4177237"/>
            </a:xfrm>
            <a:prstGeom prst="ellipse">
              <a:avLst/>
            </a:prstGeom>
            <a:noFill/>
            <a:ln w="19050" cap="flat" cmpd="sng" algn="ctr">
              <a:solidFill>
                <a:srgbClr val="FFFFFF">
                  <a:alpha val="69804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ko-KR" altLang="en-US"/>
            </a:p>
          </p:txBody>
        </p:sp>
        <p:sp>
          <p:nvSpPr>
            <p:cNvPr id="7" name="Straight Connector 6"/>
            <p:cNvSpPr>
              <a:spLocks noChangeShapeType="1"/>
            </p:cNvSpPr>
            <p:nvPr/>
          </p:nvSpPr>
          <p:spPr bwMode="auto">
            <a:xfrm>
              <a:off x="4572000" y="548680"/>
              <a:ext cx="0" cy="72008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" name="Straight Connector 7"/>
            <p:cNvSpPr>
              <a:spLocks noChangeShapeType="1"/>
            </p:cNvSpPr>
            <p:nvPr/>
          </p:nvSpPr>
          <p:spPr bwMode="auto">
            <a:xfrm>
              <a:off x="4572000" y="5607528"/>
              <a:ext cx="0" cy="72008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" name="Straight Connector 8"/>
            <p:cNvSpPr>
              <a:spLocks noChangeShapeType="1"/>
            </p:cNvSpPr>
            <p:nvPr/>
          </p:nvSpPr>
          <p:spPr bwMode="auto">
            <a:xfrm>
              <a:off x="6732240" y="3429000"/>
              <a:ext cx="792088" cy="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Straight Connector 11"/>
            <p:cNvSpPr>
              <a:spLocks noChangeShapeType="1"/>
            </p:cNvSpPr>
            <p:nvPr/>
          </p:nvSpPr>
          <p:spPr bwMode="auto">
            <a:xfrm>
              <a:off x="1619672" y="3429000"/>
              <a:ext cx="792088" cy="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Straight Connector 12"/>
            <p:cNvSpPr>
              <a:spLocks noChangeShapeType="1"/>
            </p:cNvSpPr>
            <p:nvPr/>
          </p:nvSpPr>
          <p:spPr bwMode="auto">
            <a:xfrm flipV="1">
              <a:off x="6156176" y="2378312"/>
              <a:ext cx="792088" cy="330608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Straight Connector 13"/>
            <p:cNvSpPr>
              <a:spLocks noChangeShapeType="1"/>
            </p:cNvSpPr>
            <p:nvPr/>
          </p:nvSpPr>
          <p:spPr bwMode="auto">
            <a:xfrm flipV="1">
              <a:off x="5431496" y="1124744"/>
              <a:ext cx="432048" cy="792088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Straight Connector 14"/>
            <p:cNvSpPr>
              <a:spLocks noChangeShapeType="1"/>
            </p:cNvSpPr>
            <p:nvPr/>
          </p:nvSpPr>
          <p:spPr bwMode="auto">
            <a:xfrm>
              <a:off x="3094136" y="1131624"/>
              <a:ext cx="613768" cy="785208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Straight Connector 15"/>
            <p:cNvSpPr>
              <a:spLocks noChangeShapeType="1"/>
            </p:cNvSpPr>
            <p:nvPr/>
          </p:nvSpPr>
          <p:spPr bwMode="auto">
            <a:xfrm>
              <a:off x="2195736" y="2090992"/>
              <a:ext cx="898400" cy="49224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Straight Connector 16"/>
            <p:cNvSpPr>
              <a:spLocks noChangeShapeType="1"/>
            </p:cNvSpPr>
            <p:nvPr/>
          </p:nvSpPr>
          <p:spPr bwMode="auto">
            <a:xfrm flipV="1">
              <a:off x="3180984" y="4941168"/>
              <a:ext cx="526920" cy="57606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Straight Connector 17"/>
            <p:cNvSpPr>
              <a:spLocks noChangeShapeType="1"/>
            </p:cNvSpPr>
            <p:nvPr/>
          </p:nvSpPr>
          <p:spPr bwMode="auto">
            <a:xfrm flipV="1">
              <a:off x="2456304" y="4329100"/>
              <a:ext cx="637832" cy="39604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Straight Connector 18"/>
            <p:cNvSpPr>
              <a:spLocks noChangeShapeType="1"/>
            </p:cNvSpPr>
            <p:nvPr/>
          </p:nvSpPr>
          <p:spPr bwMode="auto">
            <a:xfrm>
              <a:off x="5979584" y="4142812"/>
              <a:ext cx="968680" cy="51032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Straight Connector 19"/>
            <p:cNvSpPr>
              <a:spLocks noChangeShapeType="1"/>
            </p:cNvSpPr>
            <p:nvPr/>
          </p:nvSpPr>
          <p:spPr bwMode="auto">
            <a:xfrm>
              <a:off x="5431496" y="4875464"/>
              <a:ext cx="490068" cy="73206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49293" y="1563638"/>
            <a:ext cx="3845416" cy="108012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FREE PPT TEMPLATES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49145" y="2634232"/>
            <a:ext cx="3845416" cy="79993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INSTERT THE TITLE</a:t>
            </a:r>
          </a:p>
          <a:p>
            <a:pPr lvl="0"/>
            <a:r>
              <a:rPr lang="en-US" altLang="ko-KR" noProof="0"/>
              <a:t>OF YOUR </a:t>
            </a:r>
          </a:p>
          <a:p>
            <a:pPr lvl="0"/>
            <a:r>
              <a:rPr lang="en-US" altLang="ko-KR" noProof="0"/>
              <a:t>PRESENTATION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59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944688" y="0"/>
            <a:ext cx="5254625" cy="5143500"/>
            <a:chOff x="1619672" y="548680"/>
            <a:chExt cx="5904656" cy="5778928"/>
          </a:xfrm>
        </p:grpSpPr>
        <p:sp>
          <p:nvSpPr>
            <p:cNvPr id="6" name="Oval 4"/>
            <p:cNvSpPr/>
            <p:nvPr>
              <p:custDataLst>
                <p:tags r:id="rId2"/>
              </p:custDataLst>
            </p:nvPr>
          </p:nvSpPr>
          <p:spPr>
            <a:xfrm>
              <a:off x="2411716" y="1269262"/>
              <a:ext cx="4320567" cy="4319927"/>
            </a:xfrm>
            <a:prstGeom prst="ellipse">
              <a:avLst/>
            </a:prstGeom>
            <a:noFill/>
            <a:ln w="19050" cap="flat" cmpd="sng" algn="ctr">
              <a:solidFill>
                <a:srgbClr val="FFFFFF">
                  <a:alpha val="69804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ko-KR" altLang="en-US"/>
            </a:p>
          </p:txBody>
        </p:sp>
        <p:sp>
          <p:nvSpPr>
            <p:cNvPr id="7" name="Oval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483768" y="1340768"/>
              <a:ext cx="4176464" cy="4176464"/>
            </a:xfrm>
            <a:prstGeom prst="ellipse">
              <a:avLst/>
            </a:prstGeom>
            <a:blipFill dpi="0" rotWithShape="1">
              <a:blip r:embed="rId17"/>
              <a:srcRect/>
              <a:stretch>
                <a:fillRect/>
              </a:stretch>
            </a:blipFill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lang="ko-KR" altLang="en-US">
                <a:solidFill>
                  <a:srgbClr val="FFFFFF"/>
                </a:solidFill>
                <a:ea typeface="굴림" charset="-127"/>
                <a:cs typeface="Arial Unicode MS" charset="-52"/>
              </a:endParaRPr>
            </a:p>
          </p:txBody>
        </p:sp>
        <p:sp>
          <p:nvSpPr>
            <p:cNvPr id="8" name="Straight Connector 6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4572000" y="548680"/>
              <a:ext cx="0" cy="72008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" name="Straight Connector 7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4572000" y="5607528"/>
              <a:ext cx="0" cy="72008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Straight Connector 8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6732240" y="3429000"/>
              <a:ext cx="792088" cy="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Straight Connector 11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619672" y="3429000"/>
              <a:ext cx="792088" cy="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Straight Connector 12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6156176" y="2378312"/>
              <a:ext cx="792088" cy="330608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Straight Connector 13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5431496" y="1124744"/>
              <a:ext cx="432048" cy="792088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Straight Connector 14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094136" y="1131624"/>
              <a:ext cx="613768" cy="785208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Straight Connector 1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2195736" y="2090992"/>
              <a:ext cx="898400" cy="492240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Straight Connector 1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3180984" y="4941168"/>
              <a:ext cx="526920" cy="57606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Straight Connector 1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V="1">
              <a:off x="2456304" y="4329100"/>
              <a:ext cx="637832" cy="39604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Straight Connector 1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5979584" y="4142812"/>
              <a:ext cx="968680" cy="51032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Straight Connector 19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431496" y="4875464"/>
              <a:ext cx="490068" cy="732064"/>
            </a:xfrm>
            <a:prstGeom prst="line">
              <a:avLst/>
            </a:prstGeom>
            <a:noFill/>
            <a:ln w="19050" cap="flat" algn="ctr">
              <a:solidFill>
                <a:srgbClr val="FFFFFF">
                  <a:alpha val="69803"/>
                </a:srgb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05794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268185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2754425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106520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062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70381796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91680" y="123478"/>
            <a:ext cx="745232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91680" y="699542"/>
            <a:ext cx="745232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9814111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700934" y="322499"/>
            <a:ext cx="1583034" cy="13851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2700934" y="1898609"/>
            <a:ext cx="1583034" cy="13851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00934" y="3474719"/>
            <a:ext cx="1583034" cy="13851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09658463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3116" y="843558"/>
            <a:ext cx="8077768" cy="216024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Insert Your Image</a:t>
            </a:r>
            <a:endParaRPr lang="ko-KR" altLang="en-US" noProof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031416" y="2475359"/>
            <a:ext cx="1062118" cy="1062118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062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6011863" y="0"/>
            <a:ext cx="3132137" cy="5143500"/>
          </a:xfrm>
          <a:prstGeom prst="rect">
            <a:avLst/>
          </a:prstGeom>
          <a:solidFill>
            <a:srgbClr val="0DD2D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131840" y="0"/>
            <a:ext cx="288032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23322145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/>
          <p:nvPr>
            <p:custDataLst>
              <p:tags r:id="rId1"/>
            </p:custDataLst>
          </p:nvPr>
        </p:nvSpPr>
        <p:spPr>
          <a:xfrm>
            <a:off x="8243888" y="0"/>
            <a:ext cx="900112" cy="5143500"/>
          </a:xfrm>
          <a:prstGeom prst="rect">
            <a:avLst/>
          </a:prstGeom>
          <a:solidFill>
            <a:srgbClr val="0DD2D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6" name="Rectangle 4"/>
          <p:cNvSpPr/>
          <p:nvPr>
            <p:custDataLst>
              <p:tags r:id="rId2"/>
            </p:custDataLst>
          </p:nvPr>
        </p:nvSpPr>
        <p:spPr>
          <a:xfrm>
            <a:off x="4916488" y="0"/>
            <a:ext cx="900112" cy="5143500"/>
          </a:xfrm>
          <a:prstGeom prst="rect">
            <a:avLst/>
          </a:prstGeom>
          <a:solidFill>
            <a:srgbClr val="0DD2D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811908" y="0"/>
            <a:ext cx="2448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Insert Your Image</a:t>
            </a:r>
            <a:endParaRPr lang="ko-KR" altLang="en-US" noProof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477595" y="0"/>
            <a:ext cx="2448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Insert Your Image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23173012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>
            <p:custDataLst>
              <p:tags r:id="rId1"/>
            </p:custDataLst>
          </p:nvPr>
        </p:nvSpPr>
        <p:spPr>
          <a:xfrm>
            <a:off x="4645025" y="2913063"/>
            <a:ext cx="4103688" cy="1871662"/>
          </a:xfrm>
          <a:prstGeom prst="rect">
            <a:avLst/>
          </a:prstGeom>
          <a:solidFill>
            <a:srgbClr val="0DD2D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2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29444" y="915566"/>
            <a:ext cx="410445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644008" y="915566"/>
            <a:ext cx="410445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429444" y="2912740"/>
            <a:ext cx="410445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062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85576594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/>
          <p:nvPr>
            <p:custDataLst>
              <p:tags r:id="rId1"/>
            </p:custDataLst>
          </p:nvPr>
        </p:nvSpPr>
        <p:spPr>
          <a:xfrm>
            <a:off x="4583113" y="0"/>
            <a:ext cx="2286000" cy="5143500"/>
          </a:xfrm>
          <a:prstGeom prst="rect">
            <a:avLst/>
          </a:prstGeom>
          <a:solidFill>
            <a:srgbClr val="0DD2D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858000" y="698778"/>
            <a:ext cx="2286000" cy="1872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583048" y="2578606"/>
            <a:ext cx="2286000" cy="1872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298953" y="699542"/>
            <a:ext cx="2286000" cy="1872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0" y="2579370"/>
            <a:ext cx="2286000" cy="1872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98115959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23528" y="248444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671560" y="1832620"/>
            <a:ext cx="1512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105640" y="3416796"/>
            <a:ext cx="307792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23528" y="1832620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2105640" y="1832049"/>
            <a:ext cx="1512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71560" y="248444"/>
            <a:ext cx="1512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48314789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:\Fullppt\005-PNG이미지\노트북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019175"/>
            <a:ext cx="6011863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283453" y="1415430"/>
            <a:ext cx="2834003" cy="2114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49796641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D:\Fullppt\005-PNG이미지\모니터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1276350"/>
            <a:ext cx="2525713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9" name="Picture 3" descr="D:\Fullppt\005-PNG이미지\모니터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913" y="1276350"/>
            <a:ext cx="2525712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48616" y="1374406"/>
            <a:ext cx="2319328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986924" y="1374406"/>
            <a:ext cx="2319328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11635765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Fullppt\PNG이미지\핸드폰2.pn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023938"/>
            <a:ext cx="3024188" cy="366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687664" y="1164297"/>
            <a:ext cx="1744194" cy="2694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196830" y="1426241"/>
            <a:ext cx="1744194" cy="2694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noProof="0"/>
              <a:t>Your Picture Here</a:t>
            </a:r>
            <a:endParaRPr lang="ko-KR" altLang="en-US" noProof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BASIC LAYOUT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89223502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354013" y="1131888"/>
            <a:ext cx="2849562" cy="3649662"/>
            <a:chOff x="354008" y="1131589"/>
            <a:chExt cx="2849840" cy="3649171"/>
          </a:xfrm>
        </p:grpSpPr>
        <p:sp>
          <p:nvSpPr>
            <p:cNvPr id="4" name="Rounded Rectangle 5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/>
              <a:endParaRPr lang="ko-KR" altLang="en-US">
                <a:ea typeface="굴림" charset="-127"/>
              </a:endParaRPr>
            </a:p>
          </p:txBody>
        </p:sp>
        <p:sp>
          <p:nvSpPr>
            <p:cNvPr id="5" name="Rounded Rectangle 8"/>
            <p:cNvSpPr/>
            <p:nvPr>
              <p:custDataLst>
                <p:tags r:id="rId2"/>
              </p:custDataLst>
            </p:nvPr>
          </p:nvSpPr>
          <p:spPr>
            <a:xfrm>
              <a:off x="531825" y="1347460"/>
              <a:ext cx="107961" cy="3241239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41176"/>
              </a:srgb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 fontAlgn="auto" latinLnBrk="1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" name="Half Frame 11"/>
            <p:cNvSpPr/>
            <p:nvPr>
              <p:custDataLst>
                <p:tags r:id="rId3"/>
              </p:custDataLst>
            </p:nvPr>
          </p:nvSpPr>
          <p:spPr>
            <a:xfrm rot="5400000">
              <a:off x="2591866" y="1238672"/>
              <a:ext cx="503170" cy="501699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rgbClr val="FFFFFF">
                <a:alpha val="23137"/>
              </a:srgb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 fontAlgn="auto" latinLnBrk="1"/>
              <a:endParaRPr lang="ko-KR" altLang="en-US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ICON SETS LAYOUT</a:t>
            </a: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941388" y="1244600"/>
            <a:ext cx="2693987" cy="2636838"/>
            <a:chOff x="1619672" y="548680"/>
            <a:chExt cx="5904656" cy="5778928"/>
          </a:xfrm>
        </p:grpSpPr>
        <p:sp>
          <p:nvSpPr>
            <p:cNvPr id="5" name="Oval 8"/>
            <p:cNvSpPr/>
            <p:nvPr>
              <p:custDataLst>
                <p:tags r:id="rId1"/>
              </p:custDataLst>
            </p:nvPr>
          </p:nvSpPr>
          <p:spPr>
            <a:xfrm>
              <a:off x="2412991" y="1268872"/>
              <a:ext cx="4318019" cy="4321148"/>
            </a:xfrm>
            <a:prstGeom prst="ellipse">
              <a:avLst/>
            </a:prstGeom>
            <a:noFill/>
            <a:ln w="19050" cap="flat" cmpd="sng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/>
              <a:endParaRPr lang="ko-KR" altLang="en-US"/>
            </a:p>
          </p:txBody>
        </p:sp>
        <p:sp>
          <p:nvSpPr>
            <p:cNvPr id="6" name="Oval 1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483768" y="1340768"/>
              <a:ext cx="4176464" cy="4176464"/>
            </a:xfrm>
            <a:prstGeom prst="ellipse">
              <a:avLst/>
            </a:prstGeom>
            <a:blipFill dpi="0" rotWithShape="1">
              <a:blip r:embed="rId17"/>
              <a:srcRect/>
              <a:stretch>
                <a:fillRect/>
              </a:stretch>
            </a:blipFill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lang="ko-KR" altLang="en-US">
                <a:solidFill>
                  <a:srgbClr val="FFFFFF"/>
                </a:solidFill>
                <a:ea typeface="굴림" charset="-127"/>
                <a:cs typeface="Arial Unicode MS" charset="-52"/>
              </a:endParaRPr>
            </a:p>
          </p:txBody>
        </p:sp>
        <p:sp>
          <p:nvSpPr>
            <p:cNvPr id="7" name="Straight Connector 12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4572000" y="548680"/>
              <a:ext cx="0" cy="720080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" name="Straight Connector 13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4572000" y="5607528"/>
              <a:ext cx="0" cy="720080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" name="Straight Connector 14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6732240" y="3429000"/>
              <a:ext cx="792088" cy="0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Straight Connector 1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1619672" y="3429000"/>
              <a:ext cx="792088" cy="0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Straight Connector 1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V="1">
              <a:off x="6156176" y="2378312"/>
              <a:ext cx="792088" cy="330608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Straight Connector 1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5431496" y="1124744"/>
              <a:ext cx="432048" cy="792088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Straight Connector 1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094136" y="1131624"/>
              <a:ext cx="613768" cy="785208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Straight Connector 1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195736" y="2090992"/>
              <a:ext cx="898400" cy="492240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Straight Connector 2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V="1">
              <a:off x="3180984" y="4941168"/>
              <a:ext cx="526920" cy="576064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Straight Connector 2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2456304" y="4329100"/>
              <a:ext cx="637832" cy="396044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Straight Connector 2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5979584" y="4142812"/>
              <a:ext cx="968680" cy="510324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Straight Connector 2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5431496" y="4875464"/>
              <a:ext cx="490068" cy="732064"/>
            </a:xfrm>
            <a:prstGeom prst="line">
              <a:avLst/>
            </a:prstGeom>
            <a:noFill/>
            <a:ln w="19050" cap="flat" algn="ctr">
              <a:solidFill>
                <a:srgbClr val="CAFAF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95936" y="2253238"/>
            <a:ext cx="5148064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95936" y="2726814"/>
            <a:ext cx="51480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noProof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 Unicode MS" charset="-52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charset="-52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 Unicode MS" charset="-5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 Unicode MS" charset="-5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74" r:id="rId8"/>
    <p:sldLayoutId id="2147483685" r:id="rId9"/>
    <p:sldLayoutId id="2147483686" r:id="rId10"/>
    <p:sldLayoutId id="2147483687" r:id="rId11"/>
    <p:sldLayoutId id="2147483688" r:id="rId12"/>
    <p:sldLayoutId id="2147483675" r:id="rId13"/>
    <p:sldLayoutId id="2147483689" r:id="rId14"/>
    <p:sldLayoutId id="2147483690" r:id="rId15"/>
    <p:sldLayoutId id="2147483691" r:id="rId16"/>
    <p:sldLayoutId id="2147483692" r:id="rId17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 Unicode MS" charset="-52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charset="-52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 Unicode MS" charset="-5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 Unicode MS" charset="-5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 Unicode MS" charset="-52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 Unicode MS" charset="-5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charset="-52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 Unicode MS" charset="-5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 Unicode MS" charset="-5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Arial Unicode MS" charset="-52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image" Target="../media/image13.pn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image" Target="../media/image14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17.jpeg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19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82.xml"/><Relationship Id="rId7" Type="http://schemas.openxmlformats.org/officeDocument/2006/relationships/image" Target="../media/image20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84.xml"/><Relationship Id="rId4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  <p:custDataLst>
              <p:tags r:id="rId1"/>
            </p:custDataLst>
          </p:nvPr>
        </p:nvSpPr>
        <p:spPr>
          <a:xfrm>
            <a:off x="1115616" y="843558"/>
            <a:ext cx="6768752" cy="2952278"/>
          </a:xfrm>
          <a:ln cap="flat" algn="ctr">
            <a:round/>
            <a:headEnd type="none" w="med" len="med"/>
            <a:tailEnd type="none" w="med" len="med"/>
          </a:ln>
        </p:spPr>
        <p:txBody>
          <a:bodyPr/>
          <a:lstStyle/>
          <a:p>
            <a:pPr fontAlgn="auto" latinLnBrk="1">
              <a:buFont typeface="Arial" pitchFamily="34" charset="0"/>
              <a:buNone/>
            </a:pPr>
            <a:r>
              <a:rPr lang="bg-BG" altLang="ko-KR" sz="4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맑은 고딕" pitchFamily="50" charset="-127"/>
                <a:sym typeface="Wingdings"/>
              </a:rPr>
              <a:t>Формули за извършване на аритметични действия с въведените данни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pic>
        <p:nvPicPr>
          <p:cNvPr id="4" name="Картина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39502"/>
            <a:ext cx="1656184" cy="165618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Текстово поле 2"/>
          <p:cNvSpPr txBox="1"/>
          <p:nvPr/>
        </p:nvSpPr>
        <p:spPr>
          <a:xfrm>
            <a:off x="1953042" y="4863209"/>
            <a:ext cx="523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1200" dirty="0">
                <a:latin typeface="Bookman Old Style" pitchFamily="18" charset="0"/>
                <a:cs typeface="Calibri" pitchFamily="34" charset="0"/>
              </a:rPr>
              <a:t>КМИТ, 6 клас, Маврова-Ненкова</a:t>
            </a: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7BA2BE21-8A12-603B-FDD7-EE80C73FB506}"/>
              </a:ext>
            </a:extLst>
          </p:cNvPr>
          <p:cNvSpPr txBox="1"/>
          <p:nvPr/>
        </p:nvSpPr>
        <p:spPr>
          <a:xfrm>
            <a:off x="971600" y="3653561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맑은 고딕" pitchFamily="50" charset="-127"/>
                <a:cs typeface="Arial" pitchFamily="34" charset="0"/>
              </a:rPr>
              <a:t>Функции: сумиране, средноаритметично, минимум и максимум.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/>
          <p:nvPr>
            <p:custDataLst>
              <p:tags r:id="rId1"/>
            </p:custDataLst>
          </p:nvPr>
        </p:nvSpPr>
        <p:spPr>
          <a:xfrm>
            <a:off x="733425" y="190500"/>
            <a:ext cx="8388350" cy="576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/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1. Област в електронна таблица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>
            <p:custDataLst>
              <p:tags r:id="rId2"/>
            </p:custDataLst>
          </p:nvPr>
        </p:nvSpPr>
        <p:spPr>
          <a:xfrm>
            <a:off x="1128713" y="906463"/>
            <a:ext cx="3443287" cy="615950"/>
          </a:xfrm>
          <a:prstGeom prst="rect">
            <a:avLst/>
          </a:prstGeom>
          <a:noFill/>
          <a:ln w="12700" cap="flat" cmpd="sng" algn="ctr">
            <a:solidFill>
              <a:srgbClr val="0DD2D9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12"/>
          <p:cNvSpPr txBox="1"/>
          <p:nvPr>
            <p:custDataLst>
              <p:tags r:id="rId3"/>
            </p:custDataLst>
          </p:nvPr>
        </p:nvSpPr>
        <p:spPr bwMode="auto">
          <a:xfrm>
            <a:off x="1744663" y="1037710"/>
            <a:ext cx="5738812" cy="3693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Адрес на клетка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85813" y="873125"/>
            <a:ext cx="684212" cy="684213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0DD2D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14400" y="962025"/>
            <a:ext cx="557213" cy="5238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 fontAlgn="auto" latinLnBrk="1"/>
            <a:r>
              <a:rPr lang="bg-BG" altLang="ko-KR" sz="2800"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DD2D9"/>
                </a:solidFill>
                <a:latin typeface="Arial"/>
                <a:cs typeface="Arial" pitchFamily="34" charset="0"/>
                <a:sym typeface="Wingdings"/>
              </a:rPr>
              <a:t>а)</a:t>
            </a:r>
            <a:endParaRPr lang="ko-KR" altLang="en-US" sz="2800" b="1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9" name="TextBox 12"/>
          <p:cNvSpPr txBox="1"/>
          <p:nvPr>
            <p:custDataLst>
              <p:tags r:id="rId6"/>
            </p:custDataLst>
          </p:nvPr>
        </p:nvSpPr>
        <p:spPr bwMode="auto">
          <a:xfrm>
            <a:off x="1111250" y="1595150"/>
            <a:ext cx="3792538" cy="5847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sz="16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Името на колоната и номера на реда</a:t>
            </a:r>
          </a:p>
          <a:p>
            <a:pPr fontAlgn="auto"/>
            <a:r>
              <a:rPr lang="bg-BG" altLang="ko-KR" sz="16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Пример: </a:t>
            </a:r>
            <a:r>
              <a:rPr lang="bg-BG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В3</a:t>
            </a:r>
            <a:r>
              <a:rPr lang="en-US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, A4, F5, …</a:t>
            </a:r>
            <a:endParaRPr lang="bg-BG" altLang="ko-KR" sz="1600" b="1" i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sym typeface="Wingdings"/>
            </a:endParaRPr>
          </a:p>
        </p:txBody>
      </p:sp>
      <p:pic>
        <p:nvPicPr>
          <p:cNvPr id="23560" name="Картина 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" t="5199" r="85435" b="67499"/>
          <a:stretch>
            <a:fillRect/>
          </a:stretch>
        </p:blipFill>
        <p:spPr bwMode="auto">
          <a:xfrm>
            <a:off x="5435600" y="812800"/>
            <a:ext cx="1712913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" name="Овал 9"/>
          <p:cNvSpPr/>
          <p:nvPr>
            <p:custDataLst>
              <p:tags r:id="rId8"/>
            </p:custDataLst>
          </p:nvPr>
        </p:nvSpPr>
        <p:spPr>
          <a:xfrm>
            <a:off x="5989638" y="2625725"/>
            <a:ext cx="687387" cy="466725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bg-BG"/>
          </a:p>
        </p:txBody>
      </p:sp>
      <p:cxnSp>
        <p:nvCxnSpPr>
          <p:cNvPr id="23562" name="Съединител &quot;права стрелка&quot; 11"/>
          <p:cNvCxnSpPr>
            <a:cxnSpLocks noChangeArrowheads="1" noChangeShapeType="1"/>
          </p:cNvCxnSpPr>
          <p:nvPr>
            <p:custDataLst>
              <p:tags r:id="rId9"/>
            </p:custDataLst>
          </p:nvPr>
        </p:nvCxnSpPr>
        <p:spPr bwMode="auto">
          <a:xfrm flipH="1" flipV="1">
            <a:off x="5732463" y="2216150"/>
            <a:ext cx="292100" cy="525463"/>
          </a:xfrm>
          <a:prstGeom prst="straightConnector1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3"/>
          <p:cNvSpPr/>
          <p:nvPr>
            <p:custDataLst>
              <p:tags r:id="rId10"/>
            </p:custDataLst>
          </p:nvPr>
        </p:nvSpPr>
        <p:spPr>
          <a:xfrm>
            <a:off x="1250950" y="2387600"/>
            <a:ext cx="3443288" cy="615950"/>
          </a:xfrm>
          <a:prstGeom prst="rect">
            <a:avLst/>
          </a:prstGeom>
          <a:noFill/>
          <a:ln w="12700" cap="flat" cmpd="sng" algn="ctr">
            <a:solidFill>
              <a:srgbClr val="0DD2D9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2"/>
          <p:cNvSpPr txBox="1"/>
          <p:nvPr>
            <p:custDataLst>
              <p:tags r:id="rId11"/>
            </p:custDataLst>
          </p:nvPr>
        </p:nvSpPr>
        <p:spPr bwMode="auto">
          <a:xfrm>
            <a:off x="1728788" y="2445822"/>
            <a:ext cx="2779712" cy="3693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Област от клетки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Oval 4"/>
          <p:cNvSpPr/>
          <p:nvPr>
            <p:custDataLst>
              <p:tags r:id="rId12"/>
            </p:custDataLst>
          </p:nvPr>
        </p:nvSpPr>
        <p:spPr>
          <a:xfrm>
            <a:off x="768350" y="2360613"/>
            <a:ext cx="684213" cy="684212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0DD2D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1"/>
            <a:endParaRPr lang="ko-KR" altLang="en-US"/>
          </a:p>
        </p:txBody>
      </p:sp>
      <p:sp>
        <p:nvSpPr>
          <p:cNvPr id="20" name="TextBox 5"/>
          <p:cNvSpPr txBox="1"/>
          <p:nvPr>
            <p:custDataLst>
              <p:tags r:id="rId13"/>
            </p:custDataLst>
          </p:nvPr>
        </p:nvSpPr>
        <p:spPr>
          <a:xfrm>
            <a:off x="914400" y="2441575"/>
            <a:ext cx="557213" cy="5238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algn="ctr" fontAlgn="auto" latinLnBrk="1"/>
            <a:r>
              <a:rPr lang="bg-BG" altLang="ko-KR" sz="2800"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DD2D9"/>
                </a:solidFill>
                <a:latin typeface="Arial"/>
                <a:cs typeface="Arial" pitchFamily="34" charset="0"/>
                <a:sym typeface="Wingdings"/>
              </a:rPr>
              <a:t>б)</a:t>
            </a:r>
            <a:endParaRPr lang="ko-KR" altLang="en-US" sz="2800" b="1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1" name="TextBox 12"/>
          <p:cNvSpPr txBox="1"/>
          <p:nvPr>
            <p:custDataLst>
              <p:tags r:id="rId14"/>
            </p:custDataLst>
          </p:nvPr>
        </p:nvSpPr>
        <p:spPr bwMode="auto">
          <a:xfrm>
            <a:off x="1087438" y="3035116"/>
            <a:ext cx="7632700" cy="8309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sz="16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Две или повече клетки в един работен лист, техния адрес се изписва от адресите на първата в ляво и последната в дясно клетки, разделени с </a:t>
            </a:r>
            <a:r>
              <a:rPr lang="bg-BG" altLang="ko-KR" sz="16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двуеточие</a:t>
            </a:r>
            <a:endParaRPr lang="bg-BG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/>
            <a:r>
              <a:rPr lang="bg-BG" altLang="ko-KR" sz="1600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Пример: </a:t>
            </a:r>
            <a:r>
              <a:rPr lang="bg-BG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В3</a:t>
            </a:r>
            <a:r>
              <a:rPr lang="bg-BG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sym typeface="Wingdings"/>
              </a:rPr>
              <a:t>:</a:t>
            </a:r>
            <a:r>
              <a:rPr lang="en-US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F7, A4</a:t>
            </a:r>
            <a:r>
              <a:rPr lang="en-US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sym typeface="Wingdings"/>
              </a:rPr>
              <a:t>:</a:t>
            </a:r>
            <a:r>
              <a:rPr lang="en-US" altLang="ko-KR" sz="1600" b="1" i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C23, ….</a:t>
            </a:r>
            <a:endParaRPr lang="bg-BG" altLang="ko-KR" sz="16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568" name="Картина 14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99" r="73230" b="66100"/>
          <a:stretch>
            <a:fillRect/>
          </a:stretch>
        </p:blipFill>
        <p:spPr bwMode="auto">
          <a:xfrm>
            <a:off x="2849562" y="3794124"/>
            <a:ext cx="4026693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cxnSp>
        <p:nvCxnSpPr>
          <p:cNvPr id="23570" name="Съединител &quot;права стрелка&quot; 24"/>
          <p:cNvCxnSpPr>
            <a:cxnSpLocks noChangeArrowheads="1" noChangeShapeType="1"/>
          </p:cNvCxnSpPr>
          <p:nvPr>
            <p:custDataLst>
              <p:tags r:id="rId16"/>
            </p:custDataLst>
          </p:nvPr>
        </p:nvCxnSpPr>
        <p:spPr bwMode="auto">
          <a:xfrm flipH="1" flipV="1">
            <a:off x="3132138" y="3973513"/>
            <a:ext cx="287337" cy="469900"/>
          </a:xfrm>
          <a:prstGeom prst="straightConnector1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Закръглен правоъгълник 1"/>
          <p:cNvSpPr/>
          <p:nvPr/>
        </p:nvSpPr>
        <p:spPr>
          <a:xfrm>
            <a:off x="3491880" y="4443412"/>
            <a:ext cx="3384374" cy="70008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"/>
          <p:cNvSpPr txBox="1"/>
          <p:nvPr>
            <p:custDataLst>
              <p:tags r:id="rId1"/>
            </p:custDataLst>
          </p:nvPr>
        </p:nvSpPr>
        <p:spPr>
          <a:xfrm>
            <a:off x="733425" y="190500"/>
            <a:ext cx="8388350" cy="576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/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2. Формули в електронна таблица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Box 12"/>
          <p:cNvSpPr txBox="1"/>
          <p:nvPr>
            <p:custDataLst>
              <p:tags r:id="rId2"/>
            </p:custDataLst>
          </p:nvPr>
        </p:nvSpPr>
        <p:spPr bwMode="auto">
          <a:xfrm>
            <a:off x="611560" y="906777"/>
            <a:ext cx="8119822" cy="25853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ru-RU" b="1" dirty="0"/>
              <a:t>Формула в </a:t>
            </a:r>
            <a:r>
              <a:rPr lang="ru-RU" b="1" dirty="0" err="1"/>
              <a:t>електронна</a:t>
            </a:r>
            <a:r>
              <a:rPr lang="ru-RU" b="1" dirty="0"/>
              <a:t> таблица</a:t>
            </a:r>
            <a:r>
              <a:rPr lang="ru-RU" dirty="0"/>
              <a:t> е </a:t>
            </a:r>
            <a:r>
              <a:rPr lang="ru-RU" dirty="0" err="1"/>
              <a:t>последователност</a:t>
            </a:r>
            <a:r>
              <a:rPr lang="ru-RU" dirty="0"/>
              <a:t> от </a:t>
            </a:r>
            <a:r>
              <a:rPr lang="ru-RU" dirty="0" err="1"/>
              <a:t>различни</a:t>
            </a:r>
            <a:r>
              <a:rPr lang="ru-RU" dirty="0"/>
              <a:t> </a:t>
            </a:r>
          </a:p>
          <a:p>
            <a:pPr algn="ctr" fontAlgn="auto"/>
            <a:r>
              <a:rPr lang="ru-RU" dirty="0"/>
              <a:t>действия: </a:t>
            </a:r>
            <a:r>
              <a:rPr lang="ru-RU" dirty="0" err="1"/>
              <a:t>събиране</a:t>
            </a:r>
            <a:r>
              <a:rPr lang="ru-RU" dirty="0"/>
              <a:t>, </a:t>
            </a:r>
            <a:r>
              <a:rPr lang="ru-RU" dirty="0" err="1"/>
              <a:t>изваждане</a:t>
            </a:r>
            <a:r>
              <a:rPr lang="ru-RU" dirty="0"/>
              <a:t>, умножение, деление, </a:t>
            </a:r>
            <a:r>
              <a:rPr lang="ru-RU" dirty="0" err="1"/>
              <a:t>степенуване</a:t>
            </a:r>
            <a:r>
              <a:rPr lang="ru-RU" dirty="0"/>
              <a:t> и др. </a:t>
            </a:r>
            <a:r>
              <a:rPr lang="ru-RU" dirty="0" err="1"/>
              <a:t>със</a:t>
            </a:r>
            <a:r>
              <a:rPr lang="ru-RU" dirty="0"/>
              <a:t> </a:t>
            </a:r>
            <a:r>
              <a:rPr lang="ru-RU" dirty="0" err="1"/>
              <a:t>стойности</a:t>
            </a:r>
            <a:r>
              <a:rPr lang="ru-RU" dirty="0"/>
              <a:t> на клетки, числа и др. </a:t>
            </a:r>
            <a:endParaRPr lang="en-US" dirty="0"/>
          </a:p>
          <a:p>
            <a:pPr algn="ctr" fontAlgn="auto"/>
            <a:r>
              <a:rPr lang="bg-BG" altLang="ko-KR" dirty="0">
                <a:sym typeface="Wingdings"/>
              </a:rPr>
              <a:t>За да изпишем формула, въвеждаме знака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“</a:t>
            </a:r>
            <a:r>
              <a:rPr lang="bg-BG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=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“ </a:t>
            </a:r>
            <a:r>
              <a:rPr lang="en-US" altLang="ko-KR" dirty="0">
                <a:sym typeface="Wingdings"/>
              </a:rPr>
              <a:t>,</a:t>
            </a:r>
            <a:r>
              <a:rPr lang="bg-BG" altLang="ko-KR" dirty="0">
                <a:sym typeface="Wingdings"/>
              </a:rPr>
              <a:t> след това чрез мишката избираме клетката с която искаме да започнем, избираме действието което ни е нужно да извършим и клетката</a:t>
            </a:r>
            <a:r>
              <a:rPr lang="en-US" altLang="ko-KR" dirty="0">
                <a:sym typeface="Wingdings"/>
              </a:rPr>
              <a:t>,</a:t>
            </a:r>
            <a:r>
              <a:rPr lang="bg-BG" altLang="ko-KR" dirty="0">
                <a:sym typeface="Wingdings"/>
              </a:rPr>
              <a:t> с която трябва да бъде извършено</a:t>
            </a:r>
            <a:r>
              <a:rPr lang="en-US" altLang="ko-KR" dirty="0">
                <a:sym typeface="Wingdings"/>
              </a:rPr>
              <a:t>, </a:t>
            </a:r>
            <a:endParaRPr lang="bg-BG" altLang="ko-KR" dirty="0">
              <a:sym typeface="Wingdings"/>
            </a:endParaRPr>
          </a:p>
          <a:p>
            <a:pPr algn="ctr" fontAlgn="auto"/>
            <a:r>
              <a:rPr lang="ru-RU" dirty="0"/>
              <a:t>натиска</a:t>
            </a:r>
            <a:r>
              <a:rPr lang="bg-BG" dirty="0"/>
              <a:t>м</a:t>
            </a:r>
            <a:r>
              <a:rPr lang="ru-RU" dirty="0"/>
              <a:t>е клавиша </a:t>
            </a:r>
            <a:r>
              <a:rPr lang="ru-RU" b="1" dirty="0" err="1"/>
              <a:t>Enter</a:t>
            </a:r>
            <a:r>
              <a:rPr lang="ru-RU" b="1" dirty="0"/>
              <a:t>.</a:t>
            </a:r>
          </a:p>
          <a:p>
            <a:pPr algn="ctr" fontAlgn="auto"/>
            <a:r>
              <a:rPr lang="ru-RU" dirty="0"/>
              <a:t>При </a:t>
            </a:r>
            <a:r>
              <a:rPr lang="ru-RU" dirty="0" err="1"/>
              <a:t>промяна</a:t>
            </a:r>
            <a:r>
              <a:rPr lang="ru-RU" dirty="0"/>
              <a:t> на </a:t>
            </a:r>
            <a:r>
              <a:rPr lang="ru-RU" dirty="0" err="1"/>
              <a:t>стойността</a:t>
            </a:r>
            <a:r>
              <a:rPr lang="ru-RU" dirty="0"/>
              <a:t> в дадена клетка, </a:t>
            </a:r>
            <a:r>
              <a:rPr lang="ru-RU" dirty="0" err="1"/>
              <a:t>участваща</a:t>
            </a:r>
            <a:r>
              <a:rPr lang="ru-RU" dirty="0"/>
              <a:t> </a:t>
            </a:r>
            <a:r>
              <a:rPr lang="ru-RU" dirty="0" err="1"/>
              <a:t>във</a:t>
            </a:r>
            <a:r>
              <a:rPr lang="ru-RU" dirty="0"/>
              <a:t> </a:t>
            </a:r>
            <a:r>
              <a:rPr lang="ru-RU" dirty="0" err="1"/>
              <a:t>формулата</a:t>
            </a:r>
            <a:r>
              <a:rPr lang="ru-RU" dirty="0"/>
              <a:t>,  </a:t>
            </a:r>
          </a:p>
          <a:p>
            <a:pPr algn="ctr" fontAlgn="auto"/>
            <a:r>
              <a:rPr lang="ru-RU" dirty="0"/>
              <a:t>автоматично се </a:t>
            </a:r>
            <a:r>
              <a:rPr lang="ru-RU" dirty="0" err="1"/>
              <a:t>променя</a:t>
            </a:r>
            <a:r>
              <a:rPr lang="ru-RU" dirty="0"/>
              <a:t> и </a:t>
            </a:r>
            <a:r>
              <a:rPr lang="ru-RU" dirty="0" err="1"/>
              <a:t>резултатът</a:t>
            </a:r>
            <a:r>
              <a:rPr lang="ru-RU" dirty="0"/>
              <a:t> в </a:t>
            </a:r>
            <a:r>
              <a:rPr lang="ru-RU" dirty="0" err="1"/>
              <a:t>клетката</a:t>
            </a:r>
            <a:r>
              <a:rPr lang="ru-RU" dirty="0"/>
              <a:t> с </a:t>
            </a:r>
            <a:r>
              <a:rPr lang="ru-RU" dirty="0" err="1"/>
              <a:t>формулата</a:t>
            </a:r>
            <a:r>
              <a:rPr lang="ru-RU" dirty="0"/>
              <a:t>.</a:t>
            </a:r>
            <a:endParaRPr lang="bg-BG" altLang="ko-K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788193"/>
            <a:ext cx="3199343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3591366"/>
            <a:ext cx="3145329" cy="1473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/>
          <p:nvPr>
            <p:custDataLst>
              <p:tags r:id="rId1"/>
            </p:custDataLst>
          </p:nvPr>
        </p:nvSpPr>
        <p:spPr>
          <a:xfrm>
            <a:off x="220663" y="393700"/>
            <a:ext cx="8942387" cy="576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/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3. Действия с формули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авоъгълник 4"/>
          <p:cNvSpPr/>
          <p:nvPr>
            <p:custDataLst>
              <p:tags r:id="rId2"/>
            </p:custDataLst>
          </p:nvPr>
        </p:nvSpPr>
        <p:spPr>
          <a:xfrm>
            <a:off x="468313" y="1419225"/>
            <a:ext cx="4572000" cy="17541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285750" indent="-285750" fontAlgn="auto" latinLnBrk="1">
              <a:buFontTx/>
              <a:buChar char="-"/>
            </a:pPr>
            <a:r>
              <a:rPr lang="bg-BG" altLang="ko-KR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Събиране</a:t>
            </a:r>
            <a:r>
              <a:rPr lang="en-US" altLang="ko-KR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 </a:t>
            </a:r>
            <a:endParaRPr lang="bg-BG" altLang="ko-KR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Bookman Old Style" pitchFamily="18" charset="0"/>
              <a:cs typeface="Arial" pitchFamily="34" charset="0"/>
              <a:sym typeface="Wingdings"/>
            </a:endParaRPr>
          </a:p>
          <a:p>
            <a:pPr marL="285750" indent="-285750" fontAlgn="auto" latinLnBrk="1">
              <a:buFontTx/>
              <a:buChar char="-"/>
            </a:pPr>
            <a:r>
              <a:rPr 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Изваждане</a:t>
            </a:r>
            <a:r>
              <a:rPr lang="en-US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 </a:t>
            </a:r>
            <a:endParaRPr lang="bg-BG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Bookman Old Style" pitchFamily="18" charset="0"/>
              <a:cs typeface="Arial" pitchFamily="34" charset="0"/>
              <a:sym typeface="Wingdings"/>
            </a:endParaRPr>
          </a:p>
          <a:p>
            <a:pPr marL="285750" indent="-285750" fontAlgn="auto" latinLnBrk="1">
              <a:buFontTx/>
              <a:buChar char="-"/>
            </a:pPr>
            <a:r>
              <a:rPr 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Умножение</a:t>
            </a:r>
          </a:p>
          <a:p>
            <a:pPr marL="285750" indent="-285750" fontAlgn="auto" latinLnBrk="1">
              <a:buFontTx/>
              <a:buChar char="-"/>
            </a:pPr>
            <a:r>
              <a:rPr 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Деление</a:t>
            </a:r>
          </a:p>
          <a:p>
            <a:pPr marL="285750" indent="-285750" fontAlgn="auto" latinLnBrk="1">
              <a:buFontTx/>
              <a:buChar char="-"/>
            </a:pPr>
            <a:r>
              <a:rPr 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Степенуване</a:t>
            </a:r>
          </a:p>
          <a:p>
            <a:pPr marL="285750" indent="-285750" fontAlgn="auto" latinLnBrk="1">
              <a:buFontTx/>
              <a:buChar char="-"/>
            </a:pPr>
            <a:r>
              <a:rPr lang="bg-BG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Bookman Old Style" pitchFamily="18" charset="0"/>
                <a:cs typeface="Arial" pitchFamily="34" charset="0"/>
                <a:sym typeface="Wingdings"/>
              </a:rPr>
              <a:t>Процент</a:t>
            </a:r>
            <a:endParaRPr lang="bg-BG" dirty="0">
              <a:latin typeface="Bookman Old Style" pitchFamily="18" charset="0"/>
            </a:endParaRPr>
          </a:p>
        </p:txBody>
      </p:sp>
      <p:pic>
        <p:nvPicPr>
          <p:cNvPr id="25604" name="Картина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275606"/>
            <a:ext cx="5258196" cy="2473375"/>
          </a:xfrm>
          <a:prstGeom prst="rect">
            <a:avLst/>
          </a:prstGeom>
          <a:solidFill>
            <a:srgbClr val="EDEDE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Текстово поле 2"/>
          <p:cNvSpPr txBox="1"/>
          <p:nvPr/>
        </p:nvSpPr>
        <p:spPr>
          <a:xfrm>
            <a:off x="2123728" y="4873196"/>
            <a:ext cx="523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1200" dirty="0">
                <a:latin typeface="Bookman Old Style" pitchFamily="18" charset="0"/>
                <a:cs typeface="Calibri" pitchFamily="34" charset="0"/>
              </a:rPr>
              <a:t>КМИТ, 6 клас, Маврова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Упражнение 1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Зад.1/стр.28 от учебника</a:t>
            </a: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323528" y="1131590"/>
            <a:ext cx="8676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+mj-lt"/>
              </a:rPr>
              <a:t>Изтеглете файла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stoka.xlsx</a:t>
            </a:r>
            <a:r>
              <a:rPr lang="bg-BG" sz="2000" dirty="0">
                <a:latin typeface="+mj-lt"/>
              </a:rPr>
              <a:t> от приложените материали и го съхранете в работната папка на Вашия компютър. Отворете файла. Въведете формули, с които да пресметнете общата сума на всяка закупена стока.</a:t>
            </a:r>
          </a:p>
        </p:txBody>
      </p:sp>
      <p:sp>
        <p:nvSpPr>
          <p:cNvPr id="6" name="Текстово поле 2"/>
          <p:cNvSpPr txBox="1"/>
          <p:nvPr/>
        </p:nvSpPr>
        <p:spPr>
          <a:xfrm>
            <a:off x="2123728" y="4873196"/>
            <a:ext cx="523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1200" dirty="0">
                <a:latin typeface="Bookman Old Style" pitchFamily="18" charset="0"/>
                <a:cs typeface="Calibri" pitchFamily="34" charset="0"/>
              </a:rPr>
              <a:t>КМИТ, 6 клас, Маврова-Ненкова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71" r="80000" b="47531"/>
          <a:stretch/>
        </p:blipFill>
        <p:spPr bwMode="auto">
          <a:xfrm>
            <a:off x="2843808" y="2247486"/>
            <a:ext cx="2988651" cy="2201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04585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"/>
          <p:cNvSpPr txBox="1"/>
          <p:nvPr>
            <p:custDataLst>
              <p:tags r:id="rId1"/>
            </p:custDataLst>
          </p:nvPr>
        </p:nvSpPr>
        <p:spPr>
          <a:xfrm>
            <a:off x="468313" y="328576"/>
            <a:ext cx="8582025" cy="576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/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4. Вградени функции в електронна таблица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Box 12"/>
          <p:cNvSpPr txBox="1"/>
          <p:nvPr>
            <p:custDataLst>
              <p:tags r:id="rId2"/>
            </p:custDataLst>
          </p:nvPr>
        </p:nvSpPr>
        <p:spPr bwMode="auto">
          <a:xfrm>
            <a:off x="475058" y="1285478"/>
            <a:ext cx="8132762" cy="16312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Вградена функция е предварително създадена формула, която извършва изчисления с помощта на конкретни стойности, наречени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аргументи.</a:t>
            </a:r>
          </a:p>
          <a:p>
            <a:pPr fontAlgn="auto"/>
            <a:endParaRPr lang="bg-BG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Всички функции в 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Excel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 могат да се избират от </a:t>
            </a:r>
            <a:r>
              <a:rPr lang="en-US" altLang="ko-KR" sz="2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sym typeface="Wingdings"/>
              </a:rPr>
              <a:t>f</a:t>
            </a:r>
            <a:r>
              <a:rPr lang="en-US" altLang="ko-KR" sz="2000" b="1" baseline="-25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sym typeface="Wingdings"/>
              </a:rPr>
              <a:t>x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sym typeface="Wingdings"/>
              </a:rPr>
              <a:t> </a:t>
            </a:r>
            <a:endParaRPr lang="bg-BG" altLang="ko-KR" sz="2000" b="1" dirty="0">
              <a:solidFill>
                <a:srgbClr val="FF0000"/>
              </a:solidFill>
            </a:endParaRPr>
          </a:p>
        </p:txBody>
      </p:sp>
      <p:pic>
        <p:nvPicPr>
          <p:cNvPr id="26628" name="Картина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5" t="13599" r="77562" b="78699"/>
          <a:stretch>
            <a:fillRect/>
          </a:stretch>
        </p:blipFill>
        <p:spPr bwMode="auto">
          <a:xfrm>
            <a:off x="2483768" y="3276376"/>
            <a:ext cx="4104456" cy="1289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Овал 5"/>
          <p:cNvSpPr/>
          <p:nvPr>
            <p:custDataLst>
              <p:tags r:id="rId4"/>
            </p:custDataLst>
          </p:nvPr>
        </p:nvSpPr>
        <p:spPr>
          <a:xfrm>
            <a:off x="3707904" y="3509963"/>
            <a:ext cx="411163" cy="41128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bg-BG"/>
          </a:p>
        </p:txBody>
      </p:sp>
      <p:cxnSp>
        <p:nvCxnSpPr>
          <p:cNvPr id="26630" name="Съединител &quot;права стрелка&quot; 6"/>
          <p:cNvCxnSpPr>
            <a:cxnSpLocks noChangeArrowheads="1" noChangeShapeType="1"/>
          </p:cNvCxnSpPr>
          <p:nvPr>
            <p:custDataLst>
              <p:tags r:id="rId5"/>
            </p:custDataLst>
          </p:nvPr>
        </p:nvCxnSpPr>
        <p:spPr bwMode="auto">
          <a:xfrm>
            <a:off x="4053185" y="3939382"/>
            <a:ext cx="131763" cy="144462"/>
          </a:xfrm>
          <a:prstGeom prst="straightConnector1">
            <a:avLst/>
          </a:prstGeom>
          <a:noFill/>
          <a:ln w="38100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Текстово поле 2"/>
          <p:cNvSpPr txBox="1"/>
          <p:nvPr/>
        </p:nvSpPr>
        <p:spPr>
          <a:xfrm>
            <a:off x="2123728" y="4873196"/>
            <a:ext cx="523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1200" dirty="0">
                <a:latin typeface="Bookman Old Style" pitchFamily="18" charset="0"/>
                <a:cs typeface="Calibri" pitchFamily="34" charset="0"/>
              </a:rPr>
              <a:t>КМИТ, 6 клас, Маврова-Ненкова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/>
          <p:cNvSpPr txBox="1"/>
          <p:nvPr>
            <p:custDataLst>
              <p:tags r:id="rId1"/>
            </p:custDataLst>
          </p:nvPr>
        </p:nvSpPr>
        <p:spPr bwMode="auto">
          <a:xfrm>
            <a:off x="168491" y="267494"/>
            <a:ext cx="8424936" cy="10156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Всички функции в 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Excel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 могат да се избират и от </a:t>
            </a:r>
            <a:endParaRPr lang="en-US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sym typeface="Wingdings"/>
            </a:endParaRPr>
          </a:p>
          <a:p>
            <a:pPr fontAlgn="auto"/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Формули/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Formulas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 </a:t>
            </a:r>
            <a:r>
              <a:rPr lang="bg-BG" altLang="ko-KR" sz="2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Автосумиране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/</a:t>
            </a:r>
            <a:r>
              <a:rPr lang="en-US" altLang="ko-KR" sz="20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Autosum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 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или от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Формули/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Formulas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 pitchFamily="2" charset="2"/>
              </a:rPr>
              <a:t> Вмъкване на функция/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Insert Functions</a:t>
            </a:r>
            <a:endParaRPr lang="bg-BG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8" y="1692355"/>
            <a:ext cx="4500949" cy="1854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Овал 5"/>
          <p:cNvSpPr/>
          <p:nvPr>
            <p:custDataLst>
              <p:tags r:id="rId2"/>
            </p:custDataLst>
          </p:nvPr>
        </p:nvSpPr>
        <p:spPr>
          <a:xfrm>
            <a:off x="1051248" y="1938117"/>
            <a:ext cx="1336226" cy="26330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bg-BG"/>
          </a:p>
        </p:txBody>
      </p:sp>
      <p:sp>
        <p:nvSpPr>
          <p:cNvPr id="7" name="Овал 6"/>
          <p:cNvSpPr/>
          <p:nvPr>
            <p:custDataLst>
              <p:tags r:id="rId3"/>
            </p:custDataLst>
          </p:nvPr>
        </p:nvSpPr>
        <p:spPr>
          <a:xfrm>
            <a:off x="4172126" y="1687292"/>
            <a:ext cx="727127" cy="250825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bg-BG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3749583"/>
            <a:ext cx="5000625" cy="1270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Овал 9"/>
          <p:cNvSpPr/>
          <p:nvPr>
            <p:custDataLst>
              <p:tags r:id="rId4"/>
            </p:custDataLst>
          </p:nvPr>
        </p:nvSpPr>
        <p:spPr>
          <a:xfrm>
            <a:off x="7801339" y="3750229"/>
            <a:ext cx="792088" cy="250825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bg-BG"/>
          </a:p>
        </p:txBody>
      </p:sp>
      <p:sp>
        <p:nvSpPr>
          <p:cNvPr id="11" name="Овал 10"/>
          <p:cNvSpPr/>
          <p:nvPr>
            <p:custDataLst>
              <p:tags r:id="rId5"/>
            </p:custDataLst>
          </p:nvPr>
        </p:nvSpPr>
        <p:spPr>
          <a:xfrm>
            <a:off x="4085736" y="3749583"/>
            <a:ext cx="792088" cy="7874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fontAlgn="auto" latinLnBrk="1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62836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/>
          <p:cNvSpPr txBox="1"/>
          <p:nvPr>
            <p:custDataLst>
              <p:tags r:id="rId1"/>
            </p:custDataLst>
          </p:nvPr>
        </p:nvSpPr>
        <p:spPr bwMode="auto">
          <a:xfrm>
            <a:off x="395536" y="286327"/>
            <a:ext cx="4176464" cy="37856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И трите начина за вмъкване на вградена функция в 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Excel 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водят до отваряне на прозореца Вмъкване на функция/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Insert function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.</a:t>
            </a:r>
          </a:p>
          <a:p>
            <a:pPr fontAlgn="auto"/>
            <a:endParaRPr lang="en-US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sym typeface="Wingdings"/>
            </a:endParaRPr>
          </a:p>
          <a:p>
            <a:pPr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Функциите </a:t>
            </a:r>
          </a:p>
          <a:p>
            <a:pPr fontAlgn="auto"/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Минимум/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MIN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, </a:t>
            </a:r>
            <a:endParaRPr lang="bg-BG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sym typeface="Wingdings"/>
            </a:endParaRPr>
          </a:p>
          <a:p>
            <a:pPr fontAlgn="auto"/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Максимум/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MAX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, </a:t>
            </a:r>
            <a:endParaRPr lang="bg-BG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sym typeface="Wingdings"/>
            </a:endParaRPr>
          </a:p>
          <a:p>
            <a:pPr fontAlgn="auto"/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Средно аритметично/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AVERAGE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 </a:t>
            </a:r>
          </a:p>
          <a:p>
            <a:pPr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sym typeface="Wingdings"/>
              </a:rPr>
              <a:t>и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Сума/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SUM</a:t>
            </a:r>
            <a:endParaRPr lang="bg-BG" altLang="ko-KR" sz="20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/>
            </a:endParaRPr>
          </a:p>
          <a:p>
            <a:pPr fontAlgn="auto"/>
            <a:r>
              <a:rPr lang="bg-BG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се намират в категория </a:t>
            </a:r>
            <a:r>
              <a:rPr lang="bg-BG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Статистически/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Statistical</a:t>
            </a:r>
            <a:endParaRPr lang="bg-BG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50366"/>
            <a:ext cx="401955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Текстово поле 2"/>
          <p:cNvSpPr txBox="1"/>
          <p:nvPr/>
        </p:nvSpPr>
        <p:spPr>
          <a:xfrm>
            <a:off x="2123728" y="4873196"/>
            <a:ext cx="523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1200" dirty="0">
                <a:latin typeface="Bookman Old Style" pitchFamily="18" charset="0"/>
                <a:cs typeface="Calibri" pitchFamily="34" charset="0"/>
              </a:rPr>
              <a:t>КМИТ, 6 клас,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12326192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Упражнение 2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sz="quarter" idx="11"/>
          </p:nvPr>
        </p:nvSpPr>
        <p:spPr>
          <a:xfrm>
            <a:off x="0" y="843558"/>
            <a:ext cx="9144000" cy="288032"/>
          </a:xfrm>
        </p:spPr>
        <p:txBody>
          <a:bodyPr/>
          <a:lstStyle/>
          <a:p>
            <a:r>
              <a:rPr lang="bg-BG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Зад.2/стр.29 от учебника</a:t>
            </a: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323528" y="1563638"/>
            <a:ext cx="84969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>
                <a:latin typeface="+mj-lt"/>
              </a:rPr>
              <a:t>Отворете файла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stoka.xlsx</a:t>
            </a:r>
            <a:r>
              <a:rPr lang="en-US" sz="2400" dirty="0">
                <a:latin typeface="+mj-lt"/>
              </a:rPr>
              <a:t>. </a:t>
            </a:r>
            <a:endParaRPr lang="bg-BG" sz="2400" dirty="0">
              <a:latin typeface="+mj-lt"/>
            </a:endParaRPr>
          </a:p>
          <a:p>
            <a:pPr algn="ctr"/>
            <a:r>
              <a:rPr lang="bg-BG" sz="2400" dirty="0">
                <a:latin typeface="+mj-lt"/>
              </a:rPr>
              <a:t>Като използвате вградените функции </a:t>
            </a:r>
            <a:r>
              <a:rPr lang="en-US" sz="2400" dirty="0">
                <a:latin typeface="+mj-lt"/>
              </a:rPr>
              <a:t>SUM, MIN, MAX, AVERAGE</a:t>
            </a:r>
            <a:r>
              <a:rPr lang="bg-BG" sz="2400" dirty="0">
                <a:latin typeface="+mj-lt"/>
              </a:rPr>
              <a:t>. </a:t>
            </a:r>
          </a:p>
          <a:p>
            <a:endParaRPr lang="bg-BG" sz="2400" dirty="0">
              <a:latin typeface="+mj-lt"/>
            </a:endParaRPr>
          </a:p>
          <a:p>
            <a:pPr algn="ctr"/>
            <a:r>
              <a:rPr lang="bg-BG" sz="2400" dirty="0">
                <a:latin typeface="+mj-lt"/>
              </a:rPr>
              <a:t>ПРЕСМЕТНЕТЕ ОБЩИЯ БРОЙ И ОБЩАТА СТОЙНОСТ НА ЗАКУПЕНИТЕ СТОКИ, </a:t>
            </a:r>
            <a:r>
              <a:rPr lang="bg-BG" sz="2400" dirty="0" err="1">
                <a:latin typeface="+mj-lt"/>
              </a:rPr>
              <a:t>СТОКИ</a:t>
            </a:r>
            <a:r>
              <a:rPr lang="bg-BG" sz="2400" dirty="0">
                <a:latin typeface="+mj-lt"/>
              </a:rPr>
              <a:t>, СТОЙНОСТТА НА СТОКАТА С НАЙ-НИСКА ЦЕНА И НАЙ-ВИСОКА ЦЕНА И СРЕДНИЯ БРОЙ НА ЗАКУПЕНИТЕ СТОКИ.</a:t>
            </a:r>
          </a:p>
        </p:txBody>
      </p:sp>
      <p:sp>
        <p:nvSpPr>
          <p:cNvPr id="7" name="Текстово поле 2"/>
          <p:cNvSpPr txBox="1"/>
          <p:nvPr/>
        </p:nvSpPr>
        <p:spPr>
          <a:xfrm>
            <a:off x="2123728" y="4873196"/>
            <a:ext cx="5237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r>
              <a:rPr lang="bg-BG" sz="1200" dirty="0">
                <a:latin typeface="Bookman Old Style" pitchFamily="18" charset="0"/>
                <a:cs typeface="Calibri" pitchFamily="34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294984581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heme/theme1.xml><?xml version="1.0" encoding="utf-8"?>
<a:theme xmlns:a="http://schemas.openxmlformats.org/drawingml/2006/main" name="Cover and End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5273</TotalTime>
  <Words>457</Words>
  <Application>Microsoft Office PowerPoint</Application>
  <PresentationFormat>Презентация на цял екран (16:9)</PresentationFormat>
  <Paragraphs>54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Заглавия на слайдовете</vt:lpstr>
      </vt:variant>
      <vt:variant>
        <vt:i4>9</vt:i4>
      </vt:variant>
    </vt:vector>
  </HeadingPairs>
  <TitlesOfParts>
    <vt:vector size="17" baseType="lpstr">
      <vt:lpstr>굴림</vt:lpstr>
      <vt:lpstr>맑은 고딕</vt:lpstr>
      <vt:lpstr>Arial</vt:lpstr>
      <vt:lpstr>Bookman Old Style</vt:lpstr>
      <vt:lpstr>Wingdings</vt:lpstr>
      <vt:lpstr>Cover and End Slide Master</vt:lpstr>
      <vt:lpstr>Contents Slide Master</vt:lpstr>
      <vt:lpstr>Section Break Slide Master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Формули и функции с таблични данни</dc:title>
  <dc:creator>Елена Г. Маврова-Ненкова</dc:creator>
  <cp:lastModifiedBy>Elena Nenkova</cp:lastModifiedBy>
  <cp:revision>106</cp:revision>
  <cp:lastPrinted>1601-01-01T00:00:00Z</cp:lastPrinted>
  <dcterms:created xsi:type="dcterms:W3CDTF">2016-12-05T23:26:54Z</dcterms:created>
  <dcterms:modified xsi:type="dcterms:W3CDTF">2026-07-25T07:23:21Z</dcterms:modified>
</cp:coreProperties>
</file>