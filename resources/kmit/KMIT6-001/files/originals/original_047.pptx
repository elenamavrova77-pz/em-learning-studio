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72" r:id="rId10"/>
    <p:sldId id="263" r:id="rId11"/>
    <p:sldId id="270" r:id="rId12"/>
    <p:sldId id="264" r:id="rId13"/>
    <p:sldId id="273" r:id="rId14"/>
    <p:sldId id="265" r:id="rId15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Fraunces ExtraBold" panose="020B0604020202020204" charset="0"/>
      <p:regular r:id="rId21"/>
    </p:embeddedFont>
    <p:embeddedFont>
      <p:font typeface="Fraunces Light" panose="020B0604020202020204" charset="0"/>
      <p:regular r:id="rId22"/>
    </p:embeddedFont>
    <p:embeddedFont>
      <p:font typeface="Nobile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14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BDB7-C02A-23CA-0FB6-C89350829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90EDB-D48A-5C82-645F-CD9930429A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C6DF2-D9D1-9612-2268-964F6F4C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A9AF40-8AFE-4D31-A4F0-76E5C82C195E}" type="slidenum">
              <a:rPr lang="en-GB" altLang="bg-BG"/>
              <a:pPr/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27208902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8" y="66351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В</a:t>
            </a:r>
            <a:r>
              <a:rPr lang="bg-BG" sz="27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мъква</a:t>
            </a:r>
            <a:r>
              <a:rPr lang="en-US" sz="27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не</a:t>
            </a:r>
            <a:r>
              <a:rPr lang="en-US" sz="27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и форматиране на </a:t>
            </a:r>
            <a:r>
              <a:rPr lang="en-US" sz="27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графични</a:t>
            </a:r>
            <a:r>
              <a:rPr lang="en-US" sz="27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7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изображения</a:t>
            </a:r>
            <a:r>
              <a:rPr lang="bg-BG" sz="27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от библиотека и файл</a:t>
            </a:r>
            <a:endParaRPr lang="en-US" sz="27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001200" y="2282245"/>
            <a:ext cx="4851737" cy="120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Как </a:t>
            </a:r>
            <a:r>
              <a:rPr lang="en-US" sz="1600" dirty="0" err="1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да</a:t>
            </a:r>
            <a:r>
              <a:rPr lang="en-US" sz="1600" dirty="0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добавяме</a:t>
            </a:r>
            <a:r>
              <a:rPr lang="en-US" sz="1600" dirty="0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 и </a:t>
            </a:r>
            <a:r>
              <a:rPr lang="en-US" sz="1600" dirty="0" err="1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оформяме</a:t>
            </a:r>
            <a:r>
              <a:rPr lang="en-US" sz="1600" dirty="0">
                <a:solidFill>
                  <a:srgbClr val="405449"/>
                </a:solidFill>
                <a:ea typeface="Cambria" panose="02040503050406030204" pitchFamily="18" charset="0"/>
                <a:cs typeface="Nobile" pitchFamily="34" charset="-120"/>
              </a:rPr>
              <a:t> картинки в MS PowerPoint — от файл, от интернет и с помощта на инструментите за форматиране.</a:t>
            </a:r>
            <a:endParaRPr lang="en-US" sz="1600" dirty="0">
              <a:ea typeface="Cambria" panose="020405030504060302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8" y="4064165"/>
            <a:ext cx="3902699" cy="409393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75321819-9819-09B2-5B0C-17CC53D667E6}"/>
              </a:ext>
            </a:extLst>
          </p:cNvPr>
          <p:cNvSpPr txBox="1"/>
          <p:nvPr/>
        </p:nvSpPr>
        <p:spPr>
          <a:xfrm>
            <a:off x="4087091" y="4142509"/>
            <a:ext cx="3789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КМИТ, 6 клас, Елена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0961"/>
            <a:ext cx="5031845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bg-BG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1. </a:t>
            </a: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В</a:t>
            </a:r>
            <a:r>
              <a:rPr lang="bg-BG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мъква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не</a:t>
            </a: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на изображения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3964039" y="1323614"/>
            <a:ext cx="4761682" cy="118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Графичните изображения се въвеждат от файловата система на компютъра или от интернет. Бутоните за това се намират на панела 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Illustrations (Илюстрации)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от менюто 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Insert (Въвеждане)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.</a:t>
            </a:r>
            <a:endParaRPr lang="en-US" sz="1600" dirty="0">
              <a:latin typeface="+mj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2766640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5" y="2846404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From File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66876" y="307584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Вмъкване на картинка от компютъра</a:t>
            </a:r>
            <a:endParaRPr lang="en-US" sz="160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25119" y="3725242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066877" y="386700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Fraunces ExtraBold" pitchFamily="34" charset="0"/>
              </a:rPr>
              <a:t>Online Pictures</a:t>
            </a:r>
          </a:p>
        </p:txBody>
      </p:sp>
      <p:sp>
        <p:nvSpPr>
          <p:cNvPr id="10" name="Text 7"/>
          <p:cNvSpPr/>
          <p:nvPr/>
        </p:nvSpPr>
        <p:spPr>
          <a:xfrm>
            <a:off x="4066877" y="410560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</a:rPr>
              <a:t>Търсене и вмъкване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от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интернет</a:t>
            </a:r>
            <a:endParaRPr lang="en-US" sz="1600" dirty="0">
              <a:solidFill>
                <a:srgbClr val="40544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Вмъкване 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от</a:t>
            </a: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файл</a:t>
            </a:r>
            <a:endParaRPr lang="en-US" sz="275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4234" y="3603125"/>
            <a:ext cx="8151763" cy="142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bg-BG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ЗАДАЧА: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latin typeface="+mj-lt"/>
              </a:rPr>
              <a:t>Отворете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файла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 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от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папката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bg-BG" sz="1600" dirty="0">
                <a:solidFill>
                  <a:srgbClr val="405449"/>
                </a:solidFill>
                <a:latin typeface="+mj-lt"/>
              </a:rPr>
              <a:t>с приложените материали към урока 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и </a:t>
            </a:r>
            <a:r>
              <a:rPr lang="bg-BG" sz="1600" dirty="0">
                <a:solidFill>
                  <a:srgbClr val="405449"/>
                </a:solidFill>
                <a:latin typeface="+mj-lt"/>
              </a:rPr>
              <a:t>вмъкнете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в него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файла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manastir.jpg 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от същата папка. </a:t>
            </a:r>
            <a:endParaRPr lang="bg-BG" sz="1600" dirty="0">
              <a:solidFill>
                <a:srgbClr val="405449"/>
              </a:solidFill>
              <a:latin typeface="+mj-lt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</a:rPr>
              <a:t>С</a:t>
            </a:r>
            <a:r>
              <a:rPr lang="bg-BG" sz="1600" dirty="0" err="1">
                <a:solidFill>
                  <a:srgbClr val="405449"/>
                </a:solidFill>
                <a:latin typeface="+mj-lt"/>
              </a:rPr>
              <a:t>ъхранете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файла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в</a:t>
            </a:r>
            <a:r>
              <a:rPr lang="bg-BG" sz="1600" dirty="0">
                <a:solidFill>
                  <a:srgbClr val="405449"/>
                </a:solidFill>
                <a:latin typeface="+mj-lt"/>
              </a:rPr>
              <a:t>ъв Вашата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папка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компютър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4310498" y="1082025"/>
            <a:ext cx="4311409" cy="2125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Натиснете бутона </a:t>
            </a:r>
            <a:r>
              <a:rPr lang="en-US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Pictures (</a:t>
            </a:r>
            <a:r>
              <a:rPr lang="en-US" b="1" dirty="0" err="1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Картини</a:t>
            </a:r>
            <a:r>
              <a:rPr lang="en-US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)</a:t>
            </a:r>
            <a:r>
              <a:rPr lang="en-US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→ </a:t>
            </a:r>
            <a:r>
              <a:rPr lang="en-US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This Device (Това устройство)</a:t>
            </a:r>
            <a:endParaRPr lang="en-US" dirty="0">
              <a:latin typeface="+mj-lt"/>
            </a:endParaRPr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Изберете устройството, папката и файла</a:t>
            </a:r>
            <a:endParaRPr lang="en-US" dirty="0">
              <a:latin typeface="+mj-lt"/>
            </a:endParaRPr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Натиснете </a:t>
            </a:r>
            <a:r>
              <a:rPr lang="en-US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Insert (</a:t>
            </a:r>
            <a:r>
              <a:rPr lang="bg-BG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Вмъкване</a:t>
            </a:r>
            <a:r>
              <a:rPr lang="en-US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)</a:t>
            </a:r>
            <a:endParaRPr lang="bg-BG" b="1" dirty="0">
              <a:solidFill>
                <a:srgbClr val="405449"/>
              </a:solidFill>
              <a:latin typeface="+mj-lt"/>
              <a:ea typeface="Nobile Bold" pitchFamily="34" charset="-122"/>
              <a:cs typeface="Nobile Bold" pitchFamily="34" charset="-120"/>
            </a:endParaRPr>
          </a:p>
          <a:p>
            <a:pPr marL="203200" indent="-20320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dirty="0" err="1">
                <a:solidFill>
                  <a:srgbClr val="405449"/>
                </a:solidFill>
                <a:latin typeface="+mj-lt"/>
              </a:rPr>
              <a:t>Изображението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се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появява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в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текста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на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мястото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,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където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се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намира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показващият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на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миши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405449"/>
                </a:solidFill>
                <a:latin typeface="+mj-lt"/>
              </a:rPr>
              <a:t>курсор</a:t>
            </a:r>
            <a:r>
              <a:rPr lang="en-US" dirty="0">
                <a:solidFill>
                  <a:srgbClr val="405449"/>
                </a:solidFill>
                <a:latin typeface="+mj-lt"/>
              </a:rPr>
              <a:t>.</a:t>
            </a:r>
          </a:p>
          <a:p>
            <a:pPr marL="203200" indent="-2032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endParaRPr lang="en-US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20117" y="2571750"/>
            <a:ext cx="4257675" cy="1317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endParaRPr lang="en-US" dirty="0">
              <a:solidFill>
                <a:srgbClr val="405449"/>
              </a:solidFill>
              <a:latin typeface="+mj-lt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2E894F7F-053F-7E21-93FF-8347A538C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93" y="1062830"/>
            <a:ext cx="3397901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5152CED1-AFD0-F20A-F510-7593C167C08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30639" y="2539172"/>
            <a:ext cx="1873539" cy="415306"/>
          </a:xfrm>
          <a:prstGeom prst="borderCallout1">
            <a:avLst>
              <a:gd name="adj1" fmla="val 7528"/>
              <a:gd name="adj2" fmla="val 60426"/>
              <a:gd name="adj3" fmla="val -157981"/>
              <a:gd name="adj4" fmla="val 47212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1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От файл в компютъра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4309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Вмъкване 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от</a:t>
            </a: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интернет</a:t>
            </a:r>
            <a:endParaRPr lang="en-US" sz="275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896169"/>
            <a:ext cx="4722764" cy="632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600" dirty="0" err="1">
                <a:solidFill>
                  <a:srgbClr val="405449"/>
                </a:solidFill>
                <a:latin typeface="+mj-lt"/>
              </a:rPr>
              <a:t>Отворете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фа</a:t>
            </a:r>
            <a:r>
              <a:rPr lang="bg-BG" sz="1600" dirty="0">
                <a:solidFill>
                  <a:srgbClr val="405449"/>
                </a:solidFill>
                <a:latin typeface="+mj-lt"/>
              </a:rPr>
              <a:t>й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ла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 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и в</a:t>
            </a:r>
            <a:r>
              <a:rPr lang="bg-BG" sz="1600" dirty="0">
                <a:solidFill>
                  <a:srgbClr val="405449"/>
                </a:solidFill>
                <a:latin typeface="+mj-lt"/>
              </a:rPr>
              <a:t>мъкнете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в него файл от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интернет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.</a:t>
            </a:r>
          </a:p>
        </p:txBody>
      </p:sp>
      <p:sp>
        <p:nvSpPr>
          <p:cNvPr id="5" name="Text 2"/>
          <p:cNvSpPr/>
          <p:nvPr/>
        </p:nvSpPr>
        <p:spPr>
          <a:xfrm>
            <a:off x="496119" y="1635249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6119" y="1849562"/>
            <a:ext cx="2294855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2063539"/>
            <a:ext cx="229485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latin typeface="+mj-lt"/>
              </a:rPr>
              <a:t>Отворете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меню</a:t>
            </a:r>
            <a:endParaRPr lang="en-US" sz="1600" dirty="0">
              <a:solidFill>
                <a:srgbClr val="405449"/>
              </a:solidFill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2300027"/>
            <a:ext cx="2377418" cy="840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Pictures → Online Pictures (Онлайн </a:t>
            </a:r>
            <a:r>
              <a:rPr lang="en-US" sz="1600" b="1" dirty="0" err="1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снимки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</a:p>
        </p:txBody>
      </p:sp>
      <p:sp>
        <p:nvSpPr>
          <p:cNvPr id="9" name="Text 6"/>
          <p:cNvSpPr/>
          <p:nvPr/>
        </p:nvSpPr>
        <p:spPr>
          <a:xfrm>
            <a:off x="2923952" y="1635249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3952" y="1849562"/>
            <a:ext cx="229493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2923953" y="2058458"/>
            <a:ext cx="229493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latin typeface="+mj-lt"/>
              </a:rPr>
              <a:t>Търсене</a:t>
            </a:r>
            <a:endParaRPr lang="en-US" sz="1600" dirty="0">
              <a:solidFill>
                <a:srgbClr val="405449"/>
              </a:solidFill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23953" y="2359516"/>
            <a:ext cx="2294930" cy="15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</a:rPr>
              <a:t>Въведете думи, описващи желаното изображение, и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натиснете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Enter.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Появяват се резултати от </a:t>
            </a:r>
            <a:r>
              <a:rPr lang="en-US" sz="1600" dirty="0" err="1">
                <a:solidFill>
                  <a:srgbClr val="405449"/>
                </a:solidFill>
                <a:latin typeface="+mj-lt"/>
              </a:rPr>
              <a:t>търсачката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Bing</a:t>
            </a:r>
            <a:r>
              <a:rPr lang="en-US" sz="1600" dirty="0">
                <a:solidFill>
                  <a:srgbClr val="405449"/>
                </a:solidFill>
                <a:latin typeface="+mj-lt"/>
              </a:rPr>
              <a:t>, която е част от ОС Microsoft.</a:t>
            </a:r>
          </a:p>
        </p:txBody>
      </p:sp>
      <p:sp>
        <p:nvSpPr>
          <p:cNvPr id="13" name="Text 10"/>
          <p:cNvSpPr/>
          <p:nvPr/>
        </p:nvSpPr>
        <p:spPr>
          <a:xfrm>
            <a:off x="496119" y="3784351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3257" y="3996547"/>
            <a:ext cx="4722763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467545" y="4081557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latin typeface="+mj-lt"/>
              </a:rPr>
              <a:t>Вмъкване</a:t>
            </a:r>
            <a:endParaRPr lang="en-US" sz="1600" dirty="0">
              <a:solidFill>
                <a:srgbClr val="405449"/>
              </a:solidFill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7544" y="4335291"/>
            <a:ext cx="4722763" cy="71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+mj-lt"/>
              </a:rPr>
              <a:t>Кликнете върху желаното изображение или го маркирайте и </a:t>
            </a:r>
            <a:r>
              <a:rPr lang="en-US" sz="1500" dirty="0" err="1">
                <a:solidFill>
                  <a:srgbClr val="405449"/>
                </a:solidFill>
                <a:latin typeface="+mj-lt"/>
              </a:rPr>
              <a:t>натиснете</a:t>
            </a:r>
            <a:r>
              <a:rPr lang="en-US" sz="1500" dirty="0">
                <a:solidFill>
                  <a:srgbClr val="405449"/>
                </a:solidFill>
                <a:latin typeface="+mj-lt"/>
              </a:rPr>
              <a:t> </a:t>
            </a:r>
            <a:r>
              <a:rPr lang="en-US" sz="15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Insert (В</a:t>
            </a:r>
            <a:r>
              <a:rPr lang="bg-BG" sz="1500" b="1" dirty="0" err="1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мъкване</a:t>
            </a:r>
            <a:r>
              <a:rPr lang="en-US" sz="15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</a:p>
        </p:txBody>
      </p:sp>
      <p:pic>
        <p:nvPicPr>
          <p:cNvPr id="18" name="Картина 17">
            <a:extLst>
              <a:ext uri="{FF2B5EF4-FFF2-40B4-BE49-F238E27FC236}">
                <a16:creationId xmlns:a16="http://schemas.microsoft.com/office/drawing/2014/main" id="{42D46E8B-56E5-000D-FE35-CA8E2FC43F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23" t="35959" r="50703" b="38948"/>
          <a:stretch>
            <a:fillRect/>
          </a:stretch>
        </p:blipFill>
        <p:spPr>
          <a:xfrm>
            <a:off x="5161732" y="2626573"/>
            <a:ext cx="2981176" cy="22412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C4DBC764-91DC-2F07-072C-23E9684D4DA3}"/>
              </a:ext>
            </a:extLst>
          </p:cNvPr>
          <p:cNvSpPr>
            <a:spLocks noGrp="1" noRot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292136" y="966753"/>
            <a:ext cx="5043055" cy="2023566"/>
          </a:xfrm>
        </p:spPr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Clr>
                <a:srgbClr val="FFC000"/>
              </a:buClr>
              <a:buSzPct val="122000"/>
              <a:buNone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Форматирането</a:t>
            </a:r>
            <a:r>
              <a:rPr lang="en-US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</a:t>
            </a: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на изображение в текст включва:</a:t>
            </a:r>
          </a:p>
          <a:p>
            <a:pPr algn="just"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Размера</a:t>
            </a:r>
          </a:p>
          <a:p>
            <a:pPr algn="just"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Позицията спрямо текста</a:t>
            </a:r>
          </a:p>
          <a:p>
            <a:pPr algn="just"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Рамката – дебелина, цвят, стил</a:t>
            </a:r>
          </a:p>
          <a:p>
            <a:pPr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Цвета</a:t>
            </a:r>
          </a:p>
          <a:p>
            <a:pPr algn="just"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Изрязването на част от изображението</a:t>
            </a:r>
          </a:p>
          <a:p>
            <a:pPr algn="just" eaLnBrk="1" fontAlgn="auto" hangingPunct="1">
              <a:spcBef>
                <a:spcPts val="0"/>
              </a:spcBef>
              <a:buClr>
                <a:srgbClr val="FFC000"/>
              </a:buClr>
              <a:buSzPct val="122000"/>
              <a:buFont typeface="Wingdings" panose="05000000000000000000" pitchFamily="2" charset="2"/>
              <a:buChar char="ü"/>
              <a:defRPr/>
            </a:pPr>
            <a:r>
              <a:rPr lang="bg-BG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ea typeface="Calibri"/>
                <a:cs typeface="Times New Roman" pitchFamily="18" charset="0"/>
                <a:sym typeface="Wingdings"/>
              </a:rPr>
              <a:t>  И др.</a:t>
            </a:r>
          </a:p>
        </p:txBody>
      </p:sp>
      <p:sp>
        <p:nvSpPr>
          <p:cNvPr id="4" name="Правоъгълник 3">
            <a:extLst>
              <a:ext uri="{FF2B5EF4-FFF2-40B4-BE49-F238E27FC236}">
                <a16:creationId xmlns:a16="http://schemas.microsoft.com/office/drawing/2014/main" id="{C0F353EC-9C43-0FE1-25C2-01F163875F6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18930" y="195486"/>
            <a:ext cx="8770970" cy="5155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  <a:sp3d extrusionH="57150" prstMaterial="softEdge">
              <a:bevelT w="25400" h="38100"/>
            </a:sp3d>
          </a:bodyPr>
          <a:lstStyle/>
          <a:p>
            <a:pPr algn="ctr" eaLnBrk="0" hangingPunct="0">
              <a:defRPr/>
            </a:pPr>
            <a:r>
              <a:rPr lang="ru-RU" altLang="bg-BG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ru-RU" altLang="bg-BG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Форматиране</a:t>
            </a:r>
            <a:r>
              <a:rPr lang="ru-RU" altLang="bg-BG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графично изображение в текст</a:t>
            </a:r>
            <a:endParaRPr lang="bg-BG" altLang="bg-BG" sz="275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436" name="Картина 2">
            <a:extLst>
              <a:ext uri="{FF2B5EF4-FFF2-40B4-BE49-F238E27FC236}">
                <a16:creationId xmlns:a16="http://schemas.microsoft.com/office/drawing/2014/main" id="{F2AC3752-4D46-8441-BE92-FD64C17D17E0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182" y="1049306"/>
            <a:ext cx="3020457" cy="169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3B6F9BF3-23FA-F181-ABB6-C4188E229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0" y="3852965"/>
            <a:ext cx="8354457" cy="876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B68CA2E-CE08-8AA3-D4C4-D36662983AAA}"/>
              </a:ext>
            </a:extLst>
          </p:cNvPr>
          <p:cNvSpPr/>
          <p:nvPr/>
        </p:nvSpPr>
        <p:spPr>
          <a:xfrm>
            <a:off x="345958" y="3068532"/>
            <a:ext cx="8315681" cy="65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dirty="0">
                <a:latin typeface="+mj-lt"/>
                <a:ea typeface="Nobile" pitchFamily="34" charset="-122"/>
                <a:cs typeface="Nobile" pitchFamily="34" charset="-120"/>
              </a:rPr>
              <a:t>Форматирането се извършва чрез </a:t>
            </a:r>
            <a:r>
              <a:rPr lang="en-US" dirty="0" err="1">
                <a:latin typeface="+mj-lt"/>
                <a:ea typeface="Nobile" pitchFamily="34" charset="-122"/>
                <a:cs typeface="Nobile" pitchFamily="34" charset="-120"/>
              </a:rPr>
              <a:t>менюто</a:t>
            </a:r>
            <a:r>
              <a:rPr lang="en-US" dirty="0"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en-US" b="1" dirty="0">
                <a:latin typeface="+mj-lt"/>
                <a:ea typeface="Nobile Bold" pitchFamily="34" charset="-122"/>
                <a:cs typeface="Nobile Bold" pitchFamily="34" charset="-120"/>
              </a:rPr>
              <a:t>Picture Format (Формат на картини)</a:t>
            </a:r>
            <a:r>
              <a:rPr lang="en-US" dirty="0">
                <a:latin typeface="+mj-lt"/>
                <a:ea typeface="Nobile" pitchFamily="34" charset="-122"/>
                <a:cs typeface="Nobile" pitchFamily="34" charset="-120"/>
              </a:rPr>
              <a:t>, </a:t>
            </a:r>
            <a:endParaRPr lang="bg-BG" dirty="0">
              <a:latin typeface="+mj-lt"/>
              <a:ea typeface="Nobile" pitchFamily="34" charset="-122"/>
              <a:cs typeface="Nobile" pitchFamily="34" charset="-120"/>
            </a:endParaRPr>
          </a:p>
          <a:p>
            <a:pPr marL="0" indent="0" algn="ctr">
              <a:lnSpc>
                <a:spcPct val="111000"/>
              </a:lnSpc>
              <a:buNone/>
            </a:pPr>
            <a:r>
              <a:rPr lang="en-US" dirty="0" err="1">
                <a:latin typeface="+mj-lt"/>
                <a:ea typeface="Nobile" pitchFamily="34" charset="-122"/>
                <a:cs typeface="Nobile" pitchFamily="34" charset="-120"/>
              </a:rPr>
              <a:t>което</a:t>
            </a:r>
            <a:r>
              <a:rPr lang="en-US" dirty="0">
                <a:latin typeface="+mj-lt"/>
                <a:ea typeface="Nobile" pitchFamily="34" charset="-122"/>
                <a:cs typeface="Nobile" pitchFamily="34" charset="-120"/>
              </a:rPr>
              <a:t> се появява след маркиране на изображението.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449" y="575559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Инструменти</a:t>
            </a: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за </a:t>
            </a:r>
            <a:r>
              <a:rPr lang="en-US" sz="275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форматиране</a:t>
            </a:r>
            <a:endParaRPr lang="en-US" sz="275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9" y="1329969"/>
            <a:ext cx="5217319" cy="295647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521" y="1142033"/>
            <a:ext cx="2702049" cy="559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17208" y="1251570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Adjust (Регулиране)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117208" y="1464394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Цвят, яркост, контраст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521" y="1765325"/>
            <a:ext cx="2702049" cy="5592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7208" y="1874862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Shadow Effects (Ефекти на сенки)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117208" y="2087687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Различни сенки на изображението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521" y="2388617"/>
            <a:ext cx="2702049" cy="5592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17208" y="2498154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Border (Рамки)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117208" y="2710979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Дебелина, цвят и вид на рамката</a:t>
            </a:r>
            <a:endParaRPr lang="en-US" sz="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521" y="3011909"/>
            <a:ext cx="2702049" cy="5592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17208" y="3121447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Arrange (Поредване)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6117208" y="3334271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Позиция и разположение</a:t>
            </a:r>
            <a:endParaRPr lang="en-US" sz="7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0521" y="3635201"/>
            <a:ext cx="2702049" cy="36790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17208" y="3744739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Accessibility (Достъпност)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521" y="4067101"/>
            <a:ext cx="2702049" cy="55929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117208" y="4176638"/>
            <a:ext cx="24258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Size (Размер)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6117208" y="4389462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Ширина, височина, изрязване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8" y="436068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Панел Adjust (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Регулиране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4" name="Text 1"/>
          <p:cNvSpPr/>
          <p:nvPr/>
        </p:nvSpPr>
        <p:spPr>
          <a:xfrm>
            <a:off x="496119" y="983674"/>
            <a:ext cx="4722763" cy="66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От панела </a:t>
            </a:r>
            <a:r>
              <a:rPr lang="en-US" sz="14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Adjust (Регулиране)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можете да промените основните визуални характеристики на изображението:</a:t>
            </a:r>
            <a:endParaRPr lang="en-US" sz="1400" dirty="0">
              <a:latin typeface="+mj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1795016"/>
            <a:ext cx="2297013" cy="1303660"/>
          </a:xfrm>
          <a:prstGeom prst="roundRect">
            <a:avLst>
              <a:gd name="adj" fmla="val 9328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631180" y="1930078"/>
            <a:ext cx="405333" cy="405333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652" y="2041475"/>
            <a:ext cx="182389" cy="1823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180" y="2464147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Color (Цвят)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1180" y="2752502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Промяна на цветовата гама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921868" y="1795016"/>
            <a:ext cx="2297013" cy="1303660"/>
          </a:xfrm>
          <a:prstGeom prst="roundRect">
            <a:avLst>
              <a:gd name="adj" fmla="val 9328"/>
            </a:avLst>
          </a:prstGeom>
          <a:solidFill>
            <a:srgbClr val="E8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3056930" y="1930078"/>
            <a:ext cx="405333" cy="405333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8402" y="2041475"/>
            <a:ext cx="182389" cy="1823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56930" y="2464147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Brightness (Яркост)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056930" y="2752502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Регулиране на яркостта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6119" y="3227412"/>
            <a:ext cx="4722763" cy="1303660"/>
          </a:xfrm>
          <a:prstGeom prst="roundRect">
            <a:avLst>
              <a:gd name="adj" fmla="val 9328"/>
            </a:avLst>
          </a:prstGeom>
          <a:solidFill>
            <a:srgbClr val="E8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631180" y="3362474"/>
            <a:ext cx="405333" cy="405333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52" y="3473872"/>
            <a:ext cx="182389" cy="18238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1180" y="3896544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Contrast (Контраст)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1180" y="4184898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Регулиране на контраста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46114"/>
            <a:ext cx="8151763" cy="483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bg-BG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Разположение на изображението спрямо 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текст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54182" y="974901"/>
            <a:ext cx="3923907" cy="32657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Wrap Text (Пренасяне на текста)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966" y="2178421"/>
            <a:ext cx="3991496" cy="257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Square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 (Квадрат)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текстът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се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разполага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около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рамката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на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изображението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Tight 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(Плътно)</a:t>
            </a: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обвива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плътно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изображението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с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текста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Through 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(През) </a:t>
            </a: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пренася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текста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през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изображението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Top and bottom 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(Отгоре и отдолу) 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текстът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е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отгоре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и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отдолу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Behind text 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(Зад текста) </a:t>
            </a: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endParaRPr lang="bg-BG" sz="1600" dirty="0">
              <a:solidFill>
                <a:srgbClr val="3B4540"/>
              </a:solidFill>
              <a:latin typeface="Fraunces ExtraBold" pitchFamily="34" charset="0"/>
            </a:endParaRPr>
          </a:p>
          <a:p>
            <a:pPr algn="r">
              <a:lnSpc>
                <a:spcPct val="101000"/>
              </a:lnSpc>
              <a:buSzPct val="100000"/>
            </a:pP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обектът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е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зад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текста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In front of text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 (Пред текста)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</a:rPr>
              <a:t>— 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изображението е 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пред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текста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953" y="640691"/>
            <a:ext cx="3406108" cy="4115148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9F1D08EA-972F-F31A-72FB-AF401E7F61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424" t="34883" r="6667" b="24040"/>
          <a:stretch>
            <a:fillRect/>
          </a:stretch>
        </p:blipFill>
        <p:spPr>
          <a:xfrm>
            <a:off x="4282196" y="718806"/>
            <a:ext cx="1192939" cy="3818558"/>
          </a:xfrm>
          <a:prstGeom prst="rect">
            <a:avLst/>
          </a:prstGeom>
        </p:spPr>
      </p:pic>
      <p:cxnSp>
        <p:nvCxnSpPr>
          <p:cNvPr id="10" name="Съединител &quot;права стрелка&quot; 9">
            <a:extLst>
              <a:ext uri="{FF2B5EF4-FFF2-40B4-BE49-F238E27FC236}">
                <a16:creationId xmlns:a16="http://schemas.microsoft.com/office/drawing/2014/main" id="{A1CDAE6E-EF47-FEB7-F28A-05345429E7DE}"/>
              </a:ext>
            </a:extLst>
          </p:cNvPr>
          <p:cNvCxnSpPr>
            <a:cxnSpLocks/>
          </p:cNvCxnSpPr>
          <p:nvPr/>
        </p:nvCxnSpPr>
        <p:spPr>
          <a:xfrm flipV="1">
            <a:off x="3740727" y="974901"/>
            <a:ext cx="1040234" cy="1632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Текстово поле 11">
            <a:extLst>
              <a:ext uri="{FF2B5EF4-FFF2-40B4-BE49-F238E27FC236}">
                <a16:creationId xmlns:a16="http://schemas.microsoft.com/office/drawing/2014/main" id="{AF83A442-BF81-CC16-CFD1-D47B5C862C3E}"/>
              </a:ext>
            </a:extLst>
          </p:cNvPr>
          <p:cNvSpPr txBox="1"/>
          <p:nvPr/>
        </p:nvSpPr>
        <p:spPr>
          <a:xfrm>
            <a:off x="1127458" y="1499212"/>
            <a:ext cx="2959328" cy="73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760" indent="-111760" algn="r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In line with text</a:t>
            </a: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 (В текста)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endParaRPr lang="bg-BG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algn="r">
              <a:lnSpc>
                <a:spcPct val="101000"/>
              </a:lnSpc>
              <a:buSzPct val="100000"/>
            </a:pP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  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поставя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изображението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на </a:t>
            </a:r>
            <a:endParaRPr lang="bg-BG" sz="1400" dirty="0">
              <a:solidFill>
                <a:srgbClr val="3B4540"/>
              </a:solidFill>
              <a:latin typeface="Fraunces ExtraBold" pitchFamily="34" charset="0"/>
            </a:endParaRPr>
          </a:p>
          <a:p>
            <a:pPr algn="r">
              <a:lnSpc>
                <a:spcPct val="101000"/>
              </a:lnSpc>
              <a:buSzPct val="100000"/>
            </a:pPr>
            <a:r>
              <a:rPr lang="bg-BG" sz="1400" dirty="0">
                <a:solidFill>
                  <a:srgbClr val="3B4540"/>
                </a:solidFill>
                <a:latin typeface="Fraunces ExtraBold" pitchFamily="34" charset="0"/>
              </a:rPr>
              <a:t>  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мястото</a:t>
            </a: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</a:rPr>
              <a:t> на </a:t>
            </a:r>
            <a:r>
              <a:rPr lang="en-US" sz="1400" dirty="0" err="1">
                <a:solidFill>
                  <a:srgbClr val="3B4540"/>
                </a:solidFill>
                <a:latin typeface="Fraunces ExtraBold" pitchFamily="34" charset="0"/>
              </a:rPr>
              <a:t>курсора</a:t>
            </a:r>
            <a:endParaRPr lang="en-US" sz="14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0D2B184-F8C4-4EB8-CD6A-B7F0670FE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9" y="1837143"/>
            <a:ext cx="7804943" cy="115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760A10EA-8650-C065-137D-722561E9BFC1}"/>
              </a:ext>
            </a:extLst>
          </p:cNvPr>
          <p:cNvSpPr txBox="1"/>
          <p:nvPr/>
        </p:nvSpPr>
        <p:spPr>
          <a:xfrm>
            <a:off x="721519" y="872591"/>
            <a:ext cx="7804943" cy="707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</a:rPr>
              <a:t>Формат/</a:t>
            </a:r>
            <a:r>
              <a:rPr lang="en-US" altLang="bg-BG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Format</a:t>
            </a:r>
            <a:r>
              <a:rPr lang="bg-BG" altLang="bg-BG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bg-BG" altLang="bg-BG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  <a:sym typeface="Wingdings" panose="05000000000000000000" pitchFamily="2" charset="2"/>
              </a:rPr>
              <a:t> Подреждане/</a:t>
            </a:r>
            <a:r>
              <a:rPr lang="en-US" altLang="bg-BG" sz="2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anose="05000000000000000000" pitchFamily="2" charset="2"/>
              </a:rPr>
              <a:t>Arange</a:t>
            </a:r>
            <a:r>
              <a:rPr lang="bg-BG" altLang="bg-BG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anose="05000000000000000000" pitchFamily="2" charset="2"/>
              </a:rPr>
              <a:t> (</a:t>
            </a:r>
            <a:r>
              <a:rPr lang="bg-BG" altLang="bg-BG" sz="20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разполагане на текста спрямо изображението)</a:t>
            </a:r>
            <a:endParaRPr lang="bg-BG" altLang="bg-BG" sz="2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Право съединение 3">
            <a:extLst>
              <a:ext uri="{FF2B5EF4-FFF2-40B4-BE49-F238E27FC236}">
                <a16:creationId xmlns:a16="http://schemas.microsoft.com/office/drawing/2014/main" id="{F78FF983-7CCE-11C7-1F8D-D53FCD10147C}"/>
              </a:ext>
            </a:extLst>
          </p:cNvPr>
          <p:cNvCxnSpPr/>
          <p:nvPr/>
        </p:nvCxnSpPr>
        <p:spPr>
          <a:xfrm flipH="1">
            <a:off x="6959600" y="1767696"/>
            <a:ext cx="20005" cy="5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5BC9A054-9257-83C7-88C6-7B36CEA7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25" y="2833527"/>
            <a:ext cx="1558925" cy="165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DD9CEDA5-FEAE-369D-844C-8144CACF7753}"/>
              </a:ext>
            </a:extLst>
          </p:cNvPr>
          <p:cNvSpPr/>
          <p:nvPr/>
        </p:nvSpPr>
        <p:spPr>
          <a:xfrm>
            <a:off x="6093620" y="2060575"/>
            <a:ext cx="431800" cy="1022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bg-BG" sz="1400"/>
          </a:p>
        </p:txBody>
      </p:sp>
    </p:spTree>
    <p:extLst>
      <p:ext uri="{BB962C8B-B14F-4D97-AF65-F5344CB8AC3E}">
        <p14:creationId xmlns:p14="http://schemas.microsoft.com/office/powerpoint/2010/main" val="403342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610" y="279396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Размер и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изрязване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2724"/>
            <a:ext cx="4509236" cy="2555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61619" y="648929"/>
            <a:ext cx="2652861" cy="77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Fraunces ExtraBold" pitchFamily="34" charset="-122"/>
                <a:cs typeface="Fraunces ExtraBold" pitchFamily="34" charset="-120"/>
              </a:rPr>
              <a:t>Панел Size (Размер)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61619" y="941306"/>
            <a:ext cx="2652861" cy="278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От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панела </a:t>
            </a:r>
            <a:r>
              <a:rPr lang="en-US" sz="14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Size (Размер)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можете да промените големината на изображението. Ширината и височината се въвеждат в полетата </a:t>
            </a:r>
            <a:r>
              <a:rPr lang="en-US" sz="14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Width (Ширина)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и </a:t>
            </a:r>
            <a:r>
              <a:rPr lang="en-US" sz="14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Height (Височина)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. </a:t>
            </a:r>
            <a:endParaRPr lang="bg-BG" sz="1400" dirty="0">
              <a:solidFill>
                <a:srgbClr val="405449"/>
              </a:solidFill>
              <a:latin typeface="+mj-lt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С бутона </a:t>
            </a:r>
            <a:r>
              <a:rPr lang="en-US" sz="14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Crop (Изрязване)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можете да изрежете изображението.</a:t>
            </a:r>
            <a:endParaRPr lang="en-US" sz="14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3674484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Ръчна промяна на </a:t>
            </a:r>
            <a:r>
              <a:rPr lang="en-US" sz="16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размера</a:t>
            </a:r>
            <a:endParaRPr lang="en-US" sz="16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6129" y="3994398"/>
            <a:ext cx="8460844" cy="91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Друг начин е да издърпате с мишката върху изображението — то се огражда в правоъгълна рамка с водни вълни в средата на страните. Когато кликнете и дърпате, променяте размера му. </a:t>
            </a:r>
            <a:endParaRPr lang="bg-BG" sz="1400" dirty="0">
              <a:solidFill>
                <a:srgbClr val="405449"/>
              </a:solidFill>
              <a:latin typeface="+mj-lt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4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Можете</a:t>
            </a:r>
            <a:r>
              <a:rPr lang="en-US" sz="14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да местите и целия обект, като го влачите с мишия курсор.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A5AEBE7E-0AAD-FABB-A3E8-660C00EB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2" y="418884"/>
            <a:ext cx="8361218" cy="41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1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2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Рамка, сянка и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разположение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3579812"/>
            <a:ext cx="8214107" cy="125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bg-B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ЗАДАЧА:</a:t>
            </a:r>
            <a:br>
              <a:rPr lang="bg-BG" sz="1600" dirty="0">
                <a:latin typeface="+mj-lt"/>
              </a:rPr>
            </a:br>
            <a:r>
              <a:rPr lang="en-US" sz="1600" dirty="0" err="1">
                <a:latin typeface="+mj-lt"/>
              </a:rPr>
              <a:t>Отворете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файла</a:t>
            </a:r>
            <a:r>
              <a:rPr lang="en-US" sz="1600" dirty="0">
                <a:latin typeface="+mj-lt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  </a:t>
            </a:r>
            <a:r>
              <a:rPr lang="en-US" sz="1600" dirty="0">
                <a:latin typeface="+mj-lt"/>
              </a:rPr>
              <a:t>и </a:t>
            </a:r>
            <a:r>
              <a:rPr lang="en-US" sz="1600" dirty="0" err="1">
                <a:latin typeface="+mj-lt"/>
              </a:rPr>
              <a:t>форматирайте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изображението</a:t>
            </a:r>
            <a:r>
              <a:rPr lang="en-US" sz="1600" dirty="0">
                <a:latin typeface="+mj-lt"/>
              </a:rPr>
              <a:t>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manastir.jpg</a:t>
            </a:r>
            <a:r>
              <a:rPr lang="en-US" sz="1600" dirty="0">
                <a:latin typeface="+mj-lt"/>
              </a:rPr>
              <a:t>, като го разположите в лява част до първия абзац. </a:t>
            </a:r>
          </a:p>
          <a:p>
            <a:pPr>
              <a:lnSpc>
                <a:spcPct val="133000"/>
              </a:lnSpc>
            </a:pPr>
            <a:r>
              <a:rPr lang="en-US" sz="1600" dirty="0" err="1">
                <a:latin typeface="+mj-lt"/>
              </a:rPr>
              <a:t>Задайте</a:t>
            </a:r>
            <a:r>
              <a:rPr lang="en-US" sz="1600" dirty="0">
                <a:latin typeface="+mj-lt"/>
              </a:rPr>
              <a:t> подходяща големина и поставете сива </a:t>
            </a:r>
            <a:r>
              <a:rPr lang="en-US" sz="1600" dirty="0" err="1">
                <a:latin typeface="+mj-lt"/>
              </a:rPr>
              <a:t>рамка</a:t>
            </a:r>
            <a:r>
              <a:rPr lang="en-US" sz="1600" dirty="0">
                <a:latin typeface="+mj-lt"/>
              </a:rPr>
              <a:t>.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52716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5842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Border (Рамка)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1890767"/>
            <a:ext cx="2599134" cy="135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Задайте дебелина, цвят и </a:t>
            </a:r>
            <a:endParaRPr lang="bg-BG" sz="1600" dirty="0">
              <a:solidFill>
                <a:srgbClr val="405449"/>
              </a:solidFill>
              <a:latin typeface="+mj-lt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вид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на рамката, която огражда изображението.</a:t>
            </a:r>
            <a:endParaRPr lang="en-US" sz="1600" dirty="0">
              <a:latin typeface="+mj-lt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105271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15842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Shadow Effects (Сенки)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1890767"/>
            <a:ext cx="2599134" cy="118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Задайте различни сенки на изображението от панела 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Shadow Effects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.</a:t>
            </a:r>
            <a:endParaRPr lang="en-US" sz="1600" dirty="0">
              <a:latin typeface="+mj-lt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1052716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15842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Position (Позиция)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1909906"/>
            <a:ext cx="2599134" cy="174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От падащото меню 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Position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на панела 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Arrange (</a:t>
            </a:r>
            <a:r>
              <a:rPr lang="en-US" sz="1600" b="1" dirty="0" err="1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По</a:t>
            </a:r>
            <a:r>
              <a:rPr lang="bg-BG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д</a:t>
            </a:r>
            <a:r>
              <a:rPr lang="en-US" sz="1600" b="1" dirty="0" err="1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ре</a:t>
            </a:r>
            <a:r>
              <a:rPr lang="bg-BG" sz="1600" b="1" dirty="0" err="1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жд</a:t>
            </a:r>
            <a:r>
              <a:rPr lang="en-US" sz="1600" b="1" dirty="0" err="1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ане</a:t>
            </a:r>
            <a:r>
              <a:rPr lang="en-US" sz="16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)</a:t>
            </a:r>
            <a:r>
              <a:rPr lang="en-US" sz="16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изберете разположението на изображението в страницата.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67433966-2E58-FFD5-8FB2-3F859AAAD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81" y="1818722"/>
            <a:ext cx="7547768" cy="1506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39338EC0-F957-8F97-B601-959F7954B1C6}"/>
              </a:ext>
            </a:extLst>
          </p:cNvPr>
          <p:cNvSpPr txBox="1"/>
          <p:nvPr/>
        </p:nvSpPr>
        <p:spPr>
          <a:xfrm>
            <a:off x="992981" y="1101378"/>
            <a:ext cx="561082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Tw Cen MT" panose="020B0602020104020603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</a:rPr>
              <a:t>Формат/</a:t>
            </a:r>
            <a:r>
              <a:rPr lang="en-US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Format</a:t>
            </a:r>
            <a:r>
              <a:rPr lang="bg-BG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bg-BG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  <a:sym typeface="Wingdings" panose="05000000000000000000" pitchFamily="2" charset="2"/>
              </a:rPr>
              <a:t> Стилове на картини/</a:t>
            </a:r>
            <a:r>
              <a:rPr lang="en-US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anose="05000000000000000000" pitchFamily="2" charset="2"/>
              </a:rPr>
              <a:t>Picture Styles</a:t>
            </a:r>
            <a:r>
              <a:rPr lang="bg-BG" altLang="bg-BG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bri" panose="020F0502020204030204" pitchFamily="34" charset="0"/>
                <a:sym typeface="Wingdings" panose="05000000000000000000" pitchFamily="2" charset="2"/>
              </a:rPr>
              <a:t> </a:t>
            </a:r>
          </a:p>
        </p:txBody>
      </p:sp>
      <p:cxnSp>
        <p:nvCxnSpPr>
          <p:cNvPr id="4" name="Право съединение 3">
            <a:extLst>
              <a:ext uri="{FF2B5EF4-FFF2-40B4-BE49-F238E27FC236}">
                <a16:creationId xmlns:a16="http://schemas.microsoft.com/office/drawing/2014/main" id="{48CDF8B4-CC72-79EA-1F5D-4E940D94AF6A}"/>
              </a:ext>
            </a:extLst>
          </p:cNvPr>
          <p:cNvCxnSpPr>
            <a:cxnSpLocks/>
          </p:cNvCxnSpPr>
          <p:nvPr/>
        </p:nvCxnSpPr>
        <p:spPr>
          <a:xfrm flipH="1" flipV="1">
            <a:off x="4324747" y="3399234"/>
            <a:ext cx="804465" cy="4298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3">
            <a:extLst>
              <a:ext uri="{FF2B5EF4-FFF2-40B4-BE49-F238E27FC236}">
                <a16:creationId xmlns:a16="http://schemas.microsoft.com/office/drawing/2014/main" id="{AA65BF89-3D1C-969E-856B-605756E7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212" y="3399234"/>
            <a:ext cx="2573336" cy="150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12A4BAFE-A5FF-5387-F1F3-9DFE7513D2B7}"/>
              </a:ext>
            </a:extLst>
          </p:cNvPr>
          <p:cNvSpPr txBox="1"/>
          <p:nvPr/>
        </p:nvSpPr>
        <p:spPr>
          <a:xfrm>
            <a:off x="896541" y="226893"/>
            <a:ext cx="6079330" cy="45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bg-BG" altLang="bg-BG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Рамка (стил) на изображението</a:t>
            </a:r>
            <a:endParaRPr lang="bg-BG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241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7016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Практически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hape 1"/>
          <p:cNvSpPr/>
          <p:nvPr/>
        </p:nvSpPr>
        <p:spPr>
          <a:xfrm>
            <a:off x="3925119" y="1019175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3974939" y="1044104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20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48683" y="1064791"/>
            <a:ext cx="4299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Вмъкване от файл</a:t>
            </a:r>
            <a:endParaRPr lang="en-US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48683" y="1347192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Отворете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файла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 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, в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мъкнете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изображението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Nobile Bold" pitchFamily="34" charset="-122"/>
                <a:cs typeface="Nobile Bold" pitchFamily="34" charset="-120"/>
              </a:rPr>
              <a:t>manastir.jpg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 го форматирайте по ваш избор.</a:t>
            </a:r>
            <a:endParaRPr lang="en-US" sz="120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25119" y="2008287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3974939" y="203321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2000" dirty="0">
              <a:latin typeface="+mj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48683" y="2053903"/>
            <a:ext cx="4299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Вмъкване от интернет</a:t>
            </a:r>
            <a:endParaRPr lang="en-US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48683" y="2336304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Отворете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</a:t>
            </a:r>
            <a:r>
              <a:rPr lang="bg-BG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вмъкнете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подходящо </a:t>
            </a: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изображение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чрез </a:t>
            </a:r>
            <a:r>
              <a:rPr lang="en-US" sz="12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Online Pictures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и го разположете в текста.</a:t>
            </a:r>
            <a:endParaRPr lang="en-US" sz="1200" dirty="0">
              <a:latin typeface="+mj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25119" y="2997398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3974939" y="302232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200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48683" y="3043014"/>
            <a:ext cx="4299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Зад текста</a:t>
            </a:r>
            <a:endParaRPr lang="en-US" dirty="0">
              <a:latin typeface="+mj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48683" y="3325416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В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мъкнете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подходящо </a:t>
            </a: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изображение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от интернет в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rozhen_manastir.docx 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 го разположете </a:t>
            </a:r>
            <a:r>
              <a:rPr lang="en-US" sz="1200" b="1" dirty="0">
                <a:solidFill>
                  <a:srgbClr val="405449"/>
                </a:solidFill>
                <a:latin typeface="+mj-lt"/>
                <a:ea typeface="Nobile Bold" pitchFamily="34" charset="-122"/>
                <a:cs typeface="Nobile Bold" pitchFamily="34" charset="-120"/>
              </a:rPr>
              <a:t>зад текста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(Behind text).</a:t>
            </a:r>
            <a:endParaRPr lang="en-US" sz="1200" dirty="0">
              <a:latin typeface="+mj-lt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925119" y="3986510"/>
            <a:ext cx="298996" cy="298996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7" name="Text 14"/>
          <p:cNvSpPr/>
          <p:nvPr/>
        </p:nvSpPr>
        <p:spPr>
          <a:xfrm>
            <a:off x="3974939" y="401143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2000" dirty="0">
              <a:latin typeface="+mj-lt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48683" y="4032126"/>
            <a:ext cx="4299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+mj-lt"/>
                <a:ea typeface="Fraunces ExtraBold" pitchFamily="34" charset="-122"/>
                <a:cs typeface="Fraunces ExtraBold" pitchFamily="34" charset="-120"/>
              </a:rPr>
              <a:t>Комбинирана задача</a:t>
            </a:r>
            <a:endParaRPr lang="en-US" dirty="0">
              <a:latin typeface="+mj-lt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48683" y="4314527"/>
            <a:ext cx="429919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Натиснете бутона за пренасяне на текст, в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мъкне</a:t>
            </a: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en-US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manastir.jpg 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и </a:t>
            </a:r>
            <a:r>
              <a:rPr lang="en-US" sz="1200" dirty="0" err="1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го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съхранете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 </a:t>
            </a:r>
            <a:r>
              <a:rPr lang="bg-BG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във Вашата папка</a:t>
            </a:r>
            <a:r>
              <a:rPr lang="en-US" sz="1200" dirty="0">
                <a:solidFill>
                  <a:srgbClr val="405449"/>
                </a:solidFill>
                <a:latin typeface="+mj-lt"/>
                <a:ea typeface="Nobile" pitchFamily="34" charset="-122"/>
                <a:cs typeface="Nobile" pitchFamily="34" charset="-120"/>
              </a:rPr>
              <a:t>.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840</Words>
  <Application>Microsoft Office PowerPoint</Application>
  <PresentationFormat>Презентация на цял екран (16:9)</PresentationFormat>
  <Paragraphs>114</Paragraphs>
  <Slides>14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22" baseType="lpstr">
      <vt:lpstr>Fraunces ExtraBold</vt:lpstr>
      <vt:lpstr>Cambria</vt:lpstr>
      <vt:lpstr>Fraunces Light</vt:lpstr>
      <vt:lpstr>Wingdings</vt:lpstr>
      <vt:lpstr>Nobile</vt:lpstr>
      <vt:lpstr>Calibri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4</cp:revision>
  <dcterms:created xsi:type="dcterms:W3CDTF">2026-07-24T16:03:44Z</dcterms:created>
  <dcterms:modified xsi:type="dcterms:W3CDTF">2026-07-24T17:07:59Z</dcterms:modified>
</cp:coreProperties>
</file>