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embeddedFontLst>
    <p:embeddedFont>
      <p:font typeface="Fraunces ExtraBold" panose="020B0604020202020204" charset="0"/>
      <p:regular r:id="rId14"/>
    </p:embeddedFont>
    <p:embeddedFont>
      <p:font typeface="Nobile" panose="020B0604020202020204" charset="0"/>
      <p:regular r:id="rId15"/>
    </p:embeddedFont>
    <p:embeddedFont>
      <p:font typeface="Nobile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22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F5D67-A2E3-3B6B-AB3C-47D16FC2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93CEC-6E8D-2518-DE66-AA298F5E0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9B9E5-7145-3194-68D7-B23E9FAE1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934C7-7DEB-A3DA-1E9B-FB57ADDD8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02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505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Работа с графични изображения</a:t>
            </a:r>
            <a:endParaRPr lang="en-US" sz="2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201121"/>
            <a:ext cx="4722762" cy="1712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Основни файлови формати при създаване и обработка на </a:t>
            </a:r>
            <a:r>
              <a:rPr lang="en-US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изображения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4546036"/>
            <a:ext cx="3043717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6" name="Text 3"/>
          <p:cNvSpPr/>
          <p:nvPr/>
        </p:nvSpPr>
        <p:spPr>
          <a:xfrm>
            <a:off x="607780" y="4558914"/>
            <a:ext cx="2889664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bg-BG" sz="12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КМИТ, 6 клас, Елена Маврова-Ненкова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2455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Да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си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припомним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25119" y="1074613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4058022" y="1207517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Графични изображения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58022" y="1489918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Представят реалност, предмет или събитие във визуален образ.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1953369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4058022" y="2086273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Графични редактори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58022" y="2368674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Програми за създаване и обработка на изображения.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832125"/>
            <a:ext cx="4722763" cy="960165"/>
          </a:xfrm>
          <a:prstGeom prst="roundRect">
            <a:avLst>
              <a:gd name="adj" fmla="val 12458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4058022" y="2965028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Два основни източника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58022" y="3247430"/>
            <a:ext cx="44569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Растерна и векторна графика — различни подходи за представяне.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916859"/>
            <a:ext cx="4722763" cy="754187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4058022" y="4049762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Пиксели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58022" y="4332163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Растерното изображение се състои от точки (пиксели).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Растерна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графика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05815" y="1070670"/>
            <a:ext cx="544065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Растерната графика 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се състои от точки (</a:t>
            </a: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пиксели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), подредени в правилна решетка. Благодарение на малките размери на пикселите те се сливат в цялостно изображение.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05815" y="2181299"/>
            <a:ext cx="5440657" cy="1057424"/>
          </a:xfrm>
          <a:prstGeom prst="roundRect">
            <a:avLst>
              <a:gd name="adj" fmla="val 10935"/>
            </a:avLst>
          </a:prstGeom>
          <a:solidFill>
            <a:srgbClr val="DDEEE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98" y="2358139"/>
            <a:ext cx="226776" cy="2465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23278" y="2318147"/>
            <a:ext cx="4319609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За всяка точка се съхранява информация за местоположение и цвят — това увеличава обема на файла.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705815" y="3369692"/>
            <a:ext cx="5440657" cy="1280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Основни характеристики: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разделителна способност, размер, дълбочина на цвета, честота, цветен модел.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Основни програми: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Adobe Photoshop, Corel Painter, Adobe Fireworks.</a:t>
            </a:r>
            <a:endParaRPr lang="en-US" sz="1400" dirty="0"/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F16393DE-B497-0CDD-5376-AF9D48BF20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18" t="27744" r="50834" b="27408"/>
          <a:stretch>
            <a:fillRect/>
          </a:stretch>
        </p:blipFill>
        <p:spPr>
          <a:xfrm>
            <a:off x="547254" y="1070670"/>
            <a:ext cx="1849581" cy="3778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51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Цветна дълбочина и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цветови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модели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90167"/>
            <a:ext cx="1880592" cy="1138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85097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 бит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6" y="2115585"/>
            <a:ext cx="1482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Черно-бяло изображение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8470" y="1690167"/>
            <a:ext cx="1880592" cy="1138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478" y="185097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8 бита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755478" y="2214190"/>
            <a:ext cx="14827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256 цвята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970386"/>
            <a:ext cx="1880592" cy="11384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313119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16 бита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3494410"/>
            <a:ext cx="14827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65 536 цвята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8470" y="2970386"/>
            <a:ext cx="1880592" cy="11384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55478" y="313119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24 бита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2727350" y="3409828"/>
            <a:ext cx="1482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~16,7 млн. цвята — естествени цветове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744938" y="1665387"/>
            <a:ext cx="390294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Цветови модели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0"/>
          <p:cNvSpPr/>
          <p:nvPr/>
        </p:nvSpPr>
        <p:spPr>
          <a:xfrm>
            <a:off x="4749701" y="2035671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171450" indent="-171450" algn="l">
              <a:lnSpc>
                <a:spcPct val="133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RGB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(Red, Green, Blue) — използват монитори, скенери и цифрови фотоапарати.</a:t>
            </a:r>
            <a:endParaRPr lang="en-US" sz="1400" dirty="0"/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CMYK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(Cyan, Magenta, Yellow, Black) — използват печатащи устройства.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749701" y="3229942"/>
            <a:ext cx="3902943" cy="779562"/>
          </a:xfrm>
          <a:prstGeom prst="roundRect">
            <a:avLst>
              <a:gd name="adj" fmla="val 16367"/>
            </a:avLst>
          </a:prstGeom>
          <a:solidFill>
            <a:srgbClr val="FCF2B5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265" y="3385691"/>
            <a:ext cx="277628" cy="2221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10398" y="339290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Nobile Bold" pitchFamily="34" charset="-122"/>
                <a:cs typeface="Nobile Bold" pitchFamily="34" charset="-120"/>
              </a:rPr>
              <a:t>Недостатък:</a:t>
            </a:r>
            <a:r>
              <a:rPr lang="en-US" sz="14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 Загуба на качество при промяна на размера на изображението.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49619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Векторна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графика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212463" y="668769"/>
            <a:ext cx="4387607" cy="1601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Векторното изображение е съставено от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обекти, изградени от вектори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— линии (прави, отсечки, криви). Всяка линия има форма, цвят и вид.</a:t>
            </a:r>
            <a:endParaRPr lang="en-US" sz="16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Основни програми: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Corel Draw, Adobe Illustrator, AutoCAD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12463" y="2493822"/>
            <a:ext cx="4365973" cy="1047610"/>
          </a:xfrm>
          <a:prstGeom prst="roundRect">
            <a:avLst>
              <a:gd name="adj" fmla="val 16501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3323189" y="2644326"/>
            <a:ext cx="381119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dirty="0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 Предимства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35626" y="2940737"/>
            <a:ext cx="3811191" cy="47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Малък обем на файла, </a:t>
            </a: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високо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качество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endParaRPr lang="bg-BG" sz="1600" dirty="0">
              <a:solidFill>
                <a:srgbClr val="405449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l">
              <a:buNone/>
            </a:pP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при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мащабиране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12462" y="3783943"/>
            <a:ext cx="4365974" cy="1047610"/>
          </a:xfrm>
          <a:prstGeom prst="roundRect">
            <a:avLst>
              <a:gd name="adj" fmla="val 16501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3323188" y="3888542"/>
            <a:ext cx="381119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600" dirty="0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 Недостатък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35625" y="4182925"/>
            <a:ext cx="3811191" cy="56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05449"/>
                </a:solidFill>
              </a:rPr>
              <a:t>Не може да създава </a:t>
            </a:r>
            <a:r>
              <a:rPr lang="en-US" sz="1600" dirty="0" err="1">
                <a:solidFill>
                  <a:srgbClr val="405449"/>
                </a:solidFill>
              </a:rPr>
              <a:t>фотографични</a:t>
            </a:r>
            <a:r>
              <a:rPr lang="en-US" sz="1600" dirty="0">
                <a:solidFill>
                  <a:srgbClr val="405449"/>
                </a:solidFill>
              </a:rPr>
              <a:t> </a:t>
            </a:r>
            <a:endParaRPr lang="bg-BG" sz="1600" dirty="0">
              <a:solidFill>
                <a:srgbClr val="405449"/>
              </a:solidFill>
            </a:endParaRPr>
          </a:p>
          <a:p>
            <a:pPr marL="0" indent="0" algn="l">
              <a:buNone/>
            </a:pPr>
            <a:r>
              <a:rPr lang="en-US" sz="1600" dirty="0" err="1">
                <a:solidFill>
                  <a:srgbClr val="405449"/>
                </a:solidFill>
              </a:rPr>
              <a:t>изображения</a:t>
            </a:r>
            <a:endParaRPr lang="en-US" sz="1600" dirty="0">
              <a:solidFill>
                <a:srgbClr val="405449"/>
              </a:solidFill>
            </a:endParaRPr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A38A2A40-B9E2-699A-29FB-6F80FD666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24" t="26128" r="45530" b="31582"/>
          <a:stretch>
            <a:fillRect/>
          </a:stretch>
        </p:blipFill>
        <p:spPr>
          <a:xfrm>
            <a:off x="806053" y="749592"/>
            <a:ext cx="1956136" cy="3863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91442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Растерна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vs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Векторна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графика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6119" y="1501304"/>
            <a:ext cx="4722763" cy="3219004"/>
          </a:xfrm>
          <a:prstGeom prst="roundRect">
            <a:avLst>
              <a:gd name="adj" fmla="val 3902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496119" y="1501304"/>
            <a:ext cx="4722763" cy="1609502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35645" y="1640830"/>
            <a:ext cx="44437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Растерна</a:t>
            </a:r>
            <a:endParaRPr lang="en-US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4"/>
          <p:cNvSpPr/>
          <p:nvPr/>
        </p:nvSpPr>
        <p:spPr>
          <a:xfrm>
            <a:off x="635645" y="1941240"/>
            <a:ext cx="4443710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Съставена от пиксели</a:t>
            </a:r>
            <a:endParaRPr lang="en-US" sz="140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Голям обем на файла</a:t>
            </a:r>
            <a:endParaRPr lang="en-US" sz="140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Загуба на качество при мащабиране</a:t>
            </a:r>
            <a:endParaRPr lang="en-US" sz="140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Подходяща за фотографии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6119" y="3110805"/>
            <a:ext cx="4722763" cy="1609502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9" name="Shape 6"/>
          <p:cNvSpPr/>
          <p:nvPr/>
        </p:nvSpPr>
        <p:spPr>
          <a:xfrm>
            <a:off x="496119" y="3110805"/>
            <a:ext cx="4722763" cy="19050"/>
          </a:xfrm>
          <a:prstGeom prst="roundRect">
            <a:avLst>
              <a:gd name="adj" fmla="val 659301"/>
            </a:avLst>
          </a:prstGeom>
          <a:solidFill>
            <a:srgbClr val="CED9CE"/>
          </a:solidFill>
          <a:ln/>
        </p:spPr>
      </p:sp>
      <p:sp>
        <p:nvSpPr>
          <p:cNvPr id="10" name="Text 7"/>
          <p:cNvSpPr/>
          <p:nvPr/>
        </p:nvSpPr>
        <p:spPr>
          <a:xfrm>
            <a:off x="635645" y="3250332"/>
            <a:ext cx="44437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Векторна</a:t>
            </a:r>
            <a:endParaRPr lang="en-US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8"/>
          <p:cNvSpPr/>
          <p:nvPr/>
        </p:nvSpPr>
        <p:spPr>
          <a:xfrm>
            <a:off x="635645" y="3550741"/>
            <a:ext cx="4443710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Съставена от линии и обекти</a:t>
            </a:r>
            <a:endParaRPr lang="en-US" sz="140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Малък обем на файла</a:t>
            </a:r>
            <a:endParaRPr lang="en-US" sz="140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Без загуба при мащабиране</a:t>
            </a:r>
            <a:endParaRPr lang="en-US" sz="140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Подходяща за лого, реклами, печат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13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Основни графични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формати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27820"/>
            <a:ext cx="2622724" cy="310741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1180" y="185313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2313905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BMP (.bmp)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620416"/>
            <a:ext cx="2301106" cy="2083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Формат на Microsoft за Windows. Поддържа до 16,7 млн. цвята. Високо качество, но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голям размер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Не се използва в интернет.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727820"/>
            <a:ext cx="2622724" cy="310741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5662" y="1853133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1410" y="2313905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JPG / JPEG (.jpg)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421410" y="2620416"/>
            <a:ext cx="2301106" cy="1972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Най-разпространеният формат за снимки. Файлът се намалява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10–20 пъти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с лека загуба на качество. До 65 536 цвята. Широко се използва в интернет.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03" y="1727820"/>
            <a:ext cx="2622804" cy="310741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0145" y="1853133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5892" y="2313905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GIF (.gif)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185892" y="2620417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Използва се за лого, диаграми и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малки анимации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Поддържа прозрачност, но само до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256 цвята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Не е подходящ за фотографии.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15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Основни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графични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формати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78012"/>
            <a:ext cx="4004965" cy="251959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2263" y="1603325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206409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PNG (.png)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370609"/>
            <a:ext cx="3683347" cy="156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Разработен за интернет.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Малък обем, високо качество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, неограничен брой цветове, поддържа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прозрачност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Не поддържа анимация. Използва се за икони и бутони.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478012"/>
            <a:ext cx="4005039" cy="251959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9061" y="1603325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803651" y="206409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TIF / TIFF (.tif)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4803651" y="2370609"/>
            <a:ext cx="3683422" cy="156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Формат за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високо качество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Използва се в предпечатна подготовка и професионална фотография. Поддържа над 16,7 млн. цвята. Файловете са с голям размер.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496119" y="4168712"/>
            <a:ext cx="8151763" cy="793775"/>
          </a:xfrm>
          <a:prstGeom prst="roundRect">
            <a:avLst>
              <a:gd name="adj" fmla="val 16074"/>
            </a:avLst>
          </a:prstGeom>
          <a:solidFill>
            <a:srgbClr val="DDEEE0"/>
          </a:solidFill>
          <a:ln/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803" y="4391992"/>
            <a:ext cx="286615" cy="22931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28997" y="4338785"/>
            <a:ext cx="7549307" cy="62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Nobile Bold" pitchFamily="34" charset="-122"/>
                <a:cs typeface="Nobile Bold" pitchFamily="34" charset="-120"/>
              </a:rPr>
              <a:t>Прозрачност</a:t>
            </a:r>
            <a:r>
              <a:rPr lang="en-US" sz="14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 поддържат: </a:t>
            </a:r>
            <a:r>
              <a:rPr lang="en-US" sz="1400" b="1" dirty="0">
                <a:solidFill>
                  <a:srgbClr val="000000"/>
                </a:solidFill>
                <a:ea typeface="Nobile Bold" pitchFamily="34" charset="-122"/>
                <a:cs typeface="Nobile Bold" pitchFamily="34" charset="-120"/>
              </a:rPr>
              <a:t>PNG, GIF, TIFF</a:t>
            </a:r>
            <a:r>
              <a:rPr lang="en-US" sz="14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 — позволяват лесно поставяне на елементи върху различен фон.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747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Практическа задача: Запазване в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различни</a:t>
            </a:r>
            <a:r>
              <a:rPr lang="en-US" sz="24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 </a:t>
            </a:r>
            <a:r>
              <a:rPr lang="en-US" sz="24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Bold" pitchFamily="34" charset="0"/>
              </a:rPr>
              <a:t>формати</a:t>
            </a:r>
            <a:endParaRPr lang="en-US" sz="24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Bold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277" y="1099955"/>
            <a:ext cx="5254865" cy="31187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8828" y="3070086"/>
            <a:ext cx="1949904" cy="74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Сравни</a:t>
            </a:r>
            <a:r>
              <a:rPr lang="en-US" sz="1600" dirty="0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 </a:t>
            </a:r>
            <a:endParaRPr lang="bg-BG" sz="1600" dirty="0">
              <a:solidFill>
                <a:srgbClr val="405449"/>
              </a:solidFill>
              <a:ea typeface="Fraunces ExtraBold" pitchFamily="34" charset="-122"/>
              <a:cs typeface="Fraunces ExtraBold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резултатите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52589" y="3103345"/>
            <a:ext cx="1306239" cy="49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File → Save 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02429" y="3103346"/>
            <a:ext cx="1306239" cy="49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Отвори файла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4" y="3968363"/>
            <a:ext cx="7511808" cy="50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Следвайте стъпките, за да запазите едно и също изображение в </a:t>
            </a:r>
            <a:r>
              <a:rPr lang="en-US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различни</a:t>
            </a:r>
            <a:r>
              <a:rPr lang="bg-BG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формати</a:t>
            </a: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и </a:t>
            </a:r>
            <a:endParaRPr lang="bg-BG" dirty="0">
              <a:solidFill>
                <a:srgbClr val="405449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ctr">
              <a:lnSpc>
                <a:spcPct val="114000"/>
              </a:lnSpc>
              <a:buNone/>
            </a:pPr>
            <a:r>
              <a:rPr lang="en-US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да</a:t>
            </a: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сравните резултатите.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C7D0-E072-366E-425B-8F5652C4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38EEFEFC-0A23-24D1-5C79-8744810B1E9F}"/>
              </a:ext>
            </a:extLst>
          </p:cNvPr>
          <p:cNvSpPr/>
          <p:nvPr/>
        </p:nvSpPr>
        <p:spPr>
          <a:xfrm>
            <a:off x="561894" y="333789"/>
            <a:ext cx="8151763" cy="933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Упражнения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CDE63CE-12E4-C455-53EB-8E97D324A0B5}"/>
              </a:ext>
            </a:extLst>
          </p:cNvPr>
          <p:cNvSpPr/>
          <p:nvPr/>
        </p:nvSpPr>
        <p:spPr>
          <a:xfrm>
            <a:off x="496118" y="1421822"/>
            <a:ext cx="8151763" cy="2909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14000"/>
              </a:lnSpc>
              <a:buSzPct val="100000"/>
              <a:buChar char="•"/>
            </a:pPr>
            <a:r>
              <a:rPr lang="bg-BG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Зад.1. 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Нарисувайте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геометрични фигури в Paint и ги запишете като </a:t>
            </a:r>
            <a:r>
              <a:rPr lang="en-US" sz="20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figure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с разширения .bmp, .png, .tif, .jpg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Сравнете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20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големината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на получените файлове</a:t>
            </a:r>
            <a:endParaRPr lang="en-US" sz="2000" dirty="0"/>
          </a:p>
          <a:p>
            <a:pPr marL="152400" indent="-152400">
              <a:lnSpc>
                <a:spcPct val="114000"/>
              </a:lnSpc>
              <a:buSzPct val="100000"/>
              <a:buChar char="•"/>
            </a:pPr>
            <a:r>
              <a:rPr lang="bg-BG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bile" pitchFamily="34" charset="-122"/>
                <a:cs typeface="Nobile" pitchFamily="34" charset="-120"/>
              </a:rPr>
              <a:t>Зад.2.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Отворете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файла </a:t>
            </a:r>
            <a:r>
              <a:rPr lang="en-US" sz="20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boyanska_tsarkva.jpg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от приложените материали към урока с програмата 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Paint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Съхранете го във формати 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.bmp, .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png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и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.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tif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 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увеличете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изображението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С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равн</a:t>
            </a:r>
            <a:r>
              <a:rPr lang="bg-BG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ет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е </a:t>
            </a:r>
            <a:r>
              <a:rPr lang="en-US" sz="20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качеството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на изображението от различните файлове като го увеличавате в програмата </a:t>
            </a:r>
            <a:r>
              <a:rPr lang="en-US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Paint</a:t>
            </a:r>
            <a:r>
              <a:rPr lang="bg-BG" sz="20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412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440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Основни</a:t>
            </a:r>
            <a:r>
              <a:rPr lang="en-US" sz="32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понятия</a:t>
            </a:r>
            <a:endParaRPr lang="en-US" sz="32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6613" y="1037332"/>
            <a:ext cx="205978" cy="2059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71380" y="1033090"/>
            <a:ext cx="4276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Графични файлови формати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2"/>
          <p:cNvSpPr/>
          <p:nvPr/>
        </p:nvSpPr>
        <p:spPr>
          <a:xfrm>
            <a:off x="4371380" y="1327398"/>
            <a:ext cx="427650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Формати, които съхраняват изображенията по различен начин.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6613" y="2030313"/>
            <a:ext cx="205978" cy="2059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71380" y="2026072"/>
            <a:ext cx="4276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Растерна графика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4"/>
          <p:cNvSpPr/>
          <p:nvPr/>
        </p:nvSpPr>
        <p:spPr>
          <a:xfrm>
            <a:off x="4371380" y="2320379"/>
            <a:ext cx="427650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Изображение от точки (пиксели), подредени в правилна решетка.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6613" y="3023295"/>
            <a:ext cx="205978" cy="2059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71380" y="3019053"/>
            <a:ext cx="4276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Векторна графика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6"/>
          <p:cNvSpPr/>
          <p:nvPr/>
        </p:nvSpPr>
        <p:spPr>
          <a:xfrm>
            <a:off x="4371380" y="3313361"/>
            <a:ext cx="427650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Изображение от обекти, изградени от вектори (линии, криви).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6613" y="4016276"/>
            <a:ext cx="205978" cy="20597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71380" y="4012034"/>
            <a:ext cx="4276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Прозрачност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8"/>
          <p:cNvSpPr/>
          <p:nvPr/>
        </p:nvSpPr>
        <p:spPr>
          <a:xfrm>
            <a:off x="4371380" y="4306342"/>
            <a:ext cx="427650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Част от изображението, която не се вижда — поддържат я PNG, GIF, TIFF.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689</Words>
  <Application>Microsoft Office PowerPoint</Application>
  <PresentationFormat>Презентация на цял екран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7" baseType="lpstr">
      <vt:lpstr>Nobile Bold</vt:lpstr>
      <vt:lpstr>Twemoji Mozilla</vt:lpstr>
      <vt:lpstr>Fraunces ExtraBold</vt:lpstr>
      <vt:lpstr>Nobile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3</cp:revision>
  <dcterms:created xsi:type="dcterms:W3CDTF">2026-07-25T10:02:36Z</dcterms:created>
  <dcterms:modified xsi:type="dcterms:W3CDTF">2026-07-25T11:19:27Z</dcterms:modified>
</cp:coreProperties>
</file>