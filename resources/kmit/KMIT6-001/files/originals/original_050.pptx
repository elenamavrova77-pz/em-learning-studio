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  <p:sldId id="271" r:id="rId9"/>
    <p:sldId id="269" r:id="rId10"/>
    <p:sldId id="272" r:id="rId11"/>
  </p:sldIdLst>
  <p:sldSz cx="12192000" cy="6858000"/>
  <p:notesSz cx="6858000" cy="9144000"/>
  <p:custDataLst>
    <p:tags r:id="rId12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charset="0"/>
        <a:ea typeface="Rockwell" charset="0"/>
        <a:cs typeface="Rockwel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charset="0"/>
        <a:ea typeface="Rockwell" charset="0"/>
        <a:cs typeface="Rockwel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charset="0"/>
        <a:ea typeface="Rockwell" charset="0"/>
        <a:cs typeface="Rockwel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charset="0"/>
        <a:ea typeface="Rockwell" charset="0"/>
        <a:cs typeface="Rockwel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charset="0"/>
        <a:ea typeface="Rockwell" charset="0"/>
        <a:cs typeface="Rockwel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ockwell" charset="0"/>
        <a:ea typeface="Rockwell" charset="0"/>
        <a:cs typeface="Rockwel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ockwell" charset="0"/>
        <a:ea typeface="Rockwell" charset="0"/>
        <a:cs typeface="Rockwel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ockwell" charset="0"/>
        <a:ea typeface="Rockwell" charset="0"/>
        <a:cs typeface="Rockwel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ockwell" charset="0"/>
        <a:ea typeface="Rockwell" charset="0"/>
        <a:cs typeface="Rockwel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" d="100"/>
          <a:sy n="10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/>
          <a:lstStyle>
            <a:lvl1pPr algn="ctr">
              <a:defRPr sz="6600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 noProof="0"/>
              <a:t>Щракнете, за да редактирате стила на подзаглавието в образеца</a:t>
            </a:r>
            <a:endParaRPr lang="en-US" noProof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F429A7-A688-415F-A26E-BEBA85E93A36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56380496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291215" cy="3450613"/>
          </a:xfrm>
        </p:spPr>
        <p:txBody>
          <a:bodyPr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9987A9-6B41-415A-B784-104C8558FA11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190451774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FA4E29-0099-4AFC-B56C-9282EC4925B3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322591516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20606F-8777-4C43-AF13-96D0C9D413A4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13434234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F2D88E-8B81-4474-B41D-15570050424D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54219621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DAFA8-80DA-4626-A1CB-3CD01AD38CD6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162652797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913B9-1EDC-4CDC-84A0-BB46E11D13E8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17444598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DCC9FD-F87D-4A8B-B669-5A5E6063FEF5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356519830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77125" y="482600"/>
            <a:ext cx="4075113" cy="5149850"/>
            <a:chOff x="7477387" y="482170"/>
            <a:chExt cx="4074533" cy="5149101"/>
          </a:xfrm>
        </p:grpSpPr>
        <p:sp>
          <p:nvSpPr>
            <p:cNvPr id="6" name="Rectangle 1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7">
                <a:alphaModFix amt="30000"/>
              </a:blip>
              <a:srcRect/>
              <a:tile tx="0" ty="0" sx="100000" sy="100000" flip="none" algn="tl"/>
            </a:blipFill>
            <a:ln>
              <a:noFill/>
            </a:ln>
            <a:effectLst>
              <a:outerShdw blurRad="127000" dist="228600" dir="4739999" sx="98000" sy="98000" algn="tl" rotWithShape="0">
                <a:srgbClr val="000000">
                  <a:alpha val="34000"/>
                </a:srgbClr>
              </a:outerShdw>
            </a:effectLst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tx2"/>
              </a:extrusionClr>
            </a:sp3d>
            <a:extLst>
              <a:ext uri="{91240B29-F687-4F45-9708-019B960494DF}">
                <a14:hiddenLine xmlns:a14="http://schemas.microsoft.com/office/drawing/2010/main" w="76200" cap="flat" algn="ctr">
                  <a:noFill/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>
              <a:flatTx/>
            </a:bodyPr>
            <a:lstStyle/>
            <a:p>
              <a:endParaRPr lang="bg-BG" altLang="bg-BG"/>
            </a:p>
          </p:txBody>
        </p:sp>
        <p:sp>
          <p:nvSpPr>
            <p:cNvPr id="7" name="Rectangle 1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790446" y="812506"/>
              <a:ext cx="3450289" cy="4466452"/>
            </a:xfrm>
            <a:prstGeom prst="rect">
              <a:avLst/>
            </a:prstGeom>
            <a:gradFill rotWithShape="1"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/>
            </a:gradFill>
            <a:ln w="38100" cap="flat" algn="ctr">
              <a:solidFill>
                <a:srgbClr val="3E352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pPr fontAlgn="auto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Rockwell" panose="02060603020205020403"/>
                <a:ea typeface="Arial"/>
                <a:cs typeface="Arial"/>
                <a:sym typeface="Wingding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rtlCol="0">
            <a:normAutofit/>
          </a:bodyPr>
          <a:lstStyle>
            <a:lvl1pPr>
              <a:defRPr lang="en-US" sz="3200"/>
            </a:lvl1pPr>
          </a:lstStyle>
          <a:p>
            <a:pPr lvl="0"/>
            <a:r>
              <a:rPr lang="bg-BG" noProof="0"/>
              <a:t>Щракнете върху иконата, за да добавите картина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A41FB84-AB44-4189-BF73-B0B4A32F7D0D}" type="slidenum">
              <a:rPr lang="en-GB" altLang="bg-BG"/>
              <a:pPr/>
              <a:t>‹#›</a:t>
            </a:fld>
            <a:endParaRPr lang="en-GB" altLang="bg-BG"/>
          </a:p>
        </p:txBody>
      </p:sp>
      <p:sp>
        <p:nvSpPr>
          <p:cNvPr id="9" name="Date Placeholder 4"/>
          <p:cNvSpPr>
            <a:spLocks noGrp="1" noChangeArrowheads="1"/>
          </p:cNvSpPr>
          <p:nvPr>
            <p:ph type="dt" sz="half" idx="11"/>
            <p:custDataLst>
              <p:tags r:id="rId2"/>
            </p:custDataLst>
          </p:nvPr>
        </p:nvSpPr>
        <p:spPr>
          <a:xfrm>
            <a:off x="1447800" y="5470525"/>
            <a:ext cx="5527675" cy="320675"/>
          </a:xfrm>
        </p:spPr>
        <p:txBody>
          <a:bodyPr/>
          <a:lstStyle>
            <a:lvl1pPr algn="l">
              <a:defRPr/>
            </a:lvl1pPr>
          </a:lstStyle>
          <a:p>
            <a:endParaRPr lang="en-GB" altLang="bg-BG"/>
          </a:p>
        </p:txBody>
      </p:sp>
      <p:sp>
        <p:nvSpPr>
          <p:cNvPr id="10" name="Footer Placeholder 5"/>
          <p:cNvSpPr>
            <a:spLocks noGrp="1" noChangeArrowheads="1"/>
          </p:cNvSpPr>
          <p:nvPr>
            <p:ph type="ftr" sz="quarter" idx="12"/>
            <p:custDataLst>
              <p:tags r:id="rId3"/>
            </p:custDataLst>
          </p:nvPr>
        </p:nvSpPr>
        <p:spPr>
          <a:xfrm>
            <a:off x="1447800" y="319088"/>
            <a:ext cx="5540375" cy="320675"/>
          </a:xfrm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384425123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1579" y="2015732"/>
            <a:ext cx="9291215" cy="3450613"/>
          </a:xfrm>
        </p:spPr>
        <p:txBody>
          <a:bodyPr vert="eaVert"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977469-B7E0-437A-A4C9-319E6D1B34ED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33459398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261A7D-6735-467A-B050-E25FA86EF67D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10161677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49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0975" y="804863"/>
            <a:ext cx="9291638" cy="10493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 noProof="0">
                <a:sym typeface="Wingdings"/>
              </a:rPr>
              <a:t>Редакт. стил загл. образец</a:t>
            </a:r>
            <a:endParaRPr lang="en-US" noProof="0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50975" y="2016125"/>
            <a:ext cx="9291638" cy="345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bg-BG"/>
              <a:t>Edit Master text styles</a:t>
            </a:r>
          </a:p>
          <a:p>
            <a:pPr lvl="1"/>
            <a:r>
              <a:rPr lang="en-US" altLang="bg-BG"/>
              <a:t>Second level</a:t>
            </a:r>
          </a:p>
          <a:p>
            <a:pPr lvl="2"/>
            <a:r>
              <a:rPr lang="en-US" altLang="bg-BG"/>
              <a:t>Third level</a:t>
            </a:r>
          </a:p>
          <a:p>
            <a:pPr lvl="3"/>
            <a:r>
              <a:rPr lang="en-US" altLang="bg-BG"/>
              <a:t>Fourth level</a:t>
            </a:r>
          </a:p>
          <a:p>
            <a:pPr lvl="4"/>
            <a:r>
              <a:rPr lang="en-US" altLang="bg-BG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42175" y="330200"/>
            <a:ext cx="3500438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endParaRPr lang="en-GB" altLang="bg-BG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50975" y="328613"/>
            <a:ext cx="5626100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GB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9425" y="798513"/>
            <a:ext cx="811213" cy="5032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5E06F75-4121-40E7-A349-D28774844BC9}" type="slidenum">
              <a:rPr lang="en-GB" altLang="bg-BG"/>
              <a:pPr/>
              <a:t>‹#›</a:t>
            </a:fld>
            <a:endParaRPr lang="en-GB" altLang="bg-BG"/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0" y="3622675"/>
            <a:ext cx="12192000" cy="2506663"/>
          </a:xfrm>
          <a:prstGeom prst="rect">
            <a:avLst/>
          </a:prstGeom>
          <a:gradFill rotWithShape="1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79999"/>
                </a:srgbClr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1587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fontAlgn="auto"/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FFFFFF"/>
              </a:solidFill>
              <a:latin typeface="Rockwell" panose="02060603020205020403"/>
              <a:ea typeface="Arial"/>
              <a:cs typeface="Arial"/>
              <a:sym typeface="Wingdings"/>
            </a:endParaRPr>
          </a:p>
        </p:txBody>
      </p:sp>
      <p:pic>
        <p:nvPicPr>
          <p:cNvPr id="1032" name="Picture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7" b="-1538"/>
          <a:stretch>
            <a:fillRect/>
          </a:stretch>
        </p:blipFill>
        <p:spPr bwMode="auto">
          <a:xfrm>
            <a:off x="0" y="6129338"/>
            <a:ext cx="121920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cxnSp>
        <p:nvCxnSpPr>
          <p:cNvPr id="1033" name="Straight Connector 11"/>
          <p:cNvCxnSpPr>
            <a:cxnSpLocks noChangeShapeType="1"/>
          </p:cNvCxnSpPr>
          <p:nvPr/>
        </p:nvCxnSpPr>
        <p:spPr bwMode="auto">
          <a:xfrm>
            <a:off x="0" y="6138863"/>
            <a:ext cx="12192000" cy="0"/>
          </a:xfrm>
          <a:prstGeom prst="line">
            <a:avLst/>
          </a:prstGeom>
          <a:noFill/>
          <a:ln w="12700" cap="flat" algn="ctr">
            <a:solidFill>
              <a:srgbClr val="00000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2" r:id="rId9"/>
    <p:sldLayoutId id="2147483770" r:id="rId10"/>
    <p:sldLayoutId id="2147483771" r:id="rId11"/>
  </p:sldLayoutIdLst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3200" kern="1200" cap="all">
          <a:solidFill>
            <a:schemeClr val="accent1"/>
          </a:solidFill>
          <a:latin typeface="+mj-lt"/>
          <a:ea typeface="+mj-ea"/>
          <a:cs typeface="+mj-cs"/>
        </a:defRPr>
      </a:lvl1pPr>
      <a:lvl2pPr algn="ctr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Rockwell" charset="0"/>
          <a:cs typeface="Arial" charset="0"/>
        </a:defRPr>
      </a:lvl2pPr>
      <a:lvl3pPr algn="ctr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Rockwell" charset="0"/>
          <a:cs typeface="Arial" charset="0"/>
        </a:defRPr>
      </a:lvl3pPr>
      <a:lvl4pPr algn="ctr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Rockwell" charset="0"/>
          <a:cs typeface="Arial" charset="0"/>
        </a:defRPr>
      </a:lvl4pPr>
      <a:lvl5pPr algn="ctr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Rockwell" charset="0"/>
          <a:cs typeface="Arial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Rockwell" charset="0"/>
          <a:cs typeface="Arial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Rockwell" charset="0"/>
          <a:cs typeface="Arial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Rockwell" charset="0"/>
          <a:cs typeface="Arial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Rockwell" charset="0"/>
          <a:cs typeface="Arial" charset="0"/>
        </a:defRPr>
      </a:lvl9pPr>
    </p:titleStyle>
    <p:bodyStyle>
      <a:lvl1pPr marL="228600" indent="-228600" algn="l" rtl="0" fontAlgn="base">
        <a:lnSpc>
          <a:spcPct val="120000"/>
        </a:lnSpc>
        <a:spcBef>
          <a:spcPts val="1000"/>
        </a:spcBef>
        <a:spcAft>
          <a:spcPct val="0"/>
        </a:spcAft>
        <a:buClr>
          <a:schemeClr val="accent1"/>
        </a:buClr>
        <a:buSzPct val="10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Tx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Tx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Tx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Tx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image" Target="../media/image5.pn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image" Target="../media/image7.png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image" Target="../media/image6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image" Target="../media/image8.png"/><Relationship Id="rId2" Type="http://schemas.openxmlformats.org/officeDocument/2006/relationships/tags" Target="../tags/tag31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11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image" Target="../media/image14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6.xml"/><Relationship Id="rId10" Type="http://schemas.openxmlformats.org/officeDocument/2006/relationships/tags" Target="../tags/tag61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1271464" y="908720"/>
            <a:ext cx="10081120" cy="4003526"/>
          </a:xfrm>
        </p:spPr>
        <p:txBody>
          <a:bodyPr>
            <a:normAutofit fontScale="90000"/>
          </a:bodyPr>
          <a:lstStyle/>
          <a:p>
            <a:pPr fontAlgn="auto"/>
            <a:br>
              <a:rPr lang="ru-RU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</a:br>
            <a:r>
              <a:rPr lang="ru-RU" altLang="bg-BG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Форматиране</a:t>
            </a:r>
            <a:r>
              <a:rPr lang="ru-RU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 на страница.</a:t>
            </a:r>
            <a:br>
              <a:rPr lang="ru-RU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</a:br>
            <a:r>
              <a:rPr lang="ru-RU" altLang="bg-BG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отпечатване</a:t>
            </a:r>
            <a:r>
              <a:rPr lang="ru-RU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 на текстов документ.</a:t>
            </a:r>
            <a:endParaRPr lang="en-GB" alt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Текстово поле 1"/>
          <p:cNvSpPr txBox="1"/>
          <p:nvPr/>
        </p:nvSpPr>
        <p:spPr>
          <a:xfrm>
            <a:off x="2855640" y="6380621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КМИТ, 6 клас, Маврова-Ненкова</a:t>
            </a:r>
          </a:p>
        </p:txBody>
      </p:sp>
      <p:pic>
        <p:nvPicPr>
          <p:cNvPr id="1026" name="Picture 2" descr="Курс по MS Word | Progress | Компютърни курсове">
            <a:extLst>
              <a:ext uri="{FF2B5EF4-FFF2-40B4-BE49-F238E27FC236}">
                <a16:creationId xmlns:a16="http://schemas.microsoft.com/office/drawing/2014/main" id="{37F5A70E-2A79-61FE-B8BE-FB29A2034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04" y="1196752"/>
            <a:ext cx="1862336" cy="186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35360" y="260648"/>
            <a:ext cx="11883628" cy="1012974"/>
          </a:xfrm>
        </p:spPr>
        <p:txBody>
          <a:bodyPr>
            <a:normAutofit/>
          </a:bodyPr>
          <a:lstStyle/>
          <a:p>
            <a:pPr algn="l" fontAlgn="auto"/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sym typeface="Wingdings"/>
              </a:rPr>
              <a:t>1. 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sym typeface="Wingdings"/>
              </a:rPr>
              <a:t>Характеристики на страница на текстов документ</a:t>
            </a:r>
            <a:endParaRPr lang="bg-BG" altLang="bg-BG" sz="2800" b="1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124744"/>
            <a:ext cx="11083602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Овал 1"/>
          <p:cNvSpPr/>
          <p:nvPr/>
        </p:nvSpPr>
        <p:spPr>
          <a:xfrm>
            <a:off x="5175325" y="1358891"/>
            <a:ext cx="4104456" cy="576064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4" name="Съединител &quot;права стрелка&quot; 3"/>
          <p:cNvCxnSpPr/>
          <p:nvPr/>
        </p:nvCxnSpPr>
        <p:spPr>
          <a:xfrm flipH="1">
            <a:off x="2999656" y="2564904"/>
            <a:ext cx="1296144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Съединител &quot;права стрелка&quot; 5"/>
          <p:cNvCxnSpPr/>
          <p:nvPr/>
        </p:nvCxnSpPr>
        <p:spPr>
          <a:xfrm flipH="1">
            <a:off x="4799856" y="2564904"/>
            <a:ext cx="936104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Съединител &quot;права стрелка&quot; 7"/>
          <p:cNvCxnSpPr/>
          <p:nvPr/>
        </p:nvCxnSpPr>
        <p:spPr>
          <a:xfrm>
            <a:off x="6960096" y="2276872"/>
            <a:ext cx="504056" cy="10149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Текстово поле 8"/>
          <p:cNvSpPr txBox="1"/>
          <p:nvPr/>
        </p:nvSpPr>
        <p:spPr>
          <a:xfrm>
            <a:off x="623392" y="3013274"/>
            <a:ext cx="28083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Margins</a:t>
            </a:r>
            <a:endParaRPr lang="bg-BG" altLang="bg-BG" sz="28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Wingdings"/>
            </a:endParaRPr>
          </a:p>
          <a:p>
            <a:pPr algn="ctr"/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(Полета)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bg-BG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настройва полетата на страницата</a:t>
            </a:r>
          </a:p>
          <a:p>
            <a:pPr algn="ctr"/>
            <a:endParaRPr lang="bg-B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авоъгълник 9"/>
          <p:cNvSpPr/>
          <p:nvPr/>
        </p:nvSpPr>
        <p:spPr>
          <a:xfrm>
            <a:off x="6497733" y="3291775"/>
            <a:ext cx="3048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defTabSz="914400" fontAlgn="auto">
              <a:spcBef>
                <a:spcPts val="0"/>
              </a:spcBef>
              <a:buClr>
                <a:srgbClr val="FB8C29"/>
              </a:buClr>
              <a:buSzPct val="85000"/>
            </a:pP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Размер</a:t>
            </a:r>
          </a:p>
          <a:p>
            <a:pPr lvl="0" algn="ctr" defTabSz="914400" fontAlgn="auto">
              <a:spcBef>
                <a:spcPts val="0"/>
              </a:spcBef>
              <a:buClr>
                <a:srgbClr val="FB8C29"/>
              </a:buClr>
              <a:buSzPct val="85000"/>
            </a:pP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(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Paper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</a:t>
            </a:r>
          </a:p>
          <a:p>
            <a:pPr lvl="0" algn="ctr" defTabSz="914400" fontAlgn="auto">
              <a:spcBef>
                <a:spcPts val="0"/>
              </a:spcBef>
              <a:buClr>
                <a:srgbClr val="FB8C29"/>
              </a:buClr>
              <a:buSzPct val="85000"/>
            </a:pPr>
            <a:r>
              <a:rPr lang="bg-BG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определя формата на листа</a:t>
            </a:r>
            <a:endParaRPr lang="en-US" altLang="bg-BG" sz="2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авоъгълник 10"/>
          <p:cNvSpPr/>
          <p:nvPr/>
        </p:nvSpPr>
        <p:spPr>
          <a:xfrm>
            <a:off x="3467701" y="3284984"/>
            <a:ext cx="3048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defTabSz="914400" fontAlgn="auto">
              <a:spcBef>
                <a:spcPts val="0"/>
              </a:spcBef>
              <a:buClr>
                <a:srgbClr val="FB8C29"/>
              </a:buClr>
              <a:buSzPct val="85000"/>
            </a:pP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Ориентация (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Layout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endParaRPr lang="bg-BG" altLang="bg-BG" sz="28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Wingdings"/>
            </a:endParaRPr>
          </a:p>
          <a:p>
            <a:pPr lvl="0" algn="ctr" defTabSz="914400" fontAlgn="auto">
              <a:spcBef>
                <a:spcPts val="0"/>
              </a:spcBef>
              <a:buClr>
                <a:srgbClr val="FB8C29"/>
              </a:buClr>
              <a:buSzPct val="85000"/>
            </a:pPr>
            <a:r>
              <a:rPr lang="bg-BG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оформя страницата</a:t>
            </a:r>
          </a:p>
        </p:txBody>
      </p:sp>
      <p:sp>
        <p:nvSpPr>
          <p:cNvPr id="25" name="Овал 24"/>
          <p:cNvSpPr/>
          <p:nvPr/>
        </p:nvSpPr>
        <p:spPr>
          <a:xfrm>
            <a:off x="10992544" y="2636912"/>
            <a:ext cx="948458" cy="57606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Текстово поле 19"/>
          <p:cNvSpPr txBox="1"/>
          <p:nvPr/>
        </p:nvSpPr>
        <p:spPr>
          <a:xfrm>
            <a:off x="263352" y="5676917"/>
            <a:ext cx="11443642" cy="954107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Определянето на основните характеристики на листа може да стане и от прозореца </a:t>
            </a:r>
            <a:r>
              <a:rPr lang="bg-BG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на страниците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(Page Setup)</a:t>
            </a:r>
            <a:endParaRPr lang="bg-BG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Съединител &quot;права стрелка&quot; 21"/>
          <p:cNvCxnSpPr>
            <a:stCxn id="25" idx="4"/>
          </p:cNvCxnSpPr>
          <p:nvPr/>
        </p:nvCxnSpPr>
        <p:spPr>
          <a:xfrm flipH="1">
            <a:off x="10488488" y="3212976"/>
            <a:ext cx="978285" cy="247795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306" y="1435256"/>
            <a:ext cx="3640435" cy="42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343025" y="188913"/>
            <a:ext cx="9291638" cy="1049337"/>
          </a:xfrm>
        </p:spPr>
        <p:txBody>
          <a:bodyPr/>
          <a:lstStyle/>
          <a:p>
            <a:pPr fontAlgn="auto"/>
            <a:r>
              <a:rPr lang="en-US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a) </a:t>
            </a: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Раздел </a:t>
            </a: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Полета (</a:t>
            </a:r>
            <a:r>
              <a:rPr lang="en-US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Margins</a:t>
            </a: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</a:t>
            </a:r>
            <a:endParaRPr lang="bg-BG" altLang="bg-B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38325" y="1533525"/>
            <a:ext cx="1600200" cy="609600"/>
          </a:xfrm>
          <a:prstGeom prst="borderCallout1">
            <a:avLst>
              <a:gd name="adj1" fmla="val 18750"/>
              <a:gd name="adj2" fmla="val 104764"/>
              <a:gd name="adj3" fmla="val 99100"/>
              <a:gd name="adj4" fmla="val 174903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Отстъп от горната част</a:t>
            </a:r>
          </a:p>
        </p:txBody>
      </p:sp>
      <p:sp>
        <p:nvSpPr>
          <p:cNvPr id="5125" name="AutoShap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38325" y="2219325"/>
            <a:ext cx="1600200" cy="609600"/>
          </a:xfrm>
          <a:prstGeom prst="borderCallout1">
            <a:avLst>
              <a:gd name="adj1" fmla="val 18750"/>
              <a:gd name="adj2" fmla="val 104764"/>
              <a:gd name="adj3" fmla="val 20531"/>
              <a:gd name="adj4" fmla="val 177712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Отстъп от лявата част</a:t>
            </a:r>
          </a:p>
        </p:txBody>
      </p:sp>
      <p:sp>
        <p:nvSpPr>
          <p:cNvPr id="5126" name="AutoShap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976320" y="1340768"/>
            <a:ext cx="1752600" cy="609600"/>
          </a:xfrm>
          <a:prstGeom prst="borderCallout1">
            <a:avLst>
              <a:gd name="adj1" fmla="val 18750"/>
              <a:gd name="adj2" fmla="val -4347"/>
              <a:gd name="adj3" fmla="val 126565"/>
              <a:gd name="adj4" fmla="val -67120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Отстъп от долната част</a:t>
            </a:r>
          </a:p>
        </p:txBody>
      </p:sp>
      <p:sp>
        <p:nvSpPr>
          <p:cNvPr id="5127" name="AutoShap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976320" y="2143125"/>
            <a:ext cx="1752600" cy="609600"/>
          </a:xfrm>
          <a:prstGeom prst="borderCallout1">
            <a:avLst>
              <a:gd name="adj1" fmla="val 18750"/>
              <a:gd name="adj2" fmla="val -4347"/>
              <a:gd name="adj3" fmla="val 25782"/>
              <a:gd name="adj4" fmla="val -65398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Отстъп от дясната част</a:t>
            </a:r>
          </a:p>
        </p:txBody>
      </p:sp>
      <p:sp>
        <p:nvSpPr>
          <p:cNvPr id="5128" name="AutoShap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19275" y="2940050"/>
            <a:ext cx="2209800" cy="609600"/>
          </a:xfrm>
          <a:prstGeom prst="borderCallout1">
            <a:avLst>
              <a:gd name="adj1" fmla="val 18750"/>
              <a:gd name="adj2" fmla="val 103449"/>
              <a:gd name="adj3" fmla="val -63819"/>
              <a:gd name="adj4" fmla="val 127409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Допълнителен канал за перфориране</a:t>
            </a:r>
          </a:p>
        </p:txBody>
      </p:sp>
      <p:sp>
        <p:nvSpPr>
          <p:cNvPr id="5129" name="AutoShap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747720" y="2871788"/>
            <a:ext cx="2209800" cy="914400"/>
          </a:xfrm>
          <a:prstGeom prst="borderCallout1">
            <a:avLst>
              <a:gd name="adj1" fmla="val 12500"/>
              <a:gd name="adj2" fmla="val -3449"/>
              <a:gd name="adj3" fmla="val -28995"/>
              <a:gd name="adj4" fmla="val -45690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Задаване позиция на канала за перфориране</a:t>
            </a:r>
          </a:p>
        </p:txBody>
      </p:sp>
      <p:sp>
        <p:nvSpPr>
          <p:cNvPr id="5130" name="AutoShap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819275" y="3633788"/>
            <a:ext cx="2286000" cy="304800"/>
          </a:xfrm>
          <a:prstGeom prst="borderCallout1">
            <a:avLst>
              <a:gd name="adj1" fmla="val 37500"/>
              <a:gd name="adj2" fmla="val 103333"/>
              <a:gd name="adj3" fmla="val -166519"/>
              <a:gd name="adj4" fmla="val 129212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Ориентация -портрет</a:t>
            </a:r>
          </a:p>
        </p:txBody>
      </p:sp>
      <p:sp>
        <p:nvSpPr>
          <p:cNvPr id="5131" name="AutoShap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800225" y="3994150"/>
            <a:ext cx="2209800" cy="304800"/>
          </a:xfrm>
          <a:prstGeom prst="borderCallout1">
            <a:avLst>
              <a:gd name="adj1" fmla="val 37500"/>
              <a:gd name="adj2" fmla="val 103449"/>
              <a:gd name="adj3" fmla="val -236912"/>
              <a:gd name="adj4" fmla="val 160518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Ориентация -пейзаж</a:t>
            </a:r>
          </a:p>
        </p:txBody>
      </p:sp>
      <p:sp>
        <p:nvSpPr>
          <p:cNvPr id="5132" name="AutoShap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747720" y="4097573"/>
            <a:ext cx="2209800" cy="1635683"/>
          </a:xfrm>
          <a:prstGeom prst="borderCallout1">
            <a:avLst>
              <a:gd name="adj1" fmla="val 6102"/>
              <a:gd name="adj2" fmla="val -3449"/>
              <a:gd name="adj3" fmla="val -19312"/>
              <a:gd name="adj4" fmla="val -104053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Многобройни страници: огледални полета</a:t>
            </a:r>
            <a:r>
              <a:rPr lang="en-US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удвояване на страницата</a:t>
            </a:r>
            <a:r>
              <a:rPr lang="en-US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сгъване като на книга или брошура</a:t>
            </a:r>
          </a:p>
        </p:txBody>
      </p:sp>
      <p:sp>
        <p:nvSpPr>
          <p:cNvPr id="5133" name="AutoShape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800225" y="4675188"/>
            <a:ext cx="2362200" cy="838200"/>
          </a:xfrm>
          <a:prstGeom prst="borderCallout1">
            <a:avLst>
              <a:gd name="adj1" fmla="val 13634"/>
              <a:gd name="adj2" fmla="val 103227"/>
              <a:gd name="adj3" fmla="val -28322"/>
              <a:gd name="adj4" fmla="val 131582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като цял документ или тази</a:t>
            </a:r>
            <a:r>
              <a:rPr lang="en-US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 в преден план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6" y="1684863"/>
            <a:ext cx="3706093" cy="4274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420813" y="312738"/>
            <a:ext cx="9291637" cy="1049337"/>
          </a:xfrm>
        </p:spPr>
        <p:txBody>
          <a:bodyPr/>
          <a:lstStyle/>
          <a:p>
            <a:pPr fontAlgn="auto"/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б) Раздел </a:t>
            </a: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Хартия (</a:t>
            </a:r>
            <a:r>
              <a:rPr lang="en-US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Paper</a:t>
            </a: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)</a:t>
            </a:r>
            <a:endParaRPr lang="bg-BG" alt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48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30400" y="2222500"/>
            <a:ext cx="1524000" cy="609600"/>
          </a:xfrm>
          <a:prstGeom prst="borderCallout1">
            <a:avLst>
              <a:gd name="adj1" fmla="val 18750"/>
              <a:gd name="adj2" fmla="val 105000"/>
              <a:gd name="adj3" fmla="val 18750"/>
              <a:gd name="adj4" fmla="val 155000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на страницата</a:t>
            </a:r>
          </a:p>
        </p:txBody>
      </p:sp>
      <p:sp>
        <p:nvSpPr>
          <p:cNvPr id="6149" name="AutoShap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25600" y="4257675"/>
            <a:ext cx="1828800" cy="609600"/>
          </a:xfrm>
          <a:prstGeom prst="borderCallout1">
            <a:avLst>
              <a:gd name="adj1" fmla="val 55879"/>
              <a:gd name="adj2" fmla="val 104167"/>
              <a:gd name="adj3" fmla="val 57468"/>
              <a:gd name="adj4" fmla="val 153571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 на страницата</a:t>
            </a:r>
          </a:p>
        </p:txBody>
      </p:sp>
      <p:sp>
        <p:nvSpPr>
          <p:cNvPr id="6150" name="AutoShap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55902" y="3256823"/>
            <a:ext cx="1524000" cy="609600"/>
          </a:xfrm>
          <a:prstGeom prst="borderCallout1">
            <a:avLst>
              <a:gd name="adj1" fmla="val 18750"/>
              <a:gd name="adj2" fmla="val 105000"/>
              <a:gd name="adj3" fmla="val -12749"/>
              <a:gd name="adj4" fmla="val 150601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Първа страница</a:t>
            </a:r>
          </a:p>
        </p:txBody>
      </p:sp>
      <p:sp>
        <p:nvSpPr>
          <p:cNvPr id="6151" name="AutoShap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297863" y="2505075"/>
            <a:ext cx="1524000" cy="609600"/>
          </a:xfrm>
          <a:prstGeom prst="borderCallout1">
            <a:avLst>
              <a:gd name="adj1" fmla="val 18750"/>
              <a:gd name="adj2" fmla="val -5000"/>
              <a:gd name="adj3" fmla="val 138542"/>
              <a:gd name="adj4" fmla="val -106667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Останалите страници</a:t>
            </a:r>
          </a:p>
        </p:txBody>
      </p:sp>
      <p:sp>
        <p:nvSpPr>
          <p:cNvPr id="6152" name="AutoShap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153400" y="3249613"/>
            <a:ext cx="1975048" cy="914400"/>
          </a:xfrm>
          <a:prstGeom prst="borderCallout1">
            <a:avLst>
              <a:gd name="adj1" fmla="val 12500"/>
              <a:gd name="adj2" fmla="val -3449"/>
              <a:gd name="adj3" fmla="val 25694"/>
              <a:gd name="adj4" fmla="val -59769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подразбиране- автоматичен избор</a:t>
            </a:r>
          </a:p>
        </p:txBody>
      </p:sp>
      <p:sp>
        <p:nvSpPr>
          <p:cNvPr id="6153" name="AutoShap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83563" y="4257675"/>
            <a:ext cx="2209800" cy="609600"/>
          </a:xfrm>
          <a:prstGeom prst="borderCallout1">
            <a:avLst>
              <a:gd name="adj1" fmla="val 18750"/>
              <a:gd name="adj2" fmla="val -3449"/>
              <a:gd name="adj3" fmla="val -98958"/>
              <a:gd name="adj4" fmla="val -62356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Автоматичен  избор</a:t>
            </a:r>
          </a:p>
        </p:txBody>
      </p:sp>
      <p:sp>
        <p:nvSpPr>
          <p:cNvPr id="6154" name="AutoShap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213725" y="5049838"/>
            <a:ext cx="2209800" cy="381000"/>
          </a:xfrm>
          <a:prstGeom prst="borderCallout1">
            <a:avLst>
              <a:gd name="adj1" fmla="val 30000"/>
              <a:gd name="adj2" fmla="val -3449"/>
              <a:gd name="adj3" fmla="val -318333"/>
              <a:gd name="adj4" fmla="val -68389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Ръчно подаване</a:t>
            </a:r>
          </a:p>
        </p:txBody>
      </p:sp>
      <p:sp>
        <p:nvSpPr>
          <p:cNvPr id="6155" name="AutoShap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908175" y="5049838"/>
            <a:ext cx="1752600" cy="914400"/>
          </a:xfrm>
          <a:prstGeom prst="borderCallout1">
            <a:avLst>
              <a:gd name="adj1" fmla="val 70916"/>
              <a:gd name="adj2" fmla="val 107963"/>
              <a:gd name="adj3" fmla="val 47209"/>
              <a:gd name="adj4" fmla="val 277336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Допълнителни настройки за печат</a:t>
            </a:r>
          </a:p>
        </p:txBody>
      </p:sp>
      <p:pic>
        <p:nvPicPr>
          <p:cNvPr id="6156" name="Картина 11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538" y="6562725"/>
            <a:ext cx="233045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7" name="Picture 19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1250321"/>
            <a:ext cx="3943150" cy="447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221038" y="48356"/>
            <a:ext cx="9291638" cy="903236"/>
          </a:xfrm>
        </p:spPr>
        <p:txBody>
          <a:bodyPr/>
          <a:lstStyle/>
          <a:p>
            <a:pPr fontAlgn="auto"/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в) Раздел </a:t>
            </a: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оформление (</a:t>
            </a:r>
            <a:r>
              <a:rPr lang="en-US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Layout</a:t>
            </a: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</a:t>
            </a:r>
            <a:endParaRPr lang="bg-BG" alt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12925" y="1549400"/>
            <a:ext cx="1524000" cy="609600"/>
          </a:xfrm>
          <a:prstGeom prst="borderCallout1">
            <a:avLst>
              <a:gd name="adj1" fmla="val 18750"/>
              <a:gd name="adj2" fmla="val 105000"/>
              <a:gd name="adj3" fmla="val 65285"/>
              <a:gd name="adj4" fmla="val 141683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 стартиране</a:t>
            </a:r>
          </a:p>
        </p:txBody>
      </p:sp>
      <p:sp>
        <p:nvSpPr>
          <p:cNvPr id="7173" name="AutoShap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97013" y="2413000"/>
            <a:ext cx="1828800" cy="609600"/>
          </a:xfrm>
          <a:prstGeom prst="borderCallout1">
            <a:avLst>
              <a:gd name="adj1" fmla="val 18750"/>
              <a:gd name="adj2" fmla="val 104167"/>
              <a:gd name="adj3" fmla="val 6156"/>
              <a:gd name="adj4" fmla="val 133073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en-US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орни и долни колонтитули </a:t>
            </a:r>
            <a:endParaRPr lang="bg-BG" altLang="bg-B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4" name="AutoShap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49413" y="3073400"/>
            <a:ext cx="2133600" cy="609600"/>
          </a:xfrm>
          <a:prstGeom prst="borderCallout1">
            <a:avLst>
              <a:gd name="adj1" fmla="val -10953"/>
              <a:gd name="adj2" fmla="val 92536"/>
              <a:gd name="adj3" fmla="val -71497"/>
              <a:gd name="adj4" fmla="val 112050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 четни и нечетни страници</a:t>
            </a:r>
          </a:p>
        </p:txBody>
      </p:sp>
      <p:sp>
        <p:nvSpPr>
          <p:cNvPr id="7175" name="AutoShap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202613" y="981075"/>
            <a:ext cx="1828800" cy="381000"/>
          </a:xfrm>
          <a:prstGeom prst="borderCallout1">
            <a:avLst>
              <a:gd name="adj1" fmla="val 30000"/>
              <a:gd name="adj2" fmla="val -4167"/>
              <a:gd name="adj3" fmla="val 238531"/>
              <a:gd name="adj4" fmla="val -88700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ahoma" pitchFamily="34" charset="0"/>
              </a:rPr>
              <a:t>Нова страница</a:t>
            </a:r>
          </a:p>
        </p:txBody>
      </p:sp>
      <p:sp>
        <p:nvSpPr>
          <p:cNvPr id="7176" name="AutoShap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897813" y="3108325"/>
            <a:ext cx="2590800" cy="381000"/>
          </a:xfrm>
          <a:prstGeom prst="borderCallout1">
            <a:avLst>
              <a:gd name="adj1" fmla="val 30000"/>
              <a:gd name="adj2" fmla="val -2940"/>
              <a:gd name="adj3" fmla="val -66538"/>
              <a:gd name="adj4" fmla="val -42634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Отстъп от горния ръб</a:t>
            </a:r>
          </a:p>
        </p:txBody>
      </p:sp>
      <p:sp>
        <p:nvSpPr>
          <p:cNvPr id="7177" name="AutoShap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897813" y="4086225"/>
            <a:ext cx="2514600" cy="1143000"/>
          </a:xfrm>
          <a:prstGeom prst="borderCallout1">
            <a:avLst>
              <a:gd name="adj1" fmla="val 10000"/>
              <a:gd name="adj2" fmla="val -3032"/>
              <a:gd name="adj3" fmla="val -46399"/>
              <a:gd name="adj4" fmla="val -41980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Вертикално подравняване: горе, долу, център и двустранно</a:t>
            </a:r>
          </a:p>
        </p:txBody>
      </p:sp>
      <p:sp>
        <p:nvSpPr>
          <p:cNvPr id="7178" name="AutoShap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661364" y="5381625"/>
            <a:ext cx="2362200" cy="609600"/>
          </a:xfrm>
          <a:prstGeom prst="borderCallout1">
            <a:avLst>
              <a:gd name="adj1" fmla="val 18750"/>
              <a:gd name="adj2" fmla="val -3227"/>
              <a:gd name="adj3" fmla="val -7216"/>
              <a:gd name="adj4" fmla="val -44431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Отваря прозореца </a:t>
            </a:r>
            <a:r>
              <a:rPr lang="en-US" alt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Borders and Shading</a:t>
            </a:r>
            <a:endParaRPr lang="bg-BG" alt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9" name="AutoShap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725613" y="4897438"/>
            <a:ext cx="1752600" cy="914400"/>
          </a:xfrm>
          <a:prstGeom prst="borderCallout1">
            <a:avLst>
              <a:gd name="adj1" fmla="val 75866"/>
              <a:gd name="adj2" fmla="val 106930"/>
              <a:gd name="adj3" fmla="val 50279"/>
              <a:gd name="adj4" fmla="val 244071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Поставя номера на редовете</a:t>
            </a:r>
          </a:p>
        </p:txBody>
      </p:sp>
      <p:sp>
        <p:nvSpPr>
          <p:cNvPr id="7180" name="AutoShap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202613" y="1333500"/>
            <a:ext cx="1828800" cy="381000"/>
          </a:xfrm>
          <a:prstGeom prst="borderCallout1">
            <a:avLst>
              <a:gd name="adj1" fmla="val 30000"/>
              <a:gd name="adj2" fmla="val -4167"/>
              <a:gd name="adj3" fmla="val 154678"/>
              <a:gd name="adj4" fmla="val -78814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Продължение</a:t>
            </a:r>
          </a:p>
        </p:txBody>
      </p:sp>
      <p:sp>
        <p:nvSpPr>
          <p:cNvPr id="7181" name="AutoShape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202613" y="2100263"/>
            <a:ext cx="1905000" cy="381000"/>
          </a:xfrm>
          <a:prstGeom prst="borderCallout1">
            <a:avLst>
              <a:gd name="adj1" fmla="val 30000"/>
              <a:gd name="adj2" fmla="val -4000"/>
              <a:gd name="adj3" fmla="val 1197"/>
              <a:gd name="adj4" fmla="val -75313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Четна страница</a:t>
            </a:r>
          </a:p>
        </p:txBody>
      </p:sp>
      <p:sp>
        <p:nvSpPr>
          <p:cNvPr id="7182" name="AutoShape 14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202613" y="2516188"/>
            <a:ext cx="2209800" cy="381000"/>
          </a:xfrm>
          <a:prstGeom prst="borderCallout1">
            <a:avLst>
              <a:gd name="adj1" fmla="val 30000"/>
              <a:gd name="adj2" fmla="val -3449"/>
              <a:gd name="adj3" fmla="val -101993"/>
              <a:gd name="adj4" fmla="val -70103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Нечетна страница</a:t>
            </a:r>
          </a:p>
        </p:txBody>
      </p:sp>
      <p:sp>
        <p:nvSpPr>
          <p:cNvPr id="7183" name="AutoShape 1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8202613" y="1706563"/>
            <a:ext cx="1828800" cy="381000"/>
          </a:xfrm>
          <a:prstGeom prst="borderCallout1">
            <a:avLst>
              <a:gd name="adj1" fmla="val 30000"/>
              <a:gd name="adj2" fmla="val -4167"/>
              <a:gd name="adj3" fmla="val 82595"/>
              <a:gd name="adj4" fmla="val -75215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Нова колона</a:t>
            </a:r>
          </a:p>
        </p:txBody>
      </p:sp>
      <p:sp>
        <p:nvSpPr>
          <p:cNvPr id="7184" name="AutoShape 16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649413" y="3848100"/>
            <a:ext cx="2133600" cy="609600"/>
          </a:xfrm>
          <a:prstGeom prst="borderCallout1">
            <a:avLst>
              <a:gd name="adj1" fmla="val 18750"/>
              <a:gd name="adj2" fmla="val 103569"/>
              <a:gd name="adj3" fmla="val -169263"/>
              <a:gd name="adj4" fmla="val 123682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Различна първа страница</a:t>
            </a:r>
          </a:p>
        </p:txBody>
      </p:sp>
      <p:sp>
        <p:nvSpPr>
          <p:cNvPr id="7185" name="AutoShape 1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897813" y="3582988"/>
            <a:ext cx="2590800" cy="381000"/>
          </a:xfrm>
          <a:prstGeom prst="borderCallout1">
            <a:avLst>
              <a:gd name="adj1" fmla="val 30000"/>
              <a:gd name="adj2" fmla="val -2940"/>
              <a:gd name="adj3" fmla="val -130210"/>
              <a:gd name="adj4" fmla="val -42954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Отстъп от долния ръб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65389" y="404664"/>
            <a:ext cx="9144743" cy="1049338"/>
          </a:xfrm>
        </p:spPr>
        <p:txBody>
          <a:bodyPr/>
          <a:lstStyle/>
          <a:p>
            <a:pPr fontAlgn="auto"/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3. Номериране на страници</a:t>
            </a:r>
          </a:p>
        </p:txBody>
      </p:sp>
      <p:sp>
        <p:nvSpPr>
          <p:cNvPr id="21511" name="Rectangle 7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911424" y="2132856"/>
            <a:ext cx="11017223" cy="683071"/>
          </a:xfrm>
          <a:ln cap="flat" algn="ctr"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indent="0" algn="ctr" fontAlgn="auto">
              <a:lnSpc>
                <a:spcPct val="80000"/>
              </a:lnSpc>
              <a:buClr>
                <a:srgbClr val="FB8C29"/>
              </a:buClr>
              <a:buSzTx/>
              <a:buNone/>
            </a:pPr>
            <a:r>
              <a:rPr lang="bg-BG" alt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Вмъкване (</a:t>
            </a:r>
            <a:r>
              <a:rPr lang="en-US" alt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Insert</a:t>
            </a:r>
            <a:r>
              <a:rPr lang="bg-BG" alt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</a:t>
            </a:r>
            <a:r>
              <a:rPr lang="en-US" alt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bg-BG" alt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bg-BG" alt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Номер на страница (</a:t>
            </a:r>
            <a:r>
              <a:rPr lang="en-US" alt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Page Numbers</a:t>
            </a:r>
            <a:r>
              <a:rPr lang="bg-BG" alt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</a:t>
            </a:r>
            <a:endParaRPr lang="bg-BG" altLang="bg-BG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fontAlgn="auto">
              <a:lnSpc>
                <a:spcPct val="80000"/>
              </a:lnSpc>
              <a:buClr>
                <a:srgbClr val="FB8C29"/>
              </a:buClr>
              <a:buSzTx/>
              <a:buNone/>
            </a:pPr>
            <a:endParaRPr lang="en-US" altLang="bg-BG" dirty="0"/>
          </a:p>
        </p:txBody>
      </p:sp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356" y="3284984"/>
            <a:ext cx="955040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Овал 1"/>
          <p:cNvSpPr/>
          <p:nvPr/>
        </p:nvSpPr>
        <p:spPr>
          <a:xfrm>
            <a:off x="2141037" y="3429000"/>
            <a:ext cx="720080" cy="360040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Овал 8"/>
          <p:cNvSpPr/>
          <p:nvPr/>
        </p:nvSpPr>
        <p:spPr>
          <a:xfrm>
            <a:off x="8328248" y="3742829"/>
            <a:ext cx="720080" cy="720080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59496" y="476672"/>
            <a:ext cx="8604448" cy="1139825"/>
          </a:xfrm>
        </p:spPr>
        <p:txBody>
          <a:bodyPr>
            <a:normAutofit fontScale="90000"/>
          </a:bodyPr>
          <a:lstStyle/>
          <a:p>
            <a:pPr fontAlgn="auto"/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4. Създаване на постоянни заглавия </a:t>
            </a:r>
            <a:b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</a:b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Горен и долен </a:t>
            </a:r>
            <a:r>
              <a:rPr lang="bg-BG" altLang="bg-BG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колонтитул</a:t>
            </a:r>
            <a:b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</a:b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(</a:t>
            </a:r>
            <a:r>
              <a:rPr lang="en-US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Header and Footer</a:t>
            </a: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</a:t>
            </a:r>
            <a:endParaRPr lang="en-GB" alt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0664" y="412054"/>
            <a:ext cx="1386198" cy="1929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269" name="Картина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538" y="6562725"/>
            <a:ext cx="233045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2476500"/>
            <a:ext cx="117252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Овал 8"/>
          <p:cNvSpPr/>
          <p:nvPr/>
        </p:nvSpPr>
        <p:spPr>
          <a:xfrm>
            <a:off x="9192344" y="3068960"/>
            <a:ext cx="1944216" cy="1368152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Правоъгълник 9"/>
          <p:cNvSpPr/>
          <p:nvPr/>
        </p:nvSpPr>
        <p:spPr>
          <a:xfrm>
            <a:off x="256347" y="4833021"/>
            <a:ext cx="11737304" cy="172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2400"/>
              </a:spcBef>
              <a:buClr>
                <a:srgbClr val="FB8C29"/>
              </a:buClr>
              <a:buSzTx/>
            </a:pPr>
            <a:r>
              <a:rPr lang="en-GB" altLang="bg-BG" sz="24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Горните</a:t>
            </a:r>
            <a:r>
              <a:rPr lang="en-GB" altLang="bg-BG" sz="24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и </a:t>
            </a:r>
            <a:r>
              <a:rPr lang="en-GB" altLang="bg-BG" sz="24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долните</a:t>
            </a:r>
            <a:r>
              <a:rPr lang="en-GB" altLang="bg-BG" sz="24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колонтитули</a:t>
            </a:r>
            <a:r>
              <a:rPr lang="en-GB" altLang="bg-BG" sz="24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представляват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областите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в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горното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,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долното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и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страничното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поле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(</a:t>
            </a:r>
            <a:r>
              <a:rPr lang="bg-BG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п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разното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място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извън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областта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за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печат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на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страница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на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всяка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страница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в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даден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документ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. </a:t>
            </a:r>
          </a:p>
          <a:p>
            <a:pPr algn="ctr" fontAlgn="auto">
              <a:lnSpc>
                <a:spcPct val="90000"/>
              </a:lnSpc>
              <a:spcBef>
                <a:spcPts val="2400"/>
              </a:spcBef>
              <a:buClr>
                <a:srgbClr val="FB8C29"/>
              </a:buClr>
              <a:buSzTx/>
            </a:pP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Може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да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вмъквате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или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променяте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текст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или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графики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в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горните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и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долните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GB" altLang="bg-BG" sz="24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колонтитули</a:t>
            </a:r>
            <a:r>
              <a:rPr lang="en-GB" altLang="bg-BG" sz="24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. </a:t>
            </a:r>
            <a:endParaRPr lang="bg-BG" alt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0" y="32428"/>
            <a:ext cx="10070331" cy="770335"/>
          </a:xfrm>
          <a:ln cap="flat" algn="ctr"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indent="0" fontAlgn="auto">
              <a:lnSpc>
                <a:spcPct val="80000"/>
              </a:lnSpc>
              <a:buClr>
                <a:srgbClr val="FB8C29"/>
              </a:buClr>
              <a:buSzTx/>
              <a:buNone/>
            </a:pP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Вмъкване (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Insert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</a:t>
            </a:r>
            <a:r>
              <a:rPr lang="en-US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bg-BG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Горен </a:t>
            </a:r>
            <a:r>
              <a:rPr lang="bg-BG" altLang="bg-BG" sz="28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колонтитул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(Header)</a:t>
            </a:r>
            <a:endParaRPr lang="bg-BG" altLang="bg-BG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80000"/>
              </a:lnSpc>
              <a:buClr>
                <a:srgbClr val="FB8C29"/>
              </a:buClr>
              <a:buSzTx/>
              <a:buNone/>
            </a:pPr>
            <a:endParaRPr lang="en-US" altLang="bg-BG" sz="1800" dirty="0"/>
          </a:p>
        </p:txBody>
      </p:sp>
      <p:sp>
        <p:nvSpPr>
          <p:cNvPr id="9" name="Rectangle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21669" y="6381328"/>
            <a:ext cx="10070331" cy="770335"/>
          </a:xfrm>
          <a:prstGeom prst="rect">
            <a:avLst/>
          </a:prstGeom>
          <a:noFill/>
          <a:ln cap="flat" algn="ctr">
            <a:noFill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fontAlgn="auto">
              <a:lnSpc>
                <a:spcPct val="80000"/>
              </a:lnSpc>
              <a:buClr>
                <a:srgbClr val="FB8C29"/>
              </a:buClr>
              <a:buSzTx/>
              <a:buNone/>
            </a:pP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Вмъкване (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Insert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</a:t>
            </a:r>
            <a:r>
              <a:rPr lang="en-US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bg-BG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Долен </a:t>
            </a:r>
            <a:r>
              <a:rPr lang="bg-BG" altLang="bg-BG" sz="28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колонтитул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 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(Footer)</a:t>
            </a:r>
            <a:endParaRPr lang="bg-BG" altLang="bg-BG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defTabSz="914400" fontAlgn="auto">
              <a:lnSpc>
                <a:spcPct val="80000"/>
              </a:lnSpc>
              <a:buClr>
                <a:srgbClr val="FB8C29"/>
              </a:buClr>
              <a:buSzTx/>
              <a:buFont typeface="Arial" charset="0"/>
              <a:buNone/>
            </a:pPr>
            <a:endParaRPr lang="en-US" altLang="bg-BG" sz="18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74" y="551633"/>
            <a:ext cx="4536504" cy="5707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60" y="548680"/>
            <a:ext cx="4633838" cy="5710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Овал 11"/>
          <p:cNvSpPr/>
          <p:nvPr/>
        </p:nvSpPr>
        <p:spPr>
          <a:xfrm>
            <a:off x="7320136" y="802763"/>
            <a:ext cx="866715" cy="826037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Овал 12"/>
          <p:cNvSpPr/>
          <p:nvPr/>
        </p:nvSpPr>
        <p:spPr>
          <a:xfrm>
            <a:off x="191344" y="548680"/>
            <a:ext cx="792088" cy="720080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9429405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1" name="Picture 1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1499311"/>
            <a:ext cx="7831403" cy="4059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831442" y="153453"/>
            <a:ext cx="10439400" cy="936625"/>
          </a:xfrm>
        </p:spPr>
        <p:txBody>
          <a:bodyPr>
            <a:noAutofit/>
          </a:bodyPr>
          <a:lstStyle/>
          <a:p>
            <a:pPr fontAlgn="auto"/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6. Настройки за печат на текстов документ (</a:t>
            </a:r>
            <a:r>
              <a:rPr lang="en-US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Print</a:t>
            </a:r>
            <a:r>
              <a:rPr lang="bg-BG" alt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B8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)</a:t>
            </a:r>
            <a:endParaRPr lang="bg-BG" alt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817" y="1196752"/>
            <a:ext cx="1524000" cy="609600"/>
          </a:xfrm>
          <a:prstGeom prst="borderCallout1">
            <a:avLst>
              <a:gd name="adj1" fmla="val 18750"/>
              <a:gd name="adj2" fmla="val 105000"/>
              <a:gd name="adj3" fmla="val 209517"/>
              <a:gd name="adj4" fmla="val 220264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>
                <a:latin typeface="Tahoma" pitchFamily="34" charset="0"/>
              </a:rPr>
              <a:t>Избор на принтер</a:t>
            </a:r>
          </a:p>
        </p:txBody>
      </p:sp>
      <p:sp>
        <p:nvSpPr>
          <p:cNvPr id="14341" name="AutoShap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0759" y="2136775"/>
            <a:ext cx="1981200" cy="1143000"/>
          </a:xfrm>
          <a:prstGeom prst="borderCallout1">
            <a:avLst>
              <a:gd name="adj1" fmla="val 10000"/>
              <a:gd name="adj2" fmla="val 103847"/>
              <a:gd name="adj3" fmla="val 76856"/>
              <a:gd name="adj4" fmla="val 183414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>
                <a:latin typeface="Tahoma" pitchFamily="34" charset="0"/>
              </a:rPr>
              <a:t>Избор на страници: всички, активната, по номера (1,5,10)</a:t>
            </a:r>
          </a:p>
        </p:txBody>
      </p:sp>
      <p:sp>
        <p:nvSpPr>
          <p:cNvPr id="14342" name="AutoShap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741254" y="777080"/>
            <a:ext cx="2209800" cy="685800"/>
          </a:xfrm>
          <a:prstGeom prst="borderCallout1">
            <a:avLst>
              <a:gd name="adj1" fmla="val 20667"/>
              <a:gd name="adj2" fmla="val -551"/>
              <a:gd name="adj3" fmla="val 290127"/>
              <a:gd name="adj4" fmla="val -208606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>
                <a:latin typeface="Tahoma" pitchFamily="34" charset="0"/>
              </a:rPr>
              <a:t>Настройване на принтера</a:t>
            </a:r>
          </a:p>
        </p:txBody>
      </p:sp>
      <p:sp>
        <p:nvSpPr>
          <p:cNvPr id="14343" name="AutoShap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59896" y="1196752"/>
            <a:ext cx="1574800" cy="381000"/>
          </a:xfrm>
          <a:prstGeom prst="borderCallout1">
            <a:avLst>
              <a:gd name="adj1" fmla="val 30000"/>
              <a:gd name="adj2" fmla="val -4838"/>
              <a:gd name="adj3" fmla="val 211584"/>
              <a:gd name="adj4" fmla="val -46210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ahoma" pitchFamily="34" charset="0"/>
              </a:rPr>
              <a:t>Брой копия</a:t>
            </a:r>
          </a:p>
        </p:txBody>
      </p:sp>
      <p:sp>
        <p:nvSpPr>
          <p:cNvPr id="14344" name="AutoShap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3817" y="4473264"/>
            <a:ext cx="1990725" cy="1066800"/>
          </a:xfrm>
          <a:prstGeom prst="borderCallout1">
            <a:avLst>
              <a:gd name="adj1" fmla="val 10713"/>
              <a:gd name="adj2" fmla="val 103829"/>
              <a:gd name="adj3" fmla="val -34470"/>
              <a:gd name="adj4" fmla="val 163601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ahoma" pitchFamily="34" charset="0"/>
              </a:rPr>
              <a:t>Начина по който да се отпечатат: всички само четни или нечетни</a:t>
            </a:r>
          </a:p>
        </p:txBody>
      </p:sp>
      <p:sp>
        <p:nvSpPr>
          <p:cNvPr id="14345" name="AutoShap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0416480" y="3068960"/>
            <a:ext cx="1647825" cy="609600"/>
          </a:xfrm>
          <a:prstGeom prst="borderCallout1">
            <a:avLst>
              <a:gd name="adj1" fmla="val 18750"/>
              <a:gd name="adj2" fmla="val -4625"/>
              <a:gd name="adj3" fmla="val 127081"/>
              <a:gd name="adj4" fmla="val -119679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ahoma" pitchFamily="34" charset="0"/>
              </a:rPr>
              <a:t>Визуализация на документа</a:t>
            </a:r>
          </a:p>
        </p:txBody>
      </p:sp>
      <p:sp>
        <p:nvSpPr>
          <p:cNvPr id="14347" name="AutoShape 1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13817" y="3508374"/>
            <a:ext cx="1752600" cy="784722"/>
          </a:xfrm>
          <a:prstGeom prst="borderCallout1">
            <a:avLst>
              <a:gd name="adj1" fmla="val 18750"/>
              <a:gd name="adj2" fmla="val 104347"/>
              <a:gd name="adj3" fmla="val 30705"/>
              <a:gd name="adj4" fmla="val 184037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ahoma" pitchFamily="34" charset="0"/>
              </a:rPr>
              <a:t>Едностранен или двустранен печат</a:t>
            </a:r>
          </a:p>
        </p:txBody>
      </p:sp>
      <p:sp>
        <p:nvSpPr>
          <p:cNvPr id="14348" name="AutoShape 1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600056" y="5733256"/>
            <a:ext cx="2304256" cy="864096"/>
          </a:xfrm>
          <a:prstGeom prst="borderCallout1">
            <a:avLst>
              <a:gd name="adj1" fmla="val 21431"/>
              <a:gd name="adj2" fmla="val -3847"/>
              <a:gd name="adj3" fmla="val -26274"/>
              <a:gd name="adj4" fmla="val -30830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ahoma" pitchFamily="34" charset="0"/>
              </a:rPr>
              <a:t>Последователност на номерата на страниците</a:t>
            </a:r>
          </a:p>
        </p:txBody>
      </p:sp>
      <p:sp>
        <p:nvSpPr>
          <p:cNvPr id="14349" name="AutoShape 13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104542" y="5733256"/>
            <a:ext cx="2343150" cy="688975"/>
          </a:xfrm>
          <a:prstGeom prst="borderCallout1">
            <a:avLst>
              <a:gd name="adj1" fmla="val -4437"/>
              <a:gd name="adj2" fmla="val 85617"/>
              <a:gd name="adj3" fmla="val -49562"/>
              <a:gd name="adj4" fmla="val 124301"/>
            </a:avLst>
          </a:prstGeom>
          <a:solidFill>
            <a:schemeClr val="accent1"/>
          </a:soli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bg-BG" altLang="bg-BG" sz="1600" dirty="0">
                <a:latin typeface="Tahoma" pitchFamily="34" charset="0"/>
              </a:rPr>
              <a:t>Допълнителни настройки за печат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904312" y="188640"/>
            <a:ext cx="3098527" cy="576064"/>
          </a:xfrm>
        </p:spPr>
        <p:txBody>
          <a:bodyPr>
            <a:normAutofit fontScale="90000"/>
          </a:bodyPr>
          <a:lstStyle/>
          <a:p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УПРАЖНЕНИЕ </a:t>
            </a:r>
            <a:b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909026" y="116632"/>
            <a:ext cx="11017224" cy="3450613"/>
          </a:xfrm>
        </p:spPr>
        <p:txBody>
          <a:bodyPr/>
          <a:lstStyle/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Отворете текстовия файл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Certificate</a:t>
            </a:r>
            <a:endParaRPr lang="bg-BG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Променете ориентацията на листа на Пейзажно</a:t>
            </a: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Оформете белите полета – от всички страни разстоянието да е 3,5 см.</a:t>
            </a: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Запишете документа с името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Certificate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-Вашето име </a:t>
            </a: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 споделете с вашия учител</a:t>
            </a:r>
          </a:p>
          <a:p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2868790" y="6488668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КМИТ, 6 клас</a:t>
            </a:r>
            <a:r>
              <a:rPr lang="bg-BG"/>
              <a:t>, Маврова-Ненкова</a:t>
            </a:r>
            <a:endParaRPr lang="bg-BG" dirty="0"/>
          </a:p>
        </p:txBody>
      </p:sp>
      <p:sp>
        <p:nvSpPr>
          <p:cNvPr id="5" name="Правоъгълник 4"/>
          <p:cNvSpPr/>
          <p:nvPr/>
        </p:nvSpPr>
        <p:spPr>
          <a:xfrm>
            <a:off x="148423" y="116632"/>
            <a:ext cx="172893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lnSpc>
                <a:spcPct val="90000"/>
              </a:lnSpc>
            </a:pPr>
            <a:r>
              <a:rPr lang="bg-BG" sz="2400" dirty="0">
                <a:solidFill>
                  <a:srgbClr val="FB8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стр.38/зад.1</a:t>
            </a:r>
          </a:p>
        </p:txBody>
      </p:sp>
      <p:sp>
        <p:nvSpPr>
          <p:cNvPr id="6" name="Правоъгълник 5"/>
          <p:cNvSpPr/>
          <p:nvPr/>
        </p:nvSpPr>
        <p:spPr>
          <a:xfrm>
            <a:off x="119124" y="2924944"/>
            <a:ext cx="172893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lnSpc>
                <a:spcPct val="90000"/>
              </a:lnSpc>
            </a:pPr>
            <a:r>
              <a:rPr lang="bg-BG" sz="2400" dirty="0">
                <a:solidFill>
                  <a:srgbClr val="FB8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стр.39/зад.2</a:t>
            </a:r>
          </a:p>
        </p:txBody>
      </p:sp>
      <p:sp>
        <p:nvSpPr>
          <p:cNvPr id="7" name="Контейнер за съдържание 2"/>
          <p:cNvSpPr txBox="1">
            <a:spLocks/>
          </p:cNvSpPr>
          <p:nvPr/>
        </p:nvSpPr>
        <p:spPr bwMode="auto">
          <a:xfrm>
            <a:off x="1877358" y="2852936"/>
            <a:ext cx="10416480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Отворете текстовия файл 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Форматирайте листа, като оформите белите полета по следния начин: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горе и отдолу: 1,4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отляво: 2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cm;  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отдясно: 1,5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Размерът на листа да е А5</a:t>
            </a:r>
          </a:p>
          <a:p>
            <a:pPr defTabSz="914400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Номерирайте страниците централно</a:t>
            </a:r>
          </a:p>
          <a:p>
            <a:pPr defTabSz="914400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Запишете документа с името 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-Вашето име </a:t>
            </a: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 споделете с вашия учител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/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62296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0.06.14"/>
  <p:tag name="AS_TITLE" val="Aspose.Slides for .NET 2.0"/>
  <p:tag name="AS_VERSION" val="2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Галерия</Template>
  <TotalTime>226</TotalTime>
  <Words>490</Words>
  <Application>Microsoft Office PowerPoint</Application>
  <PresentationFormat>Широк екран</PresentationFormat>
  <Paragraphs>77</Paragraphs>
  <Slides>10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6" baseType="lpstr">
      <vt:lpstr>Arial</vt:lpstr>
      <vt:lpstr>Rockwell</vt:lpstr>
      <vt:lpstr>Tahoma</vt:lpstr>
      <vt:lpstr>Times New Roman</vt:lpstr>
      <vt:lpstr>Wingdings</vt:lpstr>
      <vt:lpstr>Gallery</vt:lpstr>
      <vt:lpstr> Форматиране на страница. отпечатване на текстов документ.</vt:lpstr>
      <vt:lpstr>1. Характеристики на страница на текстов документ</vt:lpstr>
      <vt:lpstr>a) Раздел Полета (Margins)</vt:lpstr>
      <vt:lpstr>б) Раздел Хартия (Paper)</vt:lpstr>
      <vt:lpstr>в) Раздел оформление (Layout)</vt:lpstr>
      <vt:lpstr>3. Номериране на страници</vt:lpstr>
      <vt:lpstr>4. Създаване на постоянни заглавия  Горен и долен колонтитул (Header and Footer)</vt:lpstr>
      <vt:lpstr>Презентация на PowerPoint</vt:lpstr>
      <vt:lpstr>6. Настройки за печат на текстов документ (Print)</vt:lpstr>
      <vt:lpstr>УПРАЖНЕНИЕ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Форматиране на страница и отпечатване на текстов документ</dc:title>
  <dc:creator>Елена Маврова-Ненкова</dc:creator>
  <cp:lastModifiedBy>Elena Nenkova</cp:lastModifiedBy>
  <cp:revision>29</cp:revision>
  <cp:lastPrinted>1601-01-01T00:00:00Z</cp:lastPrinted>
  <dcterms:created xsi:type="dcterms:W3CDTF">2010-07-08T15:41:02Z</dcterms:created>
  <dcterms:modified xsi:type="dcterms:W3CDTF">2026-07-25T06:34:33Z</dcterms:modified>
</cp:coreProperties>
</file>