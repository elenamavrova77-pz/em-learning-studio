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68" r:id="rId3"/>
    <p:sldId id="270" r:id="rId4"/>
    <p:sldId id="271" r:id="rId5"/>
    <p:sldId id="274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4" autoAdjust="0"/>
    <p:restoredTop sz="94660"/>
  </p:normalViewPr>
  <p:slideViewPr>
    <p:cSldViewPr>
      <p:cViewPr varScale="1">
        <p:scale>
          <a:sx n="105" d="100"/>
          <a:sy n="105" d="100"/>
        </p:scale>
        <p:origin x="171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6886E0-338A-48F5-AE5C-B3DC5A48D8E4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3916846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C2A1B9-FD41-4BA4-A847-F0E80E496E43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2532459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4D8FB0-427F-4F45-9088-DB70B252E279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3474271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BDB7E4-8A5C-4BE8-9A30-ACA485FB2409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2307315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0630D3-085D-4C74-B8FC-2B28A823DC03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1027896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FE01AF-32A1-4C74-A24F-24B59D23A355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2516350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722E36-6B31-4327-8300-DE64D6FB8C6C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289700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C34091-8A24-4927-BA3D-F6B4C4D45E50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865805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8711A1-27A0-4E17-9110-530376EA69D7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3086197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672F15-3CAD-4BCD-8CDB-CF3CBB40FC6D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237968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599E83-EE1B-44FD-B8E7-6468EE782D51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539143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35A24664-2D96-4D26-9E75-5FD653CE8053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16841429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bg-BG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bg-BG"/>
              <a:t>Click to edit Master text styles</a:t>
            </a:r>
          </a:p>
          <a:p>
            <a:pPr lvl="1"/>
            <a:r>
              <a:rPr lang="en-US" altLang="bg-BG"/>
              <a:t>Second level</a:t>
            </a:r>
          </a:p>
          <a:p>
            <a:pPr lvl="2"/>
            <a:r>
              <a:rPr lang="en-US" altLang="bg-BG"/>
              <a:t>Third level</a:t>
            </a:r>
          </a:p>
          <a:p>
            <a:pPr lvl="3"/>
            <a:r>
              <a:rPr lang="en-US" altLang="bg-BG"/>
              <a:t>Fourth level</a:t>
            </a:r>
          </a:p>
          <a:p>
            <a:pPr lvl="4"/>
            <a:r>
              <a:rPr lang="en-US" altLang="bg-BG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endParaRPr lang="en-US" altLang="bg-BG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endParaRPr lang="en-US" altLang="bg-BG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fld id="{2F0ED597-55E7-42C4-B58F-2802548A7DFC}" type="slidenum">
              <a:rPr lang="en-US" altLang="bg-BG"/>
              <a:pPr/>
              <a:t>‹#›</a:t>
            </a:fld>
            <a:endParaRPr lang="en-US" altLang="bg-B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jpe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bg-BG" altLang="zh-CN"/>
              <a:t>Културно-историческото наследство на България</a:t>
            </a:r>
            <a:r>
              <a:rPr lang="en-US" altLang="zh-CN">
                <a:ea typeface="宋体" pitchFamily="2" charset="-122"/>
              </a:rPr>
              <a:t> </a:t>
            </a:r>
            <a:endParaRPr lang="en-US" altLang="bg-BG"/>
          </a:p>
        </p:txBody>
      </p:sp>
      <p:pic>
        <p:nvPicPr>
          <p:cNvPr id="47109" name="Picture 47108" descr="e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168" y="5998464"/>
            <a:ext cx="777240" cy="8099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66800"/>
          </a:xfrm>
        </p:spPr>
        <p:txBody>
          <a:bodyPr/>
          <a:lstStyle/>
          <a:p>
            <a:r>
              <a:rPr lang="ru-RU" altLang="bg-BG"/>
              <a:t>Боянска църква</a:t>
            </a:r>
            <a:endParaRPr lang="en-US" altLang="bg-BG"/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908050"/>
            <a:ext cx="8229600" cy="23749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bg-BG" altLang="bg-BG" sz="2000"/>
          </a:p>
          <a:p>
            <a:pPr>
              <a:lnSpc>
                <a:spcPct val="110000"/>
              </a:lnSpc>
            </a:pPr>
            <a:r>
              <a:rPr lang="ru-RU" altLang="bg-BG" sz="2400"/>
              <a:t>Двуетажна църква-гробница с долен етаж, предназначен за гробница и горен за семеен параклис;</a:t>
            </a:r>
          </a:p>
          <a:p>
            <a:pPr>
              <a:lnSpc>
                <a:spcPct val="80000"/>
              </a:lnSpc>
            </a:pPr>
            <a:r>
              <a:rPr lang="bg-BG" altLang="bg-BG" sz="2400"/>
              <a:t>Построена в периода </a:t>
            </a:r>
            <a:r>
              <a:rPr lang="en-US" altLang="bg-BG" sz="2400"/>
              <a:t>X-XIII </a:t>
            </a:r>
            <a:r>
              <a:rPr lang="bg-BG" altLang="bg-BG" sz="2400"/>
              <a:t>в.;</a:t>
            </a:r>
          </a:p>
          <a:p>
            <a:pPr>
              <a:lnSpc>
                <a:spcPct val="80000"/>
              </a:lnSpc>
            </a:pPr>
            <a:r>
              <a:rPr lang="bg-BG" altLang="bg-BG" sz="2400"/>
              <a:t>Има стенописи с изключителна стойност от 1259 г.;</a:t>
            </a:r>
          </a:p>
        </p:txBody>
      </p:sp>
      <p:pic>
        <p:nvPicPr>
          <p:cNvPr id="25613" name="Picture 13" descr="boyanska_tsarkv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3471863"/>
            <a:ext cx="4392612" cy="309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14" name="Picture 25613" descr="em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5998464"/>
            <a:ext cx="777240" cy="8099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Античен театър – Пловдив</a:t>
            </a:r>
            <a:endParaRPr lang="en-US" altLang="bg-BG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700213"/>
            <a:ext cx="8229600" cy="1728787"/>
          </a:xfrm>
        </p:spPr>
        <p:txBody>
          <a:bodyPr/>
          <a:lstStyle/>
          <a:p>
            <a:r>
              <a:rPr lang="bg-BG" altLang="bg-BG" sz="2400"/>
              <a:t>Построен от римския император Траян (98 – 117);</a:t>
            </a:r>
          </a:p>
          <a:p>
            <a:r>
              <a:rPr lang="bg-BG" altLang="bg-BG" sz="2400"/>
              <a:t>В края на </a:t>
            </a:r>
            <a:r>
              <a:rPr lang="en-US" altLang="bg-BG" sz="2400"/>
              <a:t>IV </a:t>
            </a:r>
            <a:r>
              <a:rPr lang="bg-BG" altLang="bg-BG" sz="2400"/>
              <a:t>в. е частично разрушен;</a:t>
            </a:r>
          </a:p>
          <a:p>
            <a:r>
              <a:rPr lang="en-US" altLang="bg-BG" sz="2400"/>
              <a:t>Разкрит е при археологически разкопки</a:t>
            </a:r>
            <a:r>
              <a:rPr lang="bg-BG" altLang="bg-BG" sz="2400"/>
              <a:t> между</a:t>
            </a:r>
            <a:r>
              <a:rPr lang="en-US" altLang="bg-BG" sz="2400"/>
              <a:t> 1968</a:t>
            </a:r>
            <a:r>
              <a:rPr lang="bg-BG" altLang="bg-BG" sz="2400"/>
              <a:t> </a:t>
            </a:r>
            <a:r>
              <a:rPr lang="en-US" altLang="bg-BG" sz="2400"/>
              <a:t>–</a:t>
            </a:r>
            <a:r>
              <a:rPr lang="bg-BG" altLang="bg-BG" sz="2400"/>
              <a:t> 19</a:t>
            </a:r>
            <a:r>
              <a:rPr lang="en-US" altLang="bg-BG" sz="2400"/>
              <a:t>79 г</a:t>
            </a:r>
            <a:r>
              <a:rPr lang="bg-BG" altLang="bg-BG" sz="2400"/>
              <a:t>.</a:t>
            </a:r>
            <a:r>
              <a:rPr lang="en-US" altLang="bg-BG" sz="2400"/>
              <a:t> </a:t>
            </a:r>
          </a:p>
        </p:txBody>
      </p:sp>
      <p:pic>
        <p:nvPicPr>
          <p:cNvPr id="30731" name="Picture 11" descr="teatar_plovdi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3573463"/>
            <a:ext cx="4697412" cy="313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2" name="Picture 30731" descr="em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5998464"/>
            <a:ext cx="777240" cy="8099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Варненски некропол</a:t>
            </a:r>
            <a:endParaRPr lang="en-US" altLang="bg-BG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484313"/>
            <a:ext cx="8229600" cy="1728787"/>
          </a:xfrm>
        </p:spPr>
        <p:txBody>
          <a:bodyPr/>
          <a:lstStyle/>
          <a:p>
            <a:r>
              <a:rPr lang="bg-BG" altLang="bg-BG" sz="2400"/>
              <a:t>Д</a:t>
            </a:r>
            <a:r>
              <a:rPr lang="en-US" altLang="bg-BG" sz="2400"/>
              <a:t>атиран в края на V</a:t>
            </a:r>
            <a:r>
              <a:rPr lang="bg-BG" altLang="bg-BG" sz="2400"/>
              <a:t> – </a:t>
            </a:r>
            <a:r>
              <a:rPr lang="en-US" altLang="bg-BG" sz="2400"/>
              <a:t>началото на IV хил. Пр</a:t>
            </a:r>
            <a:r>
              <a:rPr lang="bg-BG" altLang="bg-BG" sz="2400"/>
              <a:t>.</a:t>
            </a:r>
            <a:r>
              <a:rPr lang="en-US" altLang="bg-BG" sz="2400"/>
              <a:t> Хр</a:t>
            </a:r>
            <a:r>
              <a:rPr lang="bg-BG" altLang="bg-BG" sz="2400"/>
              <a:t>.;</a:t>
            </a:r>
          </a:p>
          <a:p>
            <a:r>
              <a:rPr lang="bg-BG" altLang="bg-BG" sz="2400"/>
              <a:t>Разкрити са близо 300 гроба, в няколко от които има златни предмети;</a:t>
            </a:r>
          </a:p>
          <a:p>
            <a:r>
              <a:rPr lang="bg-BG" altLang="bg-BG" sz="2400"/>
              <a:t>Открит през 1972 г.</a:t>
            </a:r>
            <a:endParaRPr lang="en-US" altLang="bg-BG" sz="2400"/>
          </a:p>
        </p:txBody>
      </p:sp>
      <p:pic>
        <p:nvPicPr>
          <p:cNvPr id="32775" name="Picture 7" descr="varna_nekropo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3213100"/>
            <a:ext cx="4697412" cy="3525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76" name="Picture 32775" descr="em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5998464"/>
            <a:ext cx="777240" cy="8099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1152525"/>
          </a:xfrm>
        </p:spPr>
        <p:txBody>
          <a:bodyPr/>
          <a:lstStyle/>
          <a:p>
            <a:r>
              <a:rPr lang="en-US" altLang="bg-BG" sz="4000"/>
              <a:t>Архитектурно - музеен резерват "Царевец"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484313"/>
            <a:ext cx="8229600" cy="17287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bg-BG" altLang="bg-BG" sz="2000"/>
              <a:t>Разположен е на хълма Царевец във Велико Търново;</a:t>
            </a:r>
          </a:p>
          <a:p>
            <a:pPr>
              <a:lnSpc>
                <a:spcPct val="90000"/>
              </a:lnSpc>
            </a:pPr>
            <a:r>
              <a:rPr lang="bg-BG" altLang="bg-BG" sz="2000"/>
              <a:t>Царевец е главната крепост на Второто българско царство;</a:t>
            </a:r>
          </a:p>
          <a:p>
            <a:pPr>
              <a:lnSpc>
                <a:spcPct val="90000"/>
              </a:lnSpc>
            </a:pPr>
            <a:r>
              <a:rPr lang="bg-BG" altLang="bg-BG" sz="2000"/>
              <a:t>Реставрацията на крепостта започва през 1931 г.;</a:t>
            </a:r>
          </a:p>
          <a:p>
            <a:pPr>
              <a:lnSpc>
                <a:spcPct val="90000"/>
              </a:lnSpc>
            </a:pPr>
            <a:r>
              <a:rPr lang="bg-BG" altLang="bg-BG" sz="2000"/>
              <a:t>Крепостта има три входа, дворцов и патриаршески комплекс, кули, жилищни сгради и др.</a:t>
            </a:r>
            <a:endParaRPr lang="en-US" altLang="bg-BG" sz="2000"/>
          </a:p>
        </p:txBody>
      </p:sp>
      <p:pic>
        <p:nvPicPr>
          <p:cNvPr id="50181" name="Picture 5" descr="tsareve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638" y="3216275"/>
            <a:ext cx="4697412" cy="3525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182" name="Picture 50181" descr="em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5998464"/>
            <a:ext cx="777240" cy="8099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bg-BG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bg-BG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1902</TotalTime>
  <Words>159</Words>
  <Application>Microsoft Office PowerPoint</Application>
  <PresentationFormat>Презентация на цял екран (4:3)</PresentationFormat>
  <Paragraphs>19</Paragraphs>
  <Slides>5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5</vt:i4>
      </vt:variant>
    </vt:vector>
  </HeadingPairs>
  <TitlesOfParts>
    <vt:vector size="7" baseType="lpstr">
      <vt:lpstr>Arial</vt:lpstr>
      <vt:lpstr>Default Design</vt:lpstr>
      <vt:lpstr>Културно-историческото наследство на България </vt:lpstr>
      <vt:lpstr>Боянска църква</vt:lpstr>
      <vt:lpstr>Античен театър – Пловдив</vt:lpstr>
      <vt:lpstr>Варненски некропол</vt:lpstr>
      <vt:lpstr>Архитектурно - музеен резерват "Царевец"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gis2</dc:creator>
  <cp:lastModifiedBy>Людмил К. Бонев</cp:lastModifiedBy>
  <cp:revision>48</cp:revision>
  <dcterms:created xsi:type="dcterms:W3CDTF">2015-04-20T10:56:37Z</dcterms:created>
  <dcterms:modified xsi:type="dcterms:W3CDTF">2022-02-14T09:36:27Z</dcterms:modified>
</cp:coreProperties>
</file>