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5.svg" ContentType="image/svg+xml"/>
  <Override PartName="/ppt/media/image2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Fraunces ExtraBold" panose="020B0604020202020204" charset="0"/>
      <p:regular r:id="rId13"/>
    </p:embeddedFont>
    <p:embeddedFont>
      <p:font typeface="Nobile" panose="020B0604020202020204" charset="0"/>
      <p:regular r:id="rId14"/>
    </p:embeddedFont>
    <p:embeddedFont>
      <p:font typeface="Nobile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709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Relationship Id="rId4" Type="http://schemas.openxmlformats.org/officeDocument/2006/relationships/image" Target="../media/image3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Relationship Id="rId4" Type="http://schemas.openxmlformats.org/officeDocument/2006/relationships/image" Target="../media/image4.png"/><Relationship Id="rId5" Type="http://schemas.openxmlformats.org/officeDocument/2006/relationships/image" Target="../media/image3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eg"/><Relationship Id="rId4" Type="http://schemas.openxmlformats.org/officeDocument/2006/relationships/image" Target="../media/image3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e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3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eg"/><Relationship Id="rId4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png"/><Relationship Id="rId6" Type="http://schemas.openxmlformats.org/officeDocument/2006/relationships/image" Target="../media/image13.svg"/><Relationship Id="rId7" Type="http://schemas.openxmlformats.org/officeDocument/2006/relationships/image" Target="../media/image14.png"/><Relationship Id="rId8" Type="http://schemas.openxmlformats.org/officeDocument/2006/relationships/image" Target="../media/image15.svg"/><Relationship Id="rId9" Type="http://schemas.openxmlformats.org/officeDocument/2006/relationships/image" Target="../media/image16.png"/><Relationship Id="rId10" Type="http://schemas.openxmlformats.org/officeDocument/2006/relationships/image" Target="../media/image17.svg"/><Relationship Id="rId11" Type="http://schemas.openxmlformats.org/officeDocument/2006/relationships/image" Target="../media/image18.png"/><Relationship Id="rId12" Type="http://schemas.openxmlformats.org/officeDocument/2006/relationships/image" Target="../media/image19.svg"/><Relationship Id="rId13" Type="http://schemas.openxmlformats.org/officeDocument/2006/relationships/image" Target="../media/image20.png"/><Relationship Id="rId14" Type="http://schemas.openxmlformats.org/officeDocument/2006/relationships/image" Target="../media/image21.svg"/><Relationship Id="rId15" Type="http://schemas.openxmlformats.org/officeDocument/2006/relationships/image" Target="../media/image3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jpeg"/><Relationship Id="rId4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jpeg"/><Relationship Id="rId4" Type="http://schemas.openxmlformats.org/officeDocument/2006/relationships/image" Target="../media/image24.png"/><Relationship Id="rId5" Type="http://schemas.openxmlformats.org/officeDocument/2006/relationships/image" Target="../media/image25.svg"/><Relationship Id="rId6" Type="http://schemas.openxmlformats.org/officeDocument/2006/relationships/image" Target="../media/image26.png"/><Relationship Id="rId7" Type="http://schemas.openxmlformats.org/officeDocument/2006/relationships/image" Target="../media/image27.svg"/><Relationship Id="rId8" Type="http://schemas.openxmlformats.org/officeDocument/2006/relationships/image" Target="../media/image3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jpeg"/><Relationship Id="rId4" Type="http://schemas.openxmlformats.org/officeDocument/2006/relationships/image" Target="../media/image29.png"/><Relationship Id="rId5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10618" y="440070"/>
            <a:ext cx="5464800" cy="63365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Fraunces ExtraBold" pitchFamily="34" charset="-122"/>
                <a:cs typeface="Fraunces ExtraBold" pitchFamily="34" charset="-120"/>
              </a:rPr>
              <a:t>Компютърно</a:t>
            </a:r>
            <a:r>
              <a:rPr 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Fraunces ExtraBold" pitchFamily="34" charset="-122"/>
                <a:cs typeface="Fraunces ExtraBold" pitchFamily="34" charset="-120"/>
              </a:rPr>
              <a:t> </a:t>
            </a:r>
            <a:r>
              <a:rPr lang="bg-BG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Fraunces ExtraBold" pitchFamily="34" charset="-122"/>
                <a:cs typeface="Fraunces ExtraBold" pitchFamily="34" charset="-120"/>
              </a:rPr>
              <a:t>м</a:t>
            </a:r>
            <a:r>
              <a:rPr lang="en-US" sz="32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Fraunces ExtraBold" pitchFamily="34" charset="-122"/>
                <a:cs typeface="Fraunces ExtraBold" pitchFamily="34" charset="-120"/>
              </a:rPr>
              <a:t>оделиране</a:t>
            </a:r>
            <a:endParaRPr lang="en-US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1"/>
          <p:cNvSpPr/>
          <p:nvPr/>
        </p:nvSpPr>
        <p:spPr>
          <a:xfrm>
            <a:off x="3837709" y="1622137"/>
            <a:ext cx="5045700" cy="1224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Nobile" pitchFamily="34" charset="-122"/>
                <a:cs typeface="Nobile" pitchFamily="34" charset="-120"/>
              </a:rPr>
              <a:t>Работа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Nobile" pitchFamily="34" charset="-122"/>
                <a:cs typeface="Nobile" pitchFamily="34" charset="-120"/>
              </a:rPr>
              <a:t>със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Nobile" pitchFamily="34" charset="-122"/>
                <a:cs typeface="Nobile" pitchFamily="34" charset="-120"/>
              </a:rPr>
              <a:t> Scratch</a:t>
            </a:r>
            <a:r>
              <a:rPr lang="bg-BG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Nobile" pitchFamily="34" charset="-122"/>
                <a:cs typeface="Nobile" pitchFamily="34" charset="-120"/>
              </a:rPr>
              <a:t>. </a:t>
            </a:r>
          </a:p>
          <a:p>
            <a:pPr marL="0" indent="0" algn="l">
              <a:lnSpc>
                <a:spcPct val="114000"/>
              </a:lnSpc>
              <a:buNone/>
            </a:pPr>
            <a:r>
              <a:rPr lang="bg-BG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Nobile" pitchFamily="34" charset="-122"/>
                <a:cs typeface="Nobile" pitchFamily="34" charset="-120"/>
              </a:rPr>
              <a:t>Преговор.</a:t>
            </a:r>
            <a:endParaRPr 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Текстово поле 3">
            <a:extLst>
              <a:ext uri="{FF2B5EF4-FFF2-40B4-BE49-F238E27FC236}">
                <a16:creationId xmlns:a16="http://schemas.microsoft.com/office/drawing/2014/main" id="{265E33B4-3AB3-7D09-2AA8-7F8ABC189F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5012" y="4689387"/>
            <a:ext cx="47275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bg-BG" altLang="bg-BG" sz="1400" dirty="0"/>
              <a:t>КМИТ, 5 клас, Елена Маврова-Ненкова</a:t>
            </a:r>
          </a:p>
        </p:txBody>
      </p:sp>
      <p:pic>
        <p:nvPicPr>
          <p:cNvPr id="6" name="Picture 5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3862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Средата на Scratch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04" y="1166292"/>
            <a:ext cx="4550122" cy="33868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03206" y="1116285"/>
            <a:ext cx="264936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Основни области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003206" y="1433364"/>
            <a:ext cx="2649364" cy="2162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Видение блокове</a:t>
            </a: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палитра с блокове</a:t>
            </a:r>
            <a:endParaRPr lang="en-US" sz="1000" dirty="0"/>
          </a:p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Работна площ</a:t>
            </a: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за съставяне на програмата</a:t>
            </a:r>
            <a:endParaRPr lang="en-US" sz="1000" dirty="0"/>
          </a:p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Сцена</a:t>
            </a: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визуализация на изпълнението</a:t>
            </a:r>
            <a:endParaRPr lang="en-US" sz="1000" dirty="0"/>
          </a:p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Координати на героя</a:t>
            </a: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позиция X и Y</a:t>
            </a:r>
            <a:endParaRPr lang="en-US" sz="1000" dirty="0"/>
          </a:p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Добавяне на герои</a:t>
            </a: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спайри</a:t>
            </a:r>
            <a:endParaRPr lang="en-US" sz="1000" dirty="0"/>
          </a:p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Раница</a:t>
            </a: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споделяне между проекти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003206" y="3727177"/>
            <a:ext cx="2649364" cy="861492"/>
          </a:xfrm>
          <a:prstGeom prst="roundRect">
            <a:avLst>
              <a:gd name="adj" fmla="val 13422"/>
            </a:avLst>
          </a:prstGeom>
          <a:solidFill>
            <a:srgbClr val="DDEEE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1644" y="3908599"/>
            <a:ext cx="160586" cy="12843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20669" y="3864025"/>
            <a:ext cx="2103462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Задание 1:</a:t>
            </a: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Създайте акаунт в Scratch с помощта на учителя и го запишете в тетрадката си.</a:t>
            </a:r>
            <a:endParaRPr lang="en-US" sz="1000" dirty="0"/>
          </a:p>
        </p:txBody>
      </p:sp>
      <p:pic>
        <p:nvPicPr>
          <p:cNvPr id="9" name="Picture 8" descr="_em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95226"/>
            <a:ext cx="4722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Герои (Спрайти)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96119" y="1137345"/>
            <a:ext cx="2292697" cy="2351112"/>
          </a:xfrm>
          <a:prstGeom prst="roundRect">
            <a:avLst>
              <a:gd name="adj" fmla="val 5478"/>
            </a:avLst>
          </a:prstGeom>
          <a:solidFill>
            <a:srgbClr val="E8F3E8"/>
          </a:solidFill>
          <a:ln/>
        </p:spPr>
      </p:sp>
      <p:sp>
        <p:nvSpPr>
          <p:cNvPr id="5" name="Text 2"/>
          <p:cNvSpPr/>
          <p:nvPr/>
        </p:nvSpPr>
        <p:spPr>
          <a:xfrm>
            <a:off x="635645" y="1276871"/>
            <a:ext cx="201364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Основни елементи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5645" y="1577280"/>
            <a:ext cx="2013645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Героите (спрайти) са основните обекти в Scratch. Чрез последователно подредени блокове им задаваме действия — движение, изписване на текст, издаване на звуци и др.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926184" y="1137345"/>
            <a:ext cx="2292697" cy="2351112"/>
          </a:xfrm>
          <a:prstGeom prst="roundRect">
            <a:avLst>
              <a:gd name="adj" fmla="val 5478"/>
            </a:avLst>
          </a:prstGeom>
          <a:solidFill>
            <a:srgbClr val="E8F3E8"/>
          </a:solidFill>
          <a:ln/>
        </p:spPr>
      </p:sp>
      <p:sp>
        <p:nvSpPr>
          <p:cNvPr id="8" name="Text 5"/>
          <p:cNvSpPr/>
          <p:nvPr/>
        </p:nvSpPr>
        <p:spPr>
          <a:xfrm>
            <a:off x="3065711" y="1276871"/>
            <a:ext cx="201364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Костюми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65711" y="1577280"/>
            <a:ext cx="2013645" cy="1328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Героят може да има различни състояния — костюми. Чрез тяхната смяна се постигат визуални ефекти, например анимация на движение.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96119" y="3625825"/>
            <a:ext cx="4722763" cy="1022375"/>
          </a:xfrm>
          <a:prstGeom prst="roundRect">
            <a:avLst>
              <a:gd name="adj" fmla="val 12285"/>
            </a:avLst>
          </a:prstGeom>
          <a:solidFill>
            <a:srgbClr val="E8F3E8"/>
          </a:solidFill>
          <a:ln/>
        </p:spPr>
      </p:sp>
      <p:sp>
        <p:nvSpPr>
          <p:cNvPr id="11" name="Text 8"/>
          <p:cNvSpPr/>
          <p:nvPr/>
        </p:nvSpPr>
        <p:spPr>
          <a:xfrm>
            <a:off x="635645" y="3765352"/>
            <a:ext cx="444371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Вградени герои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5645" y="4065761"/>
            <a:ext cx="444371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Scratch предлага вградена библиотека с готови герои. Отворете списъка и проверете какви действия имат.</a:t>
            </a:r>
            <a:endParaRPr lang="en-US" sz="1050" dirty="0"/>
          </a:p>
        </p:txBody>
      </p:sp>
      <p:pic>
        <p:nvPicPr>
          <p:cNvPr id="13" name="Picture 12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9032"/>
            <a:ext cx="815176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Графичен Редактор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34641"/>
            <a:ext cx="5217319" cy="29347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50521" y="2107704"/>
            <a:ext cx="270204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Два вида изображения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950521" y="2320528"/>
            <a:ext cx="2702049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Редакторът се отваря с опцията </a:t>
            </a:r>
            <a:r>
              <a:rPr lang="en-US" sz="7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„Нарисувай"</a:t>
            </a: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от менюто за добавяне на герои. Могат да се прилагат ефекти — смяна на цвят, размер и др.</a:t>
            </a:r>
            <a:endParaRPr lang="en-US" sz="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4013299"/>
            <a:ext cx="4043883" cy="6610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2806" y="4122837"/>
            <a:ext cx="376765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Векторни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62806" y="4310063"/>
            <a:ext cx="3767658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Оформят се с геометрични фигури и линии. Могат да се увеличават и намаляват без загуба на качество. Лесно се променят и допълват по-късно.</a:t>
            </a:r>
            <a:endParaRPr lang="en-US" sz="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3998" y="4013299"/>
            <a:ext cx="4043883" cy="66109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70686" y="4122837"/>
            <a:ext cx="376765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Растерни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4770686" y="4310063"/>
            <a:ext cx="3767658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Пикселни изображения. Подходящи за детайлни рисунки.</a:t>
            </a:r>
            <a:endParaRPr lang="en-US" sz="750" dirty="0"/>
          </a:p>
        </p:txBody>
      </p:sp>
      <p:pic>
        <p:nvPicPr>
          <p:cNvPr id="12" name="Picture 11" descr="_em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9026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Създаване на Герой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943" y="1143595"/>
            <a:ext cx="3091383" cy="34452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06703" y="1382762"/>
            <a:ext cx="264586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Задание 3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006703" y="1707356"/>
            <a:ext cx="2645866" cy="1004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Създайте герой като на фигурата. Добавете няколко костюма, така че при последователната им смяна да се получи ефект на движение (например закръгляне на долното кълбо).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006703" y="2832050"/>
            <a:ext cx="264586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Задание 4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06703" y="3156645"/>
            <a:ext cx="2645866" cy="1205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Добавете файловете от папка </a:t>
            </a:r>
            <a:r>
              <a:rPr lang="en-US" sz="10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Razdel 5(bbb)</a:t>
            </a: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към костюмите на героя. Оставете само тези, които ви се струват най-подходящи. Готови файлове се качват чрез опцията </a:t>
            </a:r>
            <a:r>
              <a:rPr lang="en-US" sz="10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„Качи костюм"</a:t>
            </a: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000" dirty="0"/>
          </a:p>
        </p:txBody>
      </p:sp>
      <p:pic>
        <p:nvPicPr>
          <p:cNvPr id="8" name="Picture 7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859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Видове Блокове — Събития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4509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Блоковете за събития контролират кога се активира кодът. Основните блокове в Scratch 3.0: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631379"/>
            <a:ext cx="283518" cy="283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6816" y="1680046"/>
            <a:ext cx="35265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Когато е кликнато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56816" y="1986558"/>
            <a:ext cx="35265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Кодът се активира при клик върху героя.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1631379"/>
            <a:ext cx="283518" cy="283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21250" y="1680046"/>
            <a:ext cx="35266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Когато е натиснат клавиш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121250" y="1986558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Кодът се активира при натискане на посочения клавиш (напр. интервал).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2723704"/>
            <a:ext cx="283518" cy="283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6816" y="2772370"/>
            <a:ext cx="35265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Когато този спрайт е създаден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956816" y="3078882"/>
            <a:ext cx="35265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Кодът се активира при стартиране на спрайта.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60553" y="2723704"/>
            <a:ext cx="283518" cy="2835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21250" y="2772370"/>
            <a:ext cx="35266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Когато фонът се сменя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5121250" y="3078882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Кодът се активира при превключване на избрания фон.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6119" y="3816028"/>
            <a:ext cx="283518" cy="28351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56816" y="3864694"/>
            <a:ext cx="35265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Когато таймерът &gt;= стойност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956816" y="4171206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Кодът се активира, когато таймерът достигне зададената стойност (напр. 10 сек).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60553" y="3816028"/>
            <a:ext cx="283518" cy="28351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121250" y="3864694"/>
            <a:ext cx="35266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Когато получи съобщение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5121250" y="4171206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Кодът се активира, когато героят получи съобщение.</a:t>
            </a:r>
            <a:endParaRPr lang="en-US" sz="1100" dirty="0"/>
          </a:p>
        </p:txBody>
      </p:sp>
      <p:pic>
        <p:nvPicPr>
          <p:cNvPr id="22" name="Picture 21" descr="_em_logo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9026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Координатна Система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578" y="1143595"/>
            <a:ext cx="4078114" cy="34452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06703" y="1613520"/>
            <a:ext cx="264586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Оси X и 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006703" y="1938114"/>
            <a:ext cx="264586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Позицията на героя се следи и управлява с координатната система: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006703" y="2448223"/>
            <a:ext cx="2645866" cy="1172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Център: </a:t>
            </a:r>
            <a:r>
              <a:rPr lang="en-US" sz="10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x=0, y=0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Лява граница: </a:t>
            </a:r>
            <a:r>
              <a:rPr lang="en-US" sz="10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x=−240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Дясна граница: </a:t>
            </a:r>
            <a:r>
              <a:rPr lang="en-US" sz="10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x=240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Горна граница: </a:t>
            </a:r>
            <a:r>
              <a:rPr lang="en-US" sz="10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y=180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Долна граница: </a:t>
            </a:r>
            <a:r>
              <a:rPr lang="en-US" sz="10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y=−180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006703" y="3729335"/>
            <a:ext cx="264586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На диаграмата героят е показан на координати </a:t>
            </a:r>
            <a:r>
              <a:rPr lang="en-US" sz="10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(x=120, y=50)</a:t>
            </a: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000" dirty="0"/>
          </a:p>
        </p:txBody>
      </p:sp>
      <p:pic>
        <p:nvPicPr>
          <p:cNvPr id="8" name="Picture 7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36364"/>
            <a:ext cx="4722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Блокове за Движение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999530"/>
            <a:ext cx="4722763" cy="92757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8164" y="1344960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1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1127820" y="1140023"/>
            <a:ext cx="395056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Отиди до x: y: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127820" y="1404714"/>
            <a:ext cx="3950568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Позиционира героя на зададени координати (напр. x:120, y:50).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039541"/>
            <a:ext cx="4722763" cy="92757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8164" y="2384971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2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1127820" y="2180034"/>
            <a:ext cx="395056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Завърти с … градуси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127820" y="2444725"/>
            <a:ext cx="3950568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Завърта героя по посока на часовниковата стрелка (напр. 30°).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079552"/>
            <a:ext cx="4722763" cy="75753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8164" y="3339926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3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1127820" y="3220045"/>
            <a:ext cx="395056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Премести се с … стъпки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1127820" y="3484736"/>
            <a:ext cx="395056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Премества героя напред в посоката, в която е обърнат.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949526"/>
            <a:ext cx="4722763" cy="75753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68164" y="4209901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4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1127820" y="4090020"/>
            <a:ext cx="395056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Премести се за 1 сек до x: y: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1127820" y="4354711"/>
            <a:ext cx="395056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Бавно (за 1 сек) премества героя до зададените координати.</a:t>
            </a:r>
            <a:endParaRPr lang="en-US" sz="950" dirty="0"/>
          </a:p>
        </p:txBody>
      </p:sp>
      <p:pic>
        <p:nvPicPr>
          <p:cNvPr id="20" name="Picture 19" descr="_em_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585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Раница и Стартиране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14463"/>
            <a:ext cx="5185172" cy="2916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10201" y="1122313"/>
            <a:ext cx="2642369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Раница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10201" y="1454572"/>
            <a:ext cx="2642369" cy="1029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В полето </a:t>
            </a:r>
            <a:r>
              <a:rPr lang="en-US" sz="10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„Раница"</a:t>
            </a: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можем да слагаме герои или програми (последователности от блокове), за да ги ползваме в други проекти или за други герои.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010201" y="2609031"/>
            <a:ext cx="2642369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Стартиране на програма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10201" y="2941290"/>
            <a:ext cx="2642369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Обикновено програмата в Scratch започва с блока: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010201" y="3493368"/>
            <a:ext cx="2642369" cy="1114425"/>
          </a:xfrm>
          <a:prstGeom prst="roundRect">
            <a:avLst>
              <a:gd name="adj" fmla="val 10733"/>
            </a:avLst>
          </a:prstGeom>
          <a:solidFill>
            <a:srgbClr val="DDEEE0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104" y="3681264"/>
            <a:ext cx="166092" cy="1329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42100" y="3638624"/>
            <a:ext cx="2077566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„Когато е кликнато"</a:t>
            </a: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този блок активира кода при клик върху героя и е стандартното начало на всяка програма.</a:t>
            </a:r>
            <a:endParaRPr lang="en-US" sz="1000" dirty="0"/>
          </a:p>
        </p:txBody>
      </p:sp>
      <p:pic>
        <p:nvPicPr>
          <p:cNvPr id="11" name="Picture 10" descr="_em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Обобщение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100" y="682154"/>
            <a:ext cx="6635725" cy="41499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8423" y="2557675"/>
            <a:ext cx="1368080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Блокове за движение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887616" y="4312196"/>
            <a:ext cx="1368080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Координатна система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357190" y="2556784"/>
            <a:ext cx="1368080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Блокове за събития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887616" y="743419"/>
            <a:ext cx="1368080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Герои и костюми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871963"/>
            <a:ext cx="8151763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Scratch позволява да създаваме интерактивни програми чрез визуално подреждане на блокове. Освоихме основните елементи: герои и костюми, блокове за събития, координатна система и блокове за движение. Практикувайте с задачите и експериментирайте с различни комбинации от блокове!</a:t>
            </a:r>
            <a:endParaRPr lang="en-US" sz="550" dirty="0"/>
          </a:p>
        </p:txBody>
      </p:sp>
      <p:pic>
        <p:nvPicPr>
          <p:cNvPr id="9" name="Picture 8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676</Words>
  <Application>Microsoft Office PowerPoint</Application>
  <PresentationFormat>Презентация на цял екран (16:9)</PresentationFormat>
  <Paragraphs>90</Paragraphs>
  <Slides>10</Slides>
  <Notes>10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10</vt:i4>
      </vt:variant>
    </vt:vector>
  </HeadingPairs>
  <TitlesOfParts>
    <vt:vector size="15" baseType="lpstr">
      <vt:lpstr>Nobile Bold</vt:lpstr>
      <vt:lpstr>Fraunces ExtraBold</vt:lpstr>
      <vt:lpstr>Nobile</vt:lpstr>
      <vt:lpstr>Arial</vt:lpstr>
      <vt:lpstr>Office Theme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Елена Г. Маврова-Ненкова</dc:creator>
  <cp:lastModifiedBy>Elena Nenkova</cp:lastModifiedBy>
  <cp:revision>2</cp:revision>
  <dcterms:created xsi:type="dcterms:W3CDTF">2026-07-22T09:33:56Z</dcterms:created>
  <dcterms:modified xsi:type="dcterms:W3CDTF">2026-07-22T09:41:54Z</dcterms:modified>
</cp:coreProperties>
</file>