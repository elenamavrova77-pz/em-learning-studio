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.jpg" ContentType="image/jpg"/>
  <Override PartName="/ppt/media/image18.jpg" ContentType="image/jpg"/>
  <Override PartName="/ppt/media/image19.jpg" ContentType="image/jpg"/>
  <Override PartName="/ppt/media/image20.jpg" ContentType="image/jpg"/>
  <Override PartName="/ppt/media/image28.jpg" ContentType="image/jpg"/>
  <Override PartName="/ppt/media/image29.jpg" ContentType="image/jpg"/>
  <Override PartName="/ppt/media/image3.jpg" ContentType="image/jpg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65" r:id="rId18"/>
    <p:sldId id="266" r:id="rId19"/>
  </p:sldIdLst>
  <p:sldSz cx="9144000" cy="6858000" type="screen4x3"/>
  <p:notesSz cx="9144000" cy="6858000"/>
  <p:defaultTextStyle>
    <a:defPPr>
      <a:defRPr lang="bg-B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1522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7/22/2026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7/22/2026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1508759"/>
            <a:ext cx="9143999" cy="534923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0" y="6562343"/>
            <a:ext cx="9144000" cy="29565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k object 18"/>
          <p:cNvSpPr/>
          <p:nvPr/>
        </p:nvSpPr>
        <p:spPr>
          <a:xfrm>
            <a:off x="761" y="6544056"/>
            <a:ext cx="9144000" cy="20320"/>
          </a:xfrm>
          <a:custGeom>
            <a:avLst/>
            <a:gdLst/>
            <a:ahLst/>
            <a:cxnLst/>
            <a:rect l="l" t="t" r="r" b="b"/>
            <a:pathLst>
              <a:path w="9144000" h="20320">
                <a:moveTo>
                  <a:pt x="0" y="19812"/>
                </a:moveTo>
                <a:lnTo>
                  <a:pt x="9144000" y="19812"/>
                </a:lnTo>
                <a:lnTo>
                  <a:pt x="9144000" y="0"/>
                </a:lnTo>
                <a:lnTo>
                  <a:pt x="0" y="0"/>
                </a:lnTo>
                <a:lnTo>
                  <a:pt x="0" y="198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k object 19"/>
          <p:cNvSpPr/>
          <p:nvPr/>
        </p:nvSpPr>
        <p:spPr>
          <a:xfrm>
            <a:off x="329184" y="304800"/>
            <a:ext cx="859790" cy="273050"/>
          </a:xfrm>
          <a:custGeom>
            <a:avLst/>
            <a:gdLst/>
            <a:ahLst/>
            <a:cxnLst/>
            <a:rect l="l" t="t" r="r" b="b"/>
            <a:pathLst>
              <a:path w="859790" h="273050">
                <a:moveTo>
                  <a:pt x="429767" y="0"/>
                </a:moveTo>
                <a:lnTo>
                  <a:pt x="371451" y="2491"/>
                </a:lnTo>
                <a:lnTo>
                  <a:pt x="315520" y="9747"/>
                </a:lnTo>
                <a:lnTo>
                  <a:pt x="262484" y="21443"/>
                </a:lnTo>
                <a:lnTo>
                  <a:pt x="212857" y="37253"/>
                </a:lnTo>
                <a:lnTo>
                  <a:pt x="167151" y="56852"/>
                </a:lnTo>
                <a:lnTo>
                  <a:pt x="125877" y="79914"/>
                </a:lnTo>
                <a:lnTo>
                  <a:pt x="89548" y="106115"/>
                </a:lnTo>
                <a:lnTo>
                  <a:pt x="58676" y="135128"/>
                </a:lnTo>
                <a:lnTo>
                  <a:pt x="33773" y="166627"/>
                </a:lnTo>
                <a:lnTo>
                  <a:pt x="15352" y="200289"/>
                </a:lnTo>
                <a:lnTo>
                  <a:pt x="0" y="272796"/>
                </a:lnTo>
                <a:lnTo>
                  <a:pt x="18555" y="235480"/>
                </a:lnTo>
                <a:lnTo>
                  <a:pt x="44679" y="200658"/>
                </a:lnTo>
                <a:lnTo>
                  <a:pt x="77764" y="168713"/>
                </a:lnTo>
                <a:lnTo>
                  <a:pt x="117203" y="140033"/>
                </a:lnTo>
                <a:lnTo>
                  <a:pt x="162389" y="115002"/>
                </a:lnTo>
                <a:lnTo>
                  <a:pt x="212714" y="94005"/>
                </a:lnTo>
                <a:lnTo>
                  <a:pt x="267570" y="77429"/>
                </a:lnTo>
                <a:lnTo>
                  <a:pt x="326351" y="65659"/>
                </a:lnTo>
                <a:lnTo>
                  <a:pt x="381068" y="59537"/>
                </a:lnTo>
                <a:lnTo>
                  <a:pt x="435333" y="57806"/>
                </a:lnTo>
                <a:lnTo>
                  <a:pt x="694091" y="57806"/>
                </a:lnTo>
                <a:lnTo>
                  <a:pt x="692384" y="56852"/>
                </a:lnTo>
                <a:lnTo>
                  <a:pt x="646678" y="37253"/>
                </a:lnTo>
                <a:lnTo>
                  <a:pt x="597051" y="21443"/>
                </a:lnTo>
                <a:lnTo>
                  <a:pt x="544015" y="9747"/>
                </a:lnTo>
                <a:lnTo>
                  <a:pt x="488084" y="2491"/>
                </a:lnTo>
                <a:lnTo>
                  <a:pt x="429767" y="0"/>
                </a:lnTo>
                <a:close/>
              </a:path>
              <a:path w="859790" h="273050">
                <a:moveTo>
                  <a:pt x="694091" y="57806"/>
                </a:moveTo>
                <a:lnTo>
                  <a:pt x="435333" y="57806"/>
                </a:lnTo>
                <a:lnTo>
                  <a:pt x="488646" y="60270"/>
                </a:lnTo>
                <a:lnTo>
                  <a:pt x="540509" y="66736"/>
                </a:lnTo>
                <a:lnTo>
                  <a:pt x="590420" y="77007"/>
                </a:lnTo>
                <a:lnTo>
                  <a:pt x="637882" y="90889"/>
                </a:lnTo>
                <a:lnTo>
                  <a:pt x="682393" y="108187"/>
                </a:lnTo>
                <a:lnTo>
                  <a:pt x="723455" y="128706"/>
                </a:lnTo>
                <a:lnTo>
                  <a:pt x="760568" y="152251"/>
                </a:lnTo>
                <a:lnTo>
                  <a:pt x="793232" y="178628"/>
                </a:lnTo>
                <a:lnTo>
                  <a:pt x="820948" y="207641"/>
                </a:lnTo>
                <a:lnTo>
                  <a:pt x="843215" y="239095"/>
                </a:lnTo>
                <a:lnTo>
                  <a:pt x="859535" y="272796"/>
                </a:lnTo>
                <a:lnTo>
                  <a:pt x="855612" y="235787"/>
                </a:lnTo>
                <a:lnTo>
                  <a:pt x="825762" y="166627"/>
                </a:lnTo>
                <a:lnTo>
                  <a:pt x="800859" y="135128"/>
                </a:lnTo>
                <a:lnTo>
                  <a:pt x="769987" y="106115"/>
                </a:lnTo>
                <a:lnTo>
                  <a:pt x="733658" y="79914"/>
                </a:lnTo>
                <a:lnTo>
                  <a:pt x="694091" y="57806"/>
                </a:lnTo>
                <a:close/>
              </a:path>
            </a:pathLst>
          </a:custGeom>
          <a:solidFill>
            <a:srgbClr val="21A1E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k object 20"/>
          <p:cNvSpPr/>
          <p:nvPr/>
        </p:nvSpPr>
        <p:spPr>
          <a:xfrm>
            <a:off x="323088" y="477012"/>
            <a:ext cx="792480" cy="43129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7/22/2026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jpg"/><Relationship Id="rId8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9144000" cy="112471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9144" y="609600"/>
            <a:ext cx="9134856" cy="58064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k object 18"/>
          <p:cNvSpPr/>
          <p:nvPr/>
        </p:nvSpPr>
        <p:spPr>
          <a:xfrm>
            <a:off x="8153400" y="108204"/>
            <a:ext cx="861060" cy="273050"/>
          </a:xfrm>
          <a:custGeom>
            <a:avLst/>
            <a:gdLst/>
            <a:ahLst/>
            <a:cxnLst/>
            <a:rect l="l" t="t" r="r" b="b"/>
            <a:pathLst>
              <a:path w="861059" h="273050">
                <a:moveTo>
                  <a:pt x="430529" y="0"/>
                </a:moveTo>
                <a:lnTo>
                  <a:pt x="372116" y="2491"/>
                </a:lnTo>
                <a:lnTo>
                  <a:pt x="316088" y="9747"/>
                </a:lnTo>
                <a:lnTo>
                  <a:pt x="262961" y="21443"/>
                </a:lnTo>
                <a:lnTo>
                  <a:pt x="213247" y="37253"/>
                </a:lnTo>
                <a:lnTo>
                  <a:pt x="167459" y="56852"/>
                </a:lnTo>
                <a:lnTo>
                  <a:pt x="126110" y="79914"/>
                </a:lnTo>
                <a:lnTo>
                  <a:pt x="89715" y="106115"/>
                </a:lnTo>
                <a:lnTo>
                  <a:pt x="58786" y="135128"/>
                </a:lnTo>
                <a:lnTo>
                  <a:pt x="33837" y="166627"/>
                </a:lnTo>
                <a:lnTo>
                  <a:pt x="15381" y="200289"/>
                </a:lnTo>
                <a:lnTo>
                  <a:pt x="0" y="272796"/>
                </a:lnTo>
                <a:lnTo>
                  <a:pt x="18573" y="235480"/>
                </a:lnTo>
                <a:lnTo>
                  <a:pt x="44737" y="200658"/>
                </a:lnTo>
                <a:lnTo>
                  <a:pt x="77882" y="168713"/>
                </a:lnTo>
                <a:lnTo>
                  <a:pt x="117395" y="140033"/>
                </a:lnTo>
                <a:lnTo>
                  <a:pt x="162665" y="115002"/>
                </a:lnTo>
                <a:lnTo>
                  <a:pt x="213080" y="94005"/>
                </a:lnTo>
                <a:lnTo>
                  <a:pt x="268028" y="77429"/>
                </a:lnTo>
                <a:lnTo>
                  <a:pt x="326898" y="65659"/>
                </a:lnTo>
                <a:lnTo>
                  <a:pt x="381728" y="59537"/>
                </a:lnTo>
                <a:lnTo>
                  <a:pt x="436099" y="57806"/>
                </a:lnTo>
                <a:lnTo>
                  <a:pt x="695310" y="57806"/>
                </a:lnTo>
                <a:lnTo>
                  <a:pt x="693600" y="56852"/>
                </a:lnTo>
                <a:lnTo>
                  <a:pt x="647812" y="37253"/>
                </a:lnTo>
                <a:lnTo>
                  <a:pt x="598098" y="21443"/>
                </a:lnTo>
                <a:lnTo>
                  <a:pt x="544971" y="9747"/>
                </a:lnTo>
                <a:lnTo>
                  <a:pt x="488943" y="2491"/>
                </a:lnTo>
                <a:lnTo>
                  <a:pt x="430529" y="0"/>
                </a:lnTo>
                <a:close/>
              </a:path>
              <a:path w="861059" h="273050">
                <a:moveTo>
                  <a:pt x="695310" y="57806"/>
                </a:moveTo>
                <a:lnTo>
                  <a:pt x="436099" y="57806"/>
                </a:lnTo>
                <a:lnTo>
                  <a:pt x="489513" y="60270"/>
                </a:lnTo>
                <a:lnTo>
                  <a:pt x="541468" y="66736"/>
                </a:lnTo>
                <a:lnTo>
                  <a:pt x="591466" y="77007"/>
                </a:lnTo>
                <a:lnTo>
                  <a:pt x="639008" y="90889"/>
                </a:lnTo>
                <a:lnTo>
                  <a:pt x="683593" y="108187"/>
                </a:lnTo>
                <a:lnTo>
                  <a:pt x="724723" y="128706"/>
                </a:lnTo>
                <a:lnTo>
                  <a:pt x="761898" y="152251"/>
                </a:lnTo>
                <a:lnTo>
                  <a:pt x="794619" y="178628"/>
                </a:lnTo>
                <a:lnTo>
                  <a:pt x="822385" y="207641"/>
                </a:lnTo>
                <a:lnTo>
                  <a:pt x="844699" y="239095"/>
                </a:lnTo>
                <a:lnTo>
                  <a:pt x="861059" y="272796"/>
                </a:lnTo>
                <a:lnTo>
                  <a:pt x="857129" y="235787"/>
                </a:lnTo>
                <a:lnTo>
                  <a:pt x="827222" y="166627"/>
                </a:lnTo>
                <a:lnTo>
                  <a:pt x="802273" y="135128"/>
                </a:lnTo>
                <a:lnTo>
                  <a:pt x="771344" y="106115"/>
                </a:lnTo>
                <a:lnTo>
                  <a:pt x="734948" y="79914"/>
                </a:lnTo>
                <a:lnTo>
                  <a:pt x="695310" y="57806"/>
                </a:lnTo>
                <a:close/>
              </a:path>
            </a:pathLst>
          </a:custGeom>
          <a:solidFill>
            <a:srgbClr val="12276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849626" y="97027"/>
            <a:ext cx="6162675" cy="5137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516379" y="2085848"/>
            <a:ext cx="6111240" cy="35375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8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Relationship Id="rId8" Type="http://schemas.openxmlformats.org/officeDocument/2006/relationships/image" Target="../media/image12.png"/><Relationship Id="rId9" Type="http://schemas.openxmlformats.org/officeDocument/2006/relationships/image" Target="../media/image13.png"/><Relationship Id="rId10" Type="http://schemas.openxmlformats.org/officeDocument/2006/relationships/image" Target="../media/image14.png"/><Relationship Id="rId11" Type="http://schemas.openxmlformats.org/officeDocument/2006/relationships/image" Target="../media/image15.png"/><Relationship Id="rId12" Type="http://schemas.openxmlformats.org/officeDocument/2006/relationships/image" Target="../media/image16.png"/><Relationship Id="rId13" Type="http://schemas.openxmlformats.org/officeDocument/2006/relationships/image" Target="../media/image3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Relationship Id="rId3" Type="http://schemas.openxmlformats.org/officeDocument/2006/relationships/image" Target="../media/image3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jpg"/><Relationship Id="rId3" Type="http://schemas.openxmlformats.org/officeDocument/2006/relationships/image" Target="../media/image19.jpg"/><Relationship Id="rId4" Type="http://schemas.openxmlformats.org/officeDocument/2006/relationships/image" Target="../media/image20.jpg"/><Relationship Id="rId5" Type="http://schemas.openxmlformats.org/officeDocument/2006/relationships/image" Target="../media/image3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Relationship Id="rId7" Type="http://schemas.openxmlformats.org/officeDocument/2006/relationships/image" Target="../media/image26.png"/><Relationship Id="rId8" Type="http://schemas.openxmlformats.org/officeDocument/2006/relationships/image" Target="../media/image3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7.png"/><Relationship Id="rId3" Type="http://schemas.openxmlformats.org/officeDocument/2006/relationships/image" Target="../media/image28.jpg"/><Relationship Id="rId4" Type="http://schemas.openxmlformats.org/officeDocument/2006/relationships/image" Target="../media/image3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9.jpg"/><Relationship Id="rId3" Type="http://schemas.openxmlformats.org/officeDocument/2006/relationships/image" Target="../media/image3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0.png"/><Relationship Id="rId3" Type="http://schemas.openxmlformats.org/officeDocument/2006/relationships/image" Target="../media/image3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1.png"/><Relationship Id="rId3" Type="http://schemas.openxmlformats.org/officeDocument/2006/relationships/image" Target="../media/image3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2.png"/><Relationship Id="rId3" Type="http://schemas.openxmlformats.org/officeDocument/2006/relationships/image" Target="../media/image3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3.png"/><Relationship Id="rId3" Type="http://schemas.openxmlformats.org/officeDocument/2006/relationships/image" Target="../media/image3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4.png"/><Relationship Id="rId3" Type="http://schemas.openxmlformats.org/officeDocument/2006/relationships/image" Target="../media/image3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5.png"/><Relationship Id="rId3" Type="http://schemas.openxmlformats.org/officeDocument/2006/relationships/image" Target="../media/image3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6.png"/><Relationship Id="rId3" Type="http://schemas.openxmlformats.org/officeDocument/2006/relationships/image" Target="../media/image3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37.png"/><Relationship Id="rId5" Type="http://schemas.openxmlformats.org/officeDocument/2006/relationships/image" Target="../media/image3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38200" y="214040"/>
            <a:ext cx="7757159" cy="2228815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80"/>
              </a:spcBef>
            </a:pPr>
            <a:endParaRPr sz="2400" dirty="0">
              <a:latin typeface="Arial"/>
              <a:cs typeface="Arial"/>
            </a:endParaRPr>
          </a:p>
          <a:p>
            <a:pPr marL="2424430" marR="30480" indent="-1715135">
              <a:lnSpc>
                <a:spcPct val="100000"/>
              </a:lnSpc>
              <a:spcBef>
                <a:spcPts val="730"/>
              </a:spcBef>
            </a:pPr>
            <a:r>
              <a:rPr sz="3600" b="1" spc="-25" dirty="0">
                <a:solidFill>
                  <a:srgbClr val="122767"/>
                </a:solidFill>
                <a:latin typeface="Arial"/>
                <a:cs typeface="Arial"/>
              </a:rPr>
              <a:t>ИЗПОЛЗВАНЕ </a:t>
            </a:r>
            <a:r>
              <a:rPr sz="3600" b="1" spc="-5" dirty="0">
                <a:solidFill>
                  <a:srgbClr val="122767"/>
                </a:solidFill>
                <a:latin typeface="Arial"/>
                <a:cs typeface="Arial"/>
              </a:rPr>
              <a:t>НА </a:t>
            </a:r>
            <a:r>
              <a:rPr sz="3600" b="1" dirty="0">
                <a:solidFill>
                  <a:srgbClr val="122767"/>
                </a:solidFill>
                <a:latin typeface="Arial"/>
                <a:cs typeface="Arial"/>
              </a:rPr>
              <a:t>ИНТЕРНЕТ</a:t>
            </a:r>
            <a:r>
              <a:rPr sz="3600" b="1" spc="-70" dirty="0">
                <a:solidFill>
                  <a:srgbClr val="122767"/>
                </a:solidFill>
                <a:latin typeface="Arial"/>
                <a:cs typeface="Arial"/>
              </a:rPr>
              <a:t> </a:t>
            </a:r>
            <a:r>
              <a:rPr sz="3600" b="1" dirty="0">
                <a:solidFill>
                  <a:srgbClr val="122767"/>
                </a:solidFill>
                <a:latin typeface="Arial"/>
                <a:cs typeface="Arial"/>
              </a:rPr>
              <a:t>В  </a:t>
            </a:r>
            <a:r>
              <a:rPr sz="3600" b="1" spc="-10" dirty="0">
                <a:solidFill>
                  <a:srgbClr val="122767"/>
                </a:solidFill>
                <a:latin typeface="Arial"/>
                <a:cs typeface="Arial"/>
              </a:rPr>
              <a:t>ЕЖЕДНЕВИЕТО</a:t>
            </a:r>
            <a:r>
              <a:rPr lang="en-US" sz="3600" b="1" spc="-10" dirty="0">
                <a:solidFill>
                  <a:srgbClr val="122767"/>
                </a:solidFill>
                <a:latin typeface="Arial"/>
                <a:cs typeface="Arial"/>
              </a:rPr>
              <a:t>. </a:t>
            </a:r>
          </a:p>
          <a:p>
            <a:pPr marL="1353820">
              <a:lnSpc>
                <a:spcPct val="100000"/>
              </a:lnSpc>
              <a:spcBef>
                <a:spcPts val="1680"/>
              </a:spcBef>
            </a:pPr>
            <a:r>
              <a:rPr sz="2400" dirty="0" err="1">
                <a:solidFill>
                  <a:srgbClr val="174AB1"/>
                </a:solidFill>
                <a:latin typeface="Arial"/>
                <a:cs typeface="Arial"/>
              </a:rPr>
              <a:t>Правила</a:t>
            </a:r>
            <a:r>
              <a:rPr sz="2400" dirty="0">
                <a:solidFill>
                  <a:srgbClr val="174AB1"/>
                </a:solidFill>
                <a:latin typeface="Arial"/>
                <a:cs typeface="Arial"/>
              </a:rPr>
              <a:t> за </a:t>
            </a:r>
            <a:r>
              <a:rPr sz="2400" spc="-15" dirty="0">
                <a:solidFill>
                  <a:srgbClr val="174AB1"/>
                </a:solidFill>
                <a:latin typeface="Arial"/>
                <a:cs typeface="Arial"/>
              </a:rPr>
              <a:t>безопасна работа </a:t>
            </a:r>
            <a:r>
              <a:rPr sz="2400" dirty="0">
                <a:solidFill>
                  <a:srgbClr val="174AB1"/>
                </a:solidFill>
                <a:latin typeface="Arial"/>
                <a:cs typeface="Arial"/>
              </a:rPr>
              <a:t>в</a:t>
            </a:r>
            <a:r>
              <a:rPr sz="2400" spc="-30" dirty="0">
                <a:solidFill>
                  <a:srgbClr val="174AB1"/>
                </a:solidFill>
                <a:latin typeface="Arial"/>
                <a:cs typeface="Arial"/>
              </a:rPr>
              <a:t> </a:t>
            </a:r>
            <a:r>
              <a:rPr sz="2400" spc="-20" dirty="0">
                <a:solidFill>
                  <a:srgbClr val="174AB1"/>
                </a:solidFill>
                <a:latin typeface="Arial"/>
                <a:cs typeface="Arial"/>
              </a:rPr>
              <a:t>интернет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3" name="Овал 2"/>
          <p:cNvSpPr/>
          <p:nvPr/>
        </p:nvSpPr>
        <p:spPr>
          <a:xfrm>
            <a:off x="152400" y="228600"/>
            <a:ext cx="1371600" cy="7620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4" name="Правоъгълник 3"/>
          <p:cNvSpPr/>
          <p:nvPr/>
        </p:nvSpPr>
        <p:spPr>
          <a:xfrm>
            <a:off x="1981200" y="2496234"/>
            <a:ext cx="580697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424430" marR="30480" indent="-1715135" algn="ctr">
              <a:lnSpc>
                <a:spcPct val="100000"/>
              </a:lnSpc>
              <a:spcBef>
                <a:spcPts val="730"/>
              </a:spcBef>
            </a:pPr>
            <a:r>
              <a:rPr lang="bg-BG" sz="3600" b="1" cap="all" spc="-25" dirty="0">
                <a:solidFill>
                  <a:srgbClr val="122767"/>
                </a:solidFill>
                <a:latin typeface="Arial"/>
                <a:cs typeface="Arial"/>
              </a:rPr>
              <a:t>Електронна поща.</a:t>
            </a:r>
          </a:p>
        </p:txBody>
      </p:sp>
      <p:sp>
        <p:nvSpPr>
          <p:cNvPr id="6" name="Текстово поле 3">
            <a:extLst>
              <a:ext uri="{FF2B5EF4-FFF2-40B4-BE49-F238E27FC236}">
                <a16:creationId xmlns:a16="http://schemas.microsoft.com/office/drawing/2014/main" id="{0BB4AE0A-4766-9F18-BCBD-4CB5EA738647}"/>
              </a:ext>
            </a:extLst>
          </p:cNvPr>
          <p:cNvSpPr txBox="1"/>
          <p:nvPr/>
        </p:nvSpPr>
        <p:spPr>
          <a:xfrm>
            <a:off x="2819400" y="6512072"/>
            <a:ext cx="47290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bg-BG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bg-BG" sz="1600" dirty="0">
                <a:solidFill>
                  <a:schemeClr val="bg1"/>
                </a:solidFill>
              </a:rPr>
              <a:t>КМИТ, 5 клас, Елена Маврова-Ненкова</a:t>
            </a:r>
          </a:p>
        </p:txBody>
      </p:sp>
      <p:pic>
        <p:nvPicPr>
          <p:cNvPr id="7" name="Picture 6" descr="_e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5943600"/>
            <a:ext cx="868680" cy="90529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4800" y="553923"/>
            <a:ext cx="883920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084320" algn="l">
              <a:lnSpc>
                <a:spcPct val="100000"/>
              </a:lnSpc>
              <a:spcBef>
                <a:spcPts val="100"/>
              </a:spcBef>
            </a:pPr>
            <a:r>
              <a:rPr lang="bg-BG" sz="3600" dirty="0">
                <a:solidFill>
                  <a:srgbClr val="002060"/>
                </a:solidFill>
              </a:rPr>
              <a:t>Щ</a:t>
            </a:r>
            <a:r>
              <a:rPr sz="3600" dirty="0">
                <a:solidFill>
                  <a:srgbClr val="002060"/>
                </a:solidFill>
                <a:latin typeface="Arial"/>
                <a:cs typeface="Arial"/>
              </a:rPr>
              <a:t>е</a:t>
            </a:r>
            <a:r>
              <a:rPr sz="3600" spc="-15" dirty="0">
                <a:solidFill>
                  <a:srgbClr val="002060"/>
                </a:solidFill>
                <a:latin typeface="Arial"/>
                <a:cs typeface="Arial"/>
              </a:rPr>
              <a:t> </a:t>
            </a:r>
            <a:r>
              <a:rPr sz="3600" spc="-10" dirty="0" err="1">
                <a:solidFill>
                  <a:srgbClr val="002060"/>
                </a:solidFill>
                <a:latin typeface="Arial"/>
                <a:cs typeface="Arial"/>
              </a:rPr>
              <a:t>научим</a:t>
            </a:r>
            <a:r>
              <a:rPr lang="bg-BG" sz="3600" spc="-10" dirty="0">
                <a:solidFill>
                  <a:srgbClr val="002060"/>
                </a:solidFill>
              </a:rPr>
              <a:t> какво е</a:t>
            </a:r>
            <a:r>
              <a:rPr lang="en-US" sz="3600" spc="-10" dirty="0">
                <a:solidFill>
                  <a:srgbClr val="002060"/>
                </a:solidFill>
              </a:rPr>
              <a:t>:</a:t>
            </a:r>
            <a:r>
              <a:rPr lang="en-US" sz="3600" spc="-10" dirty="0">
                <a:solidFill>
                  <a:srgbClr val="002060"/>
                </a:solidFill>
                <a:latin typeface="Arial"/>
                <a:cs typeface="Arial"/>
              </a:rPr>
              <a:t> </a:t>
            </a:r>
            <a:endParaRPr sz="3600" dirty="0">
              <a:solidFill>
                <a:srgbClr val="002060"/>
              </a:solidFill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66571" y="4832984"/>
            <a:ext cx="2425065" cy="1343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25" dirty="0">
                <a:solidFill>
                  <a:srgbClr val="122767"/>
                </a:solidFill>
                <a:latin typeface="Arial"/>
                <a:cs typeface="Arial"/>
              </a:rPr>
              <a:t>уеб</a:t>
            </a:r>
            <a:r>
              <a:rPr sz="3200" spc="-35" dirty="0">
                <a:solidFill>
                  <a:srgbClr val="122767"/>
                </a:solidFill>
                <a:latin typeface="Arial"/>
                <a:cs typeface="Arial"/>
              </a:rPr>
              <a:t> </a:t>
            </a:r>
            <a:r>
              <a:rPr sz="3200" spc="-5" dirty="0">
                <a:solidFill>
                  <a:srgbClr val="122767"/>
                </a:solidFill>
                <a:latin typeface="Arial"/>
                <a:cs typeface="Arial"/>
              </a:rPr>
              <a:t>адрес</a:t>
            </a:r>
            <a:endParaRPr sz="3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695"/>
              </a:spcBef>
            </a:pPr>
            <a:r>
              <a:rPr sz="3200" dirty="0">
                <a:solidFill>
                  <a:srgbClr val="122767"/>
                </a:solidFill>
                <a:latin typeface="Arial"/>
                <a:cs typeface="Arial"/>
              </a:rPr>
              <a:t>хипервръз</a:t>
            </a:r>
            <a:r>
              <a:rPr sz="3200" spc="60" dirty="0">
                <a:solidFill>
                  <a:srgbClr val="122767"/>
                </a:solidFill>
                <a:latin typeface="Arial"/>
                <a:cs typeface="Arial"/>
              </a:rPr>
              <a:t>к</a:t>
            </a:r>
            <a:r>
              <a:rPr sz="3200" dirty="0">
                <a:solidFill>
                  <a:srgbClr val="122767"/>
                </a:solidFill>
                <a:latin typeface="Arial"/>
                <a:cs typeface="Arial"/>
              </a:rPr>
              <a:t>а</a:t>
            </a:r>
            <a:endParaRPr sz="32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08431" y="1341119"/>
            <a:ext cx="756285" cy="654050"/>
          </a:xfrm>
          <a:custGeom>
            <a:avLst/>
            <a:gdLst/>
            <a:ahLst/>
            <a:cxnLst/>
            <a:rect l="l" t="t" r="r" b="b"/>
            <a:pathLst>
              <a:path w="756285" h="654050">
                <a:moveTo>
                  <a:pt x="566851" y="0"/>
                </a:moveTo>
                <a:lnTo>
                  <a:pt x="189052" y="0"/>
                </a:lnTo>
                <a:lnTo>
                  <a:pt x="0" y="326897"/>
                </a:lnTo>
                <a:lnTo>
                  <a:pt x="189052" y="653795"/>
                </a:lnTo>
                <a:lnTo>
                  <a:pt x="566851" y="653795"/>
                </a:lnTo>
                <a:lnTo>
                  <a:pt x="755904" y="326897"/>
                </a:lnTo>
                <a:lnTo>
                  <a:pt x="566851" y="0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02336" y="1328927"/>
            <a:ext cx="755904" cy="65379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02336" y="1328927"/>
            <a:ext cx="756285" cy="654050"/>
          </a:xfrm>
          <a:custGeom>
            <a:avLst/>
            <a:gdLst/>
            <a:ahLst/>
            <a:cxnLst/>
            <a:rect l="l" t="t" r="r" b="b"/>
            <a:pathLst>
              <a:path w="756285" h="654050">
                <a:moveTo>
                  <a:pt x="0" y="326898"/>
                </a:moveTo>
                <a:lnTo>
                  <a:pt x="189052" y="0"/>
                </a:lnTo>
                <a:lnTo>
                  <a:pt x="566851" y="0"/>
                </a:lnTo>
                <a:lnTo>
                  <a:pt x="755904" y="326898"/>
                </a:lnTo>
                <a:lnTo>
                  <a:pt x="566851" y="653796"/>
                </a:lnTo>
                <a:lnTo>
                  <a:pt x="189052" y="653796"/>
                </a:lnTo>
                <a:lnTo>
                  <a:pt x="0" y="326898"/>
                </a:lnTo>
                <a:close/>
              </a:path>
            </a:pathLst>
          </a:custGeom>
          <a:ln w="9144">
            <a:solidFill>
              <a:srgbClr val="C0C0C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46531" y="1368552"/>
            <a:ext cx="664464" cy="5745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46531" y="1368552"/>
            <a:ext cx="664845" cy="574675"/>
          </a:xfrm>
          <a:custGeom>
            <a:avLst/>
            <a:gdLst/>
            <a:ahLst/>
            <a:cxnLst/>
            <a:rect l="l" t="t" r="r" b="b"/>
            <a:pathLst>
              <a:path w="664844" h="574675">
                <a:moveTo>
                  <a:pt x="0" y="287274"/>
                </a:moveTo>
                <a:lnTo>
                  <a:pt x="166027" y="0"/>
                </a:lnTo>
                <a:lnTo>
                  <a:pt x="498436" y="0"/>
                </a:lnTo>
                <a:lnTo>
                  <a:pt x="664464" y="287274"/>
                </a:lnTo>
                <a:lnTo>
                  <a:pt x="498436" y="574548"/>
                </a:lnTo>
                <a:lnTo>
                  <a:pt x="166027" y="574548"/>
                </a:lnTo>
                <a:lnTo>
                  <a:pt x="0" y="287274"/>
                </a:lnTo>
                <a:close/>
              </a:path>
            </a:pathLst>
          </a:custGeom>
          <a:ln w="9144">
            <a:solidFill>
              <a:srgbClr val="12276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02336" y="2281427"/>
            <a:ext cx="756285" cy="654050"/>
          </a:xfrm>
          <a:custGeom>
            <a:avLst/>
            <a:gdLst/>
            <a:ahLst/>
            <a:cxnLst/>
            <a:rect l="l" t="t" r="r" b="b"/>
            <a:pathLst>
              <a:path w="756285" h="654050">
                <a:moveTo>
                  <a:pt x="566851" y="0"/>
                </a:moveTo>
                <a:lnTo>
                  <a:pt x="189052" y="0"/>
                </a:lnTo>
                <a:lnTo>
                  <a:pt x="0" y="326898"/>
                </a:lnTo>
                <a:lnTo>
                  <a:pt x="189052" y="653796"/>
                </a:lnTo>
                <a:lnTo>
                  <a:pt x="566851" y="653796"/>
                </a:lnTo>
                <a:lnTo>
                  <a:pt x="755904" y="326898"/>
                </a:lnTo>
                <a:lnTo>
                  <a:pt x="566851" y="0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96240" y="2270760"/>
            <a:ext cx="754379" cy="65379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96240" y="2270760"/>
            <a:ext cx="754380" cy="654050"/>
          </a:xfrm>
          <a:custGeom>
            <a:avLst/>
            <a:gdLst/>
            <a:ahLst/>
            <a:cxnLst/>
            <a:rect l="l" t="t" r="r" b="b"/>
            <a:pathLst>
              <a:path w="754380" h="654050">
                <a:moveTo>
                  <a:pt x="0" y="326898"/>
                </a:moveTo>
                <a:lnTo>
                  <a:pt x="189052" y="0"/>
                </a:lnTo>
                <a:lnTo>
                  <a:pt x="565327" y="0"/>
                </a:lnTo>
                <a:lnTo>
                  <a:pt x="754379" y="326898"/>
                </a:lnTo>
                <a:lnTo>
                  <a:pt x="565327" y="653795"/>
                </a:lnTo>
                <a:lnTo>
                  <a:pt x="189052" y="653795"/>
                </a:lnTo>
                <a:lnTo>
                  <a:pt x="0" y="326898"/>
                </a:lnTo>
                <a:close/>
              </a:path>
            </a:pathLst>
          </a:custGeom>
          <a:ln w="9144">
            <a:solidFill>
              <a:srgbClr val="C0C0C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40436" y="2310383"/>
            <a:ext cx="662940" cy="57454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40436" y="2310383"/>
            <a:ext cx="662940" cy="574675"/>
          </a:xfrm>
          <a:custGeom>
            <a:avLst/>
            <a:gdLst/>
            <a:ahLst/>
            <a:cxnLst/>
            <a:rect l="l" t="t" r="r" b="b"/>
            <a:pathLst>
              <a:path w="662940" h="574675">
                <a:moveTo>
                  <a:pt x="0" y="287274"/>
                </a:moveTo>
                <a:lnTo>
                  <a:pt x="166027" y="0"/>
                </a:lnTo>
                <a:lnTo>
                  <a:pt x="496912" y="0"/>
                </a:lnTo>
                <a:lnTo>
                  <a:pt x="662940" y="287274"/>
                </a:lnTo>
                <a:lnTo>
                  <a:pt x="496912" y="574548"/>
                </a:lnTo>
                <a:lnTo>
                  <a:pt x="166027" y="574548"/>
                </a:lnTo>
                <a:lnTo>
                  <a:pt x="0" y="287274"/>
                </a:lnTo>
                <a:close/>
              </a:path>
            </a:pathLst>
          </a:custGeom>
          <a:ln w="9144">
            <a:solidFill>
              <a:srgbClr val="12276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671880" y="1480565"/>
            <a:ext cx="1949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24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71880" y="2394965"/>
            <a:ext cx="1949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240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402336" y="3174492"/>
            <a:ext cx="756285" cy="654050"/>
          </a:xfrm>
          <a:custGeom>
            <a:avLst/>
            <a:gdLst/>
            <a:ahLst/>
            <a:cxnLst/>
            <a:rect l="l" t="t" r="r" b="b"/>
            <a:pathLst>
              <a:path w="756285" h="654050">
                <a:moveTo>
                  <a:pt x="566851" y="0"/>
                </a:moveTo>
                <a:lnTo>
                  <a:pt x="189052" y="0"/>
                </a:lnTo>
                <a:lnTo>
                  <a:pt x="0" y="326898"/>
                </a:lnTo>
                <a:lnTo>
                  <a:pt x="189052" y="653796"/>
                </a:lnTo>
                <a:lnTo>
                  <a:pt x="566851" y="653796"/>
                </a:lnTo>
                <a:lnTo>
                  <a:pt x="755904" y="326898"/>
                </a:lnTo>
                <a:lnTo>
                  <a:pt x="566851" y="0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96240" y="3162300"/>
            <a:ext cx="754379" cy="65379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396240" y="3162300"/>
            <a:ext cx="754380" cy="654050"/>
          </a:xfrm>
          <a:custGeom>
            <a:avLst/>
            <a:gdLst/>
            <a:ahLst/>
            <a:cxnLst/>
            <a:rect l="l" t="t" r="r" b="b"/>
            <a:pathLst>
              <a:path w="754380" h="654050">
                <a:moveTo>
                  <a:pt x="0" y="326898"/>
                </a:moveTo>
                <a:lnTo>
                  <a:pt x="189052" y="0"/>
                </a:lnTo>
                <a:lnTo>
                  <a:pt x="565327" y="0"/>
                </a:lnTo>
                <a:lnTo>
                  <a:pt x="754379" y="326898"/>
                </a:lnTo>
                <a:lnTo>
                  <a:pt x="565327" y="653795"/>
                </a:lnTo>
                <a:lnTo>
                  <a:pt x="189052" y="653795"/>
                </a:lnTo>
                <a:lnTo>
                  <a:pt x="0" y="326898"/>
                </a:lnTo>
                <a:close/>
              </a:path>
            </a:pathLst>
          </a:custGeom>
          <a:ln w="9144">
            <a:solidFill>
              <a:srgbClr val="C0C0C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440436" y="3201923"/>
            <a:ext cx="662940" cy="574548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440436" y="3201923"/>
            <a:ext cx="662940" cy="574675"/>
          </a:xfrm>
          <a:custGeom>
            <a:avLst/>
            <a:gdLst/>
            <a:ahLst/>
            <a:cxnLst/>
            <a:rect l="l" t="t" r="r" b="b"/>
            <a:pathLst>
              <a:path w="662940" h="574675">
                <a:moveTo>
                  <a:pt x="0" y="287274"/>
                </a:moveTo>
                <a:lnTo>
                  <a:pt x="166027" y="0"/>
                </a:lnTo>
                <a:lnTo>
                  <a:pt x="496912" y="0"/>
                </a:lnTo>
                <a:lnTo>
                  <a:pt x="662940" y="287274"/>
                </a:lnTo>
                <a:lnTo>
                  <a:pt x="496912" y="574548"/>
                </a:lnTo>
                <a:lnTo>
                  <a:pt x="166027" y="574548"/>
                </a:lnTo>
                <a:lnTo>
                  <a:pt x="0" y="287274"/>
                </a:lnTo>
                <a:close/>
              </a:path>
            </a:pathLst>
          </a:custGeom>
          <a:ln w="9144">
            <a:solidFill>
              <a:srgbClr val="12276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402336" y="3944111"/>
            <a:ext cx="756285" cy="654050"/>
          </a:xfrm>
          <a:custGeom>
            <a:avLst/>
            <a:gdLst/>
            <a:ahLst/>
            <a:cxnLst/>
            <a:rect l="l" t="t" r="r" b="b"/>
            <a:pathLst>
              <a:path w="756285" h="654050">
                <a:moveTo>
                  <a:pt x="566851" y="0"/>
                </a:moveTo>
                <a:lnTo>
                  <a:pt x="189052" y="0"/>
                </a:lnTo>
                <a:lnTo>
                  <a:pt x="0" y="326898"/>
                </a:lnTo>
                <a:lnTo>
                  <a:pt x="189052" y="653795"/>
                </a:lnTo>
                <a:lnTo>
                  <a:pt x="566851" y="653795"/>
                </a:lnTo>
                <a:lnTo>
                  <a:pt x="755904" y="326898"/>
                </a:lnTo>
                <a:lnTo>
                  <a:pt x="566851" y="0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396240" y="3933444"/>
            <a:ext cx="754379" cy="65379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396240" y="3933444"/>
            <a:ext cx="754380" cy="654050"/>
          </a:xfrm>
          <a:custGeom>
            <a:avLst/>
            <a:gdLst/>
            <a:ahLst/>
            <a:cxnLst/>
            <a:rect l="l" t="t" r="r" b="b"/>
            <a:pathLst>
              <a:path w="754380" h="654050">
                <a:moveTo>
                  <a:pt x="0" y="326897"/>
                </a:moveTo>
                <a:lnTo>
                  <a:pt x="189052" y="0"/>
                </a:lnTo>
                <a:lnTo>
                  <a:pt x="565327" y="0"/>
                </a:lnTo>
                <a:lnTo>
                  <a:pt x="754379" y="326897"/>
                </a:lnTo>
                <a:lnTo>
                  <a:pt x="565327" y="653795"/>
                </a:lnTo>
                <a:lnTo>
                  <a:pt x="189052" y="653795"/>
                </a:lnTo>
                <a:lnTo>
                  <a:pt x="0" y="326897"/>
                </a:lnTo>
                <a:close/>
              </a:path>
            </a:pathLst>
          </a:custGeom>
          <a:ln w="9144">
            <a:solidFill>
              <a:srgbClr val="C0C0C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440436" y="3973067"/>
            <a:ext cx="662940" cy="57454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440436" y="3973067"/>
            <a:ext cx="662940" cy="574675"/>
          </a:xfrm>
          <a:custGeom>
            <a:avLst/>
            <a:gdLst/>
            <a:ahLst/>
            <a:cxnLst/>
            <a:rect l="l" t="t" r="r" b="b"/>
            <a:pathLst>
              <a:path w="662940" h="574675">
                <a:moveTo>
                  <a:pt x="0" y="287273"/>
                </a:moveTo>
                <a:lnTo>
                  <a:pt x="166027" y="0"/>
                </a:lnTo>
                <a:lnTo>
                  <a:pt x="496912" y="0"/>
                </a:lnTo>
                <a:lnTo>
                  <a:pt x="662940" y="287273"/>
                </a:lnTo>
                <a:lnTo>
                  <a:pt x="496912" y="574547"/>
                </a:lnTo>
                <a:lnTo>
                  <a:pt x="166027" y="574547"/>
                </a:lnTo>
                <a:lnTo>
                  <a:pt x="0" y="287273"/>
                </a:lnTo>
                <a:close/>
              </a:path>
            </a:pathLst>
          </a:custGeom>
          <a:ln w="9144">
            <a:solidFill>
              <a:srgbClr val="12276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671880" y="1515567"/>
            <a:ext cx="3199765" cy="300228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607060">
              <a:lnSpc>
                <a:spcPct val="100000"/>
              </a:lnSpc>
              <a:spcBef>
                <a:spcPts val="105"/>
              </a:spcBef>
            </a:pPr>
            <a:r>
              <a:rPr sz="3200" spc="-25" dirty="0">
                <a:solidFill>
                  <a:srgbClr val="122767"/>
                </a:solidFill>
                <a:latin typeface="Arial"/>
                <a:cs typeface="Arial"/>
              </a:rPr>
              <a:t>интернет</a:t>
            </a:r>
            <a:endParaRPr sz="3200">
              <a:latin typeface="Arial"/>
              <a:cs typeface="Arial"/>
            </a:endParaRPr>
          </a:p>
          <a:p>
            <a:pPr marL="607060">
              <a:lnSpc>
                <a:spcPct val="100000"/>
              </a:lnSpc>
              <a:spcBef>
                <a:spcPts val="2690"/>
              </a:spcBef>
            </a:pPr>
            <a:r>
              <a:rPr sz="3200" spc="-25" dirty="0">
                <a:solidFill>
                  <a:srgbClr val="122767"/>
                </a:solidFill>
                <a:latin typeface="Arial"/>
                <a:cs typeface="Arial"/>
              </a:rPr>
              <a:t>уеб </a:t>
            </a:r>
            <a:r>
              <a:rPr sz="3200" dirty="0">
                <a:solidFill>
                  <a:srgbClr val="122767"/>
                </a:solidFill>
                <a:latin typeface="Arial"/>
                <a:cs typeface="Arial"/>
              </a:rPr>
              <a:t>сайт</a:t>
            </a:r>
            <a:endParaRPr sz="3200">
              <a:latin typeface="Arial"/>
              <a:cs typeface="Arial"/>
            </a:endParaRPr>
          </a:p>
          <a:p>
            <a:pPr marL="607060" marR="5080" indent="-594995">
              <a:lnSpc>
                <a:spcPct val="167800"/>
              </a:lnSpc>
              <a:spcBef>
                <a:spcPts val="170"/>
              </a:spcBef>
              <a:tabLst>
                <a:tab pos="607060" algn="l"/>
              </a:tabLst>
            </a:pP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3	</a:t>
            </a:r>
            <a:r>
              <a:rPr sz="4800" spc="-30" baseline="1736" dirty="0">
                <a:solidFill>
                  <a:srgbClr val="122767"/>
                </a:solidFill>
                <a:latin typeface="Arial"/>
                <a:cs typeface="Arial"/>
              </a:rPr>
              <a:t>браузър </a:t>
            </a:r>
            <a:r>
              <a:rPr sz="3200" spc="-20" dirty="0">
                <a:solidFill>
                  <a:srgbClr val="122767"/>
                </a:solidFill>
                <a:latin typeface="Arial"/>
                <a:cs typeface="Arial"/>
              </a:rPr>
              <a:t> </a:t>
            </a:r>
            <a:r>
              <a:rPr sz="3200" spc="-5" dirty="0">
                <a:solidFill>
                  <a:srgbClr val="122767"/>
                </a:solidFill>
                <a:latin typeface="Arial"/>
                <a:cs typeface="Arial"/>
              </a:rPr>
              <a:t>адресно</a:t>
            </a:r>
            <a:r>
              <a:rPr sz="3200" spc="-120" dirty="0">
                <a:solidFill>
                  <a:srgbClr val="122767"/>
                </a:solidFill>
                <a:latin typeface="Arial"/>
                <a:cs typeface="Arial"/>
              </a:rPr>
              <a:t> </a:t>
            </a:r>
            <a:r>
              <a:rPr sz="3200" spc="-20" dirty="0">
                <a:solidFill>
                  <a:srgbClr val="122767"/>
                </a:solidFill>
                <a:latin typeface="Arial"/>
                <a:cs typeface="Arial"/>
              </a:rPr>
              <a:t>поле</a:t>
            </a:r>
            <a:endParaRPr sz="32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71880" y="4057904"/>
            <a:ext cx="1949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sz="2400">
              <a:latin typeface="Arial"/>
              <a:cs typeface="Arial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402336" y="4879847"/>
            <a:ext cx="755904" cy="653795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402336" y="4879847"/>
            <a:ext cx="756285" cy="654050"/>
          </a:xfrm>
          <a:custGeom>
            <a:avLst/>
            <a:gdLst/>
            <a:ahLst/>
            <a:cxnLst/>
            <a:rect l="l" t="t" r="r" b="b"/>
            <a:pathLst>
              <a:path w="756285" h="654050">
                <a:moveTo>
                  <a:pt x="0" y="326897"/>
                </a:moveTo>
                <a:lnTo>
                  <a:pt x="189052" y="0"/>
                </a:lnTo>
                <a:lnTo>
                  <a:pt x="566851" y="0"/>
                </a:lnTo>
                <a:lnTo>
                  <a:pt x="755904" y="326897"/>
                </a:lnTo>
                <a:lnTo>
                  <a:pt x="566851" y="653795"/>
                </a:lnTo>
                <a:lnTo>
                  <a:pt x="189052" y="653795"/>
                </a:lnTo>
                <a:lnTo>
                  <a:pt x="0" y="326897"/>
                </a:lnTo>
                <a:close/>
              </a:path>
            </a:pathLst>
          </a:custGeom>
          <a:ln w="9144">
            <a:solidFill>
              <a:srgbClr val="12276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396240" y="4869179"/>
            <a:ext cx="754379" cy="65379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396240" y="4869179"/>
            <a:ext cx="754380" cy="654050"/>
          </a:xfrm>
          <a:custGeom>
            <a:avLst/>
            <a:gdLst/>
            <a:ahLst/>
            <a:cxnLst/>
            <a:rect l="l" t="t" r="r" b="b"/>
            <a:pathLst>
              <a:path w="754380" h="654050">
                <a:moveTo>
                  <a:pt x="0" y="326898"/>
                </a:moveTo>
                <a:lnTo>
                  <a:pt x="189052" y="0"/>
                </a:lnTo>
                <a:lnTo>
                  <a:pt x="565327" y="0"/>
                </a:lnTo>
                <a:lnTo>
                  <a:pt x="754379" y="326898"/>
                </a:lnTo>
                <a:lnTo>
                  <a:pt x="565327" y="653796"/>
                </a:lnTo>
                <a:lnTo>
                  <a:pt x="189052" y="653796"/>
                </a:lnTo>
                <a:lnTo>
                  <a:pt x="0" y="326898"/>
                </a:lnTo>
                <a:close/>
              </a:path>
            </a:pathLst>
          </a:custGeom>
          <a:ln w="9144">
            <a:solidFill>
              <a:srgbClr val="12276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440436" y="4908803"/>
            <a:ext cx="662940" cy="574547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440436" y="4908803"/>
            <a:ext cx="662940" cy="574675"/>
          </a:xfrm>
          <a:custGeom>
            <a:avLst/>
            <a:gdLst/>
            <a:ahLst/>
            <a:cxnLst/>
            <a:rect l="l" t="t" r="r" b="b"/>
            <a:pathLst>
              <a:path w="662940" h="574675">
                <a:moveTo>
                  <a:pt x="0" y="287274"/>
                </a:moveTo>
                <a:lnTo>
                  <a:pt x="166027" y="0"/>
                </a:lnTo>
                <a:lnTo>
                  <a:pt x="496912" y="0"/>
                </a:lnTo>
                <a:lnTo>
                  <a:pt x="662940" y="287274"/>
                </a:lnTo>
                <a:lnTo>
                  <a:pt x="496912" y="574548"/>
                </a:lnTo>
                <a:lnTo>
                  <a:pt x="166027" y="574548"/>
                </a:lnTo>
                <a:lnTo>
                  <a:pt x="0" y="287274"/>
                </a:lnTo>
                <a:close/>
              </a:path>
            </a:pathLst>
          </a:custGeom>
          <a:ln w="9144">
            <a:solidFill>
              <a:srgbClr val="12276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671880" y="4994275"/>
            <a:ext cx="1949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5</a:t>
            </a:r>
            <a:endParaRPr sz="2400">
              <a:latin typeface="Arial"/>
              <a:cs typeface="Arial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402336" y="5600700"/>
            <a:ext cx="756285" cy="654050"/>
          </a:xfrm>
          <a:custGeom>
            <a:avLst/>
            <a:gdLst/>
            <a:ahLst/>
            <a:cxnLst/>
            <a:rect l="l" t="t" r="r" b="b"/>
            <a:pathLst>
              <a:path w="756285" h="654050">
                <a:moveTo>
                  <a:pt x="566851" y="0"/>
                </a:moveTo>
                <a:lnTo>
                  <a:pt x="189052" y="0"/>
                </a:lnTo>
                <a:lnTo>
                  <a:pt x="0" y="326897"/>
                </a:lnTo>
                <a:lnTo>
                  <a:pt x="189052" y="653796"/>
                </a:lnTo>
                <a:lnTo>
                  <a:pt x="566851" y="653796"/>
                </a:lnTo>
                <a:lnTo>
                  <a:pt x="755904" y="326897"/>
                </a:lnTo>
                <a:lnTo>
                  <a:pt x="566851" y="0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396240" y="5588508"/>
            <a:ext cx="754379" cy="655319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396240" y="5588508"/>
            <a:ext cx="754380" cy="655320"/>
          </a:xfrm>
          <a:custGeom>
            <a:avLst/>
            <a:gdLst/>
            <a:ahLst/>
            <a:cxnLst/>
            <a:rect l="l" t="t" r="r" b="b"/>
            <a:pathLst>
              <a:path w="754380" h="655320">
                <a:moveTo>
                  <a:pt x="0" y="327659"/>
                </a:moveTo>
                <a:lnTo>
                  <a:pt x="189496" y="0"/>
                </a:lnTo>
                <a:lnTo>
                  <a:pt x="564883" y="0"/>
                </a:lnTo>
                <a:lnTo>
                  <a:pt x="754379" y="327659"/>
                </a:lnTo>
                <a:lnTo>
                  <a:pt x="564883" y="655319"/>
                </a:lnTo>
                <a:lnTo>
                  <a:pt x="189496" y="655319"/>
                </a:lnTo>
                <a:lnTo>
                  <a:pt x="0" y="327659"/>
                </a:lnTo>
                <a:close/>
              </a:path>
            </a:pathLst>
          </a:custGeom>
          <a:ln w="9144">
            <a:solidFill>
              <a:srgbClr val="C0C0C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440436" y="5628132"/>
            <a:ext cx="662940" cy="576072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440436" y="5628132"/>
            <a:ext cx="662940" cy="576580"/>
          </a:xfrm>
          <a:custGeom>
            <a:avLst/>
            <a:gdLst/>
            <a:ahLst/>
            <a:cxnLst/>
            <a:rect l="l" t="t" r="r" b="b"/>
            <a:pathLst>
              <a:path w="662940" h="576579">
                <a:moveTo>
                  <a:pt x="0" y="288036"/>
                </a:moveTo>
                <a:lnTo>
                  <a:pt x="166458" y="0"/>
                </a:lnTo>
                <a:lnTo>
                  <a:pt x="496481" y="0"/>
                </a:lnTo>
                <a:lnTo>
                  <a:pt x="662940" y="288036"/>
                </a:lnTo>
                <a:lnTo>
                  <a:pt x="496481" y="576072"/>
                </a:lnTo>
                <a:lnTo>
                  <a:pt x="166458" y="576072"/>
                </a:lnTo>
                <a:lnTo>
                  <a:pt x="0" y="288036"/>
                </a:lnTo>
                <a:close/>
              </a:path>
            </a:pathLst>
          </a:custGeom>
          <a:ln w="9144">
            <a:solidFill>
              <a:srgbClr val="12276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 txBox="1"/>
          <p:nvPr/>
        </p:nvSpPr>
        <p:spPr>
          <a:xfrm>
            <a:off x="671880" y="5714491"/>
            <a:ext cx="1949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6</a:t>
            </a:r>
            <a:endParaRPr sz="2400">
              <a:latin typeface="Arial"/>
              <a:cs typeface="Arial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8171688" y="188976"/>
            <a:ext cx="792480" cy="431800"/>
          </a:xfrm>
          <a:custGeom>
            <a:avLst/>
            <a:gdLst/>
            <a:ahLst/>
            <a:cxnLst/>
            <a:rect l="l" t="t" r="r" b="b"/>
            <a:pathLst>
              <a:path w="792479" h="431800">
                <a:moveTo>
                  <a:pt x="396239" y="0"/>
                </a:moveTo>
                <a:lnTo>
                  <a:pt x="337690" y="2337"/>
                </a:lnTo>
                <a:lnTo>
                  <a:pt x="281806" y="9127"/>
                </a:lnTo>
                <a:lnTo>
                  <a:pt x="229202" y="20038"/>
                </a:lnTo>
                <a:lnTo>
                  <a:pt x="180490" y="34734"/>
                </a:lnTo>
                <a:lnTo>
                  <a:pt x="136284" y="52884"/>
                </a:lnTo>
                <a:lnTo>
                  <a:pt x="97196" y="74155"/>
                </a:lnTo>
                <a:lnTo>
                  <a:pt x="63840" y="98212"/>
                </a:lnTo>
                <a:lnTo>
                  <a:pt x="16777" y="153354"/>
                </a:lnTo>
                <a:lnTo>
                  <a:pt x="0" y="215646"/>
                </a:lnTo>
                <a:lnTo>
                  <a:pt x="4296" y="247518"/>
                </a:lnTo>
                <a:lnTo>
                  <a:pt x="36830" y="306569"/>
                </a:lnTo>
                <a:lnTo>
                  <a:pt x="97196" y="357136"/>
                </a:lnTo>
                <a:lnTo>
                  <a:pt x="136284" y="378407"/>
                </a:lnTo>
                <a:lnTo>
                  <a:pt x="180490" y="396557"/>
                </a:lnTo>
                <a:lnTo>
                  <a:pt x="229202" y="411253"/>
                </a:lnTo>
                <a:lnTo>
                  <a:pt x="281806" y="422164"/>
                </a:lnTo>
                <a:lnTo>
                  <a:pt x="337690" y="428954"/>
                </a:lnTo>
                <a:lnTo>
                  <a:pt x="396239" y="431291"/>
                </a:lnTo>
                <a:lnTo>
                  <a:pt x="454789" y="428954"/>
                </a:lnTo>
                <a:lnTo>
                  <a:pt x="510673" y="422164"/>
                </a:lnTo>
                <a:lnTo>
                  <a:pt x="563277" y="411253"/>
                </a:lnTo>
                <a:lnTo>
                  <a:pt x="611989" y="396557"/>
                </a:lnTo>
                <a:lnTo>
                  <a:pt x="656195" y="378407"/>
                </a:lnTo>
                <a:lnTo>
                  <a:pt x="695283" y="357136"/>
                </a:lnTo>
                <a:lnTo>
                  <a:pt x="728639" y="333079"/>
                </a:lnTo>
                <a:lnTo>
                  <a:pt x="775702" y="277937"/>
                </a:lnTo>
                <a:lnTo>
                  <a:pt x="792479" y="215646"/>
                </a:lnTo>
                <a:lnTo>
                  <a:pt x="788183" y="183773"/>
                </a:lnTo>
                <a:lnTo>
                  <a:pt x="755649" y="124722"/>
                </a:lnTo>
                <a:lnTo>
                  <a:pt x="695283" y="74155"/>
                </a:lnTo>
                <a:lnTo>
                  <a:pt x="656195" y="52884"/>
                </a:lnTo>
                <a:lnTo>
                  <a:pt x="611989" y="34734"/>
                </a:lnTo>
                <a:lnTo>
                  <a:pt x="563277" y="20038"/>
                </a:lnTo>
                <a:lnTo>
                  <a:pt x="510673" y="9127"/>
                </a:lnTo>
                <a:lnTo>
                  <a:pt x="454789" y="2337"/>
                </a:lnTo>
                <a:lnTo>
                  <a:pt x="39623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 txBox="1"/>
          <p:nvPr/>
        </p:nvSpPr>
        <p:spPr>
          <a:xfrm>
            <a:off x="8186039" y="265937"/>
            <a:ext cx="826135" cy="3511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2000" b="1" spc="-455" dirty="0">
                <a:solidFill>
                  <a:srgbClr val="FFFFFF"/>
                </a:solidFill>
                <a:latin typeface="Arial"/>
                <a:cs typeface="Arial"/>
              </a:rPr>
              <a:t>LO</a:t>
            </a:r>
            <a:r>
              <a:rPr sz="2700" spc="-682" baseline="10802" dirty="0">
                <a:solidFill>
                  <a:srgbClr val="FCEC1C"/>
                </a:solidFill>
                <a:latin typeface="Arial"/>
                <a:cs typeface="Arial"/>
              </a:rPr>
              <a:t>T</a:t>
            </a:r>
            <a:r>
              <a:rPr sz="3150" spc="-682" baseline="-11904" dirty="0">
                <a:solidFill>
                  <a:srgbClr val="FCEC1C"/>
                </a:solidFill>
                <a:latin typeface="Arial"/>
                <a:cs typeface="Arial"/>
              </a:rPr>
              <a:t>G</a:t>
            </a:r>
            <a:r>
              <a:rPr sz="2000" b="1" spc="-455" dirty="0">
                <a:solidFill>
                  <a:srgbClr val="FFFFFF"/>
                </a:solidFill>
                <a:latin typeface="Arial"/>
                <a:cs typeface="Arial"/>
              </a:rPr>
              <a:t>GO</a:t>
            </a:r>
            <a:endParaRPr sz="2000">
              <a:latin typeface="Arial"/>
              <a:cs typeface="Arial"/>
            </a:endParaRPr>
          </a:p>
        </p:txBody>
      </p:sp>
      <p:sp>
        <p:nvSpPr>
          <p:cNvPr id="43" name="Овал 42"/>
          <p:cNvSpPr/>
          <p:nvPr/>
        </p:nvSpPr>
        <p:spPr>
          <a:xfrm>
            <a:off x="8087393" y="76200"/>
            <a:ext cx="961070" cy="556577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44" name="Текстово поле 3">
            <a:extLst>
              <a:ext uri="{FF2B5EF4-FFF2-40B4-BE49-F238E27FC236}">
                <a16:creationId xmlns:a16="http://schemas.microsoft.com/office/drawing/2014/main" id="{A1BE025A-E5EB-2ACF-655C-09DE6B067FDC}"/>
              </a:ext>
            </a:extLst>
          </p:cNvPr>
          <p:cNvSpPr txBox="1"/>
          <p:nvPr/>
        </p:nvSpPr>
        <p:spPr>
          <a:xfrm>
            <a:off x="2667000" y="6461886"/>
            <a:ext cx="47290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bg-BG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bg-BG" sz="1600" dirty="0"/>
              <a:t>КМИТ, 5 клас, Елена Маврова-Ненкова</a:t>
            </a:r>
          </a:p>
        </p:txBody>
      </p:sp>
      <p:pic>
        <p:nvPicPr>
          <p:cNvPr id="45" name="Picture 44" descr="_em_logo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92440" y="5943600"/>
            <a:ext cx="868680" cy="90529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200" y="2514600"/>
            <a:ext cx="3347950" cy="22085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object 2"/>
          <p:cNvSpPr txBox="1"/>
          <p:nvPr/>
        </p:nvSpPr>
        <p:spPr>
          <a:xfrm>
            <a:off x="390518" y="618116"/>
            <a:ext cx="9415272" cy="476604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423920">
              <a:lnSpc>
                <a:spcPct val="100000"/>
              </a:lnSpc>
              <a:spcBef>
                <a:spcPts val="105"/>
              </a:spcBef>
            </a:pPr>
            <a:r>
              <a:rPr lang="en-US" sz="3200" b="1" cap="al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1. </a:t>
            </a:r>
            <a:r>
              <a:rPr lang="bg-BG" sz="3200" b="1" cap="al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Какво</a:t>
            </a:r>
            <a:r>
              <a:rPr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 Е</a:t>
            </a:r>
            <a:r>
              <a:rPr sz="3200" b="1" spc="-25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 </a:t>
            </a:r>
            <a:r>
              <a:rPr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ИНТЕРНЕТ?</a:t>
            </a:r>
          </a:p>
          <a:p>
            <a:pPr marL="243205" marR="1895475" algn="ctr">
              <a:lnSpc>
                <a:spcPct val="100000"/>
              </a:lnSpc>
              <a:spcBef>
                <a:spcPts val="2520"/>
              </a:spcBef>
              <a:buClr>
                <a:srgbClr val="174AB1"/>
              </a:buClr>
              <a:buSzPct val="96875"/>
              <a:tabLst>
                <a:tab pos="607695" algn="l"/>
              </a:tabLst>
            </a:pPr>
            <a:r>
              <a:rPr lang="en-US" sz="3200" b="1" spc="-5" dirty="0">
                <a:solidFill>
                  <a:srgbClr val="122767"/>
                </a:solidFill>
                <a:latin typeface="Arial"/>
                <a:cs typeface="Arial"/>
              </a:rPr>
              <a:t>		</a:t>
            </a:r>
          </a:p>
          <a:p>
            <a:pPr marL="243205" marR="1895475" algn="ctr">
              <a:lnSpc>
                <a:spcPct val="100000"/>
              </a:lnSpc>
              <a:buClr>
                <a:srgbClr val="174AB1"/>
              </a:buClr>
              <a:buSzPct val="96875"/>
              <a:tabLst>
                <a:tab pos="607695" algn="l"/>
              </a:tabLst>
            </a:pPr>
            <a:r>
              <a:rPr lang="en-US" sz="3200" b="1" spc="-5" dirty="0">
                <a:solidFill>
                  <a:srgbClr val="122767"/>
                </a:solidFill>
                <a:latin typeface="Arial"/>
                <a:cs typeface="Arial"/>
              </a:rPr>
              <a:t>		  </a:t>
            </a:r>
            <a:r>
              <a:rPr sz="3200" b="1" spc="-5" dirty="0" err="1">
                <a:solidFill>
                  <a:srgbClr val="122767"/>
                </a:solidFill>
                <a:latin typeface="Arial"/>
                <a:cs typeface="Arial"/>
              </a:rPr>
              <a:t>Интернет</a:t>
            </a:r>
            <a:r>
              <a:rPr sz="3200" b="1" spc="-5" dirty="0">
                <a:solidFill>
                  <a:srgbClr val="122767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122767"/>
                </a:solidFill>
                <a:latin typeface="Arial"/>
                <a:cs typeface="Arial"/>
              </a:rPr>
              <a:t>е </a:t>
            </a:r>
            <a:r>
              <a:rPr sz="3200" spc="-10" dirty="0">
                <a:solidFill>
                  <a:srgbClr val="122767"/>
                </a:solidFill>
                <a:latin typeface="Arial"/>
                <a:cs typeface="Arial"/>
              </a:rPr>
              <a:t>създаден </a:t>
            </a:r>
            <a:r>
              <a:rPr sz="3200" dirty="0">
                <a:solidFill>
                  <a:srgbClr val="122767"/>
                </a:solidFill>
                <a:latin typeface="Arial"/>
                <a:cs typeface="Arial"/>
              </a:rPr>
              <a:t>с </a:t>
            </a:r>
            <a:r>
              <a:rPr lang="bg-BG" sz="3200" dirty="0">
                <a:solidFill>
                  <a:srgbClr val="122767"/>
                </a:solidFill>
                <a:latin typeface="Arial"/>
                <a:cs typeface="Arial"/>
              </a:rPr>
              <a:t>ц</a:t>
            </a:r>
            <a:r>
              <a:rPr sz="3200" spc="-50" dirty="0" err="1">
                <a:solidFill>
                  <a:srgbClr val="122767"/>
                </a:solidFill>
                <a:latin typeface="Arial"/>
                <a:cs typeface="Arial"/>
              </a:rPr>
              <a:t>ел</a:t>
            </a:r>
            <a:r>
              <a:rPr sz="3200" spc="-50" dirty="0">
                <a:solidFill>
                  <a:srgbClr val="122767"/>
                </a:solidFill>
                <a:latin typeface="Arial"/>
                <a:cs typeface="Arial"/>
              </a:rPr>
              <a:t> </a:t>
            </a:r>
            <a:r>
              <a:rPr sz="3200" dirty="0" err="1">
                <a:solidFill>
                  <a:srgbClr val="122767"/>
                </a:solidFill>
                <a:latin typeface="Arial"/>
                <a:cs typeface="Arial"/>
              </a:rPr>
              <a:t>да</a:t>
            </a:r>
            <a:r>
              <a:rPr sz="3200" spc="-145" dirty="0">
                <a:solidFill>
                  <a:srgbClr val="122767"/>
                </a:solidFill>
                <a:latin typeface="Arial"/>
                <a:cs typeface="Arial"/>
              </a:rPr>
              <a:t> </a:t>
            </a:r>
            <a:r>
              <a:rPr sz="3200" spc="-20" dirty="0" err="1">
                <a:solidFill>
                  <a:srgbClr val="122767"/>
                </a:solidFill>
                <a:latin typeface="Arial"/>
                <a:cs typeface="Arial"/>
              </a:rPr>
              <a:t>предава</a:t>
            </a:r>
            <a:r>
              <a:rPr sz="3200" spc="-20" dirty="0">
                <a:solidFill>
                  <a:srgbClr val="122767"/>
                </a:solidFill>
                <a:latin typeface="Arial"/>
                <a:cs typeface="Arial"/>
              </a:rPr>
              <a:t> </a:t>
            </a:r>
            <a:r>
              <a:rPr sz="3200" spc="-5" dirty="0" err="1">
                <a:solidFill>
                  <a:srgbClr val="122767"/>
                </a:solidFill>
                <a:latin typeface="Arial"/>
                <a:cs typeface="Arial"/>
              </a:rPr>
              <a:t>информация</a:t>
            </a:r>
            <a:r>
              <a:rPr sz="3200" spc="-5" dirty="0">
                <a:solidFill>
                  <a:srgbClr val="122767"/>
                </a:solidFill>
                <a:latin typeface="Arial"/>
                <a:cs typeface="Arial"/>
              </a:rPr>
              <a:t> на </a:t>
            </a:r>
            <a:r>
              <a:rPr lang="bg-BG" sz="3200" spc="-5" dirty="0">
                <a:solidFill>
                  <a:srgbClr val="122767"/>
                </a:solidFill>
                <a:latin typeface="Arial"/>
                <a:cs typeface="Arial"/>
              </a:rPr>
              <a:t>г</a:t>
            </a:r>
            <a:r>
              <a:rPr sz="3200" spc="-30" dirty="0" err="1">
                <a:solidFill>
                  <a:srgbClr val="122767"/>
                </a:solidFill>
                <a:latin typeface="Arial"/>
                <a:cs typeface="Arial"/>
              </a:rPr>
              <a:t>олеми</a:t>
            </a:r>
            <a:r>
              <a:rPr sz="3200" spc="-30" dirty="0">
                <a:solidFill>
                  <a:srgbClr val="122767"/>
                </a:solidFill>
                <a:latin typeface="Arial"/>
                <a:cs typeface="Arial"/>
              </a:rPr>
              <a:t> </a:t>
            </a:r>
            <a:r>
              <a:rPr sz="3200" spc="-15" dirty="0" err="1">
                <a:solidFill>
                  <a:srgbClr val="122767"/>
                </a:solidFill>
                <a:latin typeface="Arial"/>
                <a:cs typeface="Arial"/>
              </a:rPr>
              <a:t>разстояния</a:t>
            </a:r>
            <a:r>
              <a:rPr sz="3200" spc="-15" dirty="0">
                <a:solidFill>
                  <a:srgbClr val="122767"/>
                </a:solidFill>
                <a:latin typeface="Arial"/>
                <a:cs typeface="Arial"/>
              </a:rPr>
              <a:t>. </a:t>
            </a:r>
            <a:endParaRPr lang="bg-BG" sz="3200" spc="-15" dirty="0">
              <a:solidFill>
                <a:srgbClr val="122767"/>
              </a:solidFill>
              <a:latin typeface="Arial"/>
              <a:cs typeface="Arial"/>
            </a:endParaRPr>
          </a:p>
          <a:p>
            <a:pPr marL="243205" marR="1895475" algn="ctr">
              <a:lnSpc>
                <a:spcPct val="100000"/>
              </a:lnSpc>
              <a:buClr>
                <a:srgbClr val="174AB1"/>
              </a:buClr>
              <a:buSzPct val="96875"/>
              <a:tabLst>
                <a:tab pos="607695" algn="l"/>
              </a:tabLst>
            </a:pPr>
            <a:r>
              <a:rPr lang="bg-BG" sz="3200" spc="-15" dirty="0">
                <a:solidFill>
                  <a:srgbClr val="122767"/>
                </a:solidFill>
                <a:latin typeface="Arial"/>
                <a:cs typeface="Arial"/>
              </a:rPr>
              <a:t>  </a:t>
            </a:r>
          </a:p>
          <a:p>
            <a:pPr marL="243205" marR="1895475" algn="ctr">
              <a:lnSpc>
                <a:spcPct val="100000"/>
              </a:lnSpc>
              <a:buClr>
                <a:srgbClr val="174AB1"/>
              </a:buClr>
              <a:buSzPct val="96875"/>
              <a:tabLst>
                <a:tab pos="607695" algn="l"/>
              </a:tabLst>
            </a:pPr>
            <a:r>
              <a:rPr sz="3200" spc="-10" dirty="0" err="1">
                <a:solidFill>
                  <a:srgbClr val="122767"/>
                </a:solidFill>
                <a:latin typeface="Arial"/>
                <a:cs typeface="Arial"/>
              </a:rPr>
              <a:t>Съкращение</a:t>
            </a:r>
            <a:r>
              <a:rPr sz="3200" spc="-10" dirty="0">
                <a:solidFill>
                  <a:srgbClr val="122767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122767"/>
                </a:solidFill>
                <a:latin typeface="Arial"/>
                <a:cs typeface="Arial"/>
              </a:rPr>
              <a:t>е </a:t>
            </a:r>
            <a:r>
              <a:rPr sz="3200" spc="-40" dirty="0" err="1">
                <a:solidFill>
                  <a:srgbClr val="122767"/>
                </a:solidFill>
                <a:latin typeface="Arial"/>
                <a:cs typeface="Arial"/>
              </a:rPr>
              <a:t>от</a:t>
            </a:r>
            <a:r>
              <a:rPr sz="3200" spc="-40" dirty="0">
                <a:solidFill>
                  <a:srgbClr val="122767"/>
                </a:solidFill>
                <a:latin typeface="Arial"/>
                <a:cs typeface="Arial"/>
              </a:rPr>
              <a:t> </a:t>
            </a:r>
            <a:endParaRPr lang="bg-BG" sz="3200" spc="-40" dirty="0">
              <a:solidFill>
                <a:srgbClr val="122767"/>
              </a:solidFill>
              <a:latin typeface="Arial"/>
              <a:cs typeface="Arial"/>
            </a:endParaRPr>
          </a:p>
          <a:p>
            <a:pPr marL="243205" marR="1895475" algn="ctr">
              <a:lnSpc>
                <a:spcPct val="100000"/>
              </a:lnSpc>
              <a:buClr>
                <a:srgbClr val="174AB1"/>
              </a:buClr>
              <a:buSzPct val="96875"/>
              <a:tabLst>
                <a:tab pos="607695" algn="l"/>
              </a:tabLst>
            </a:pPr>
            <a:r>
              <a:rPr sz="3200" i="1" spc="-5" dirty="0">
                <a:solidFill>
                  <a:srgbClr val="122767"/>
                </a:solidFill>
                <a:latin typeface="Arial"/>
                <a:cs typeface="Arial"/>
              </a:rPr>
              <a:t>International </a:t>
            </a:r>
            <a:r>
              <a:rPr sz="3200" i="1" dirty="0">
                <a:solidFill>
                  <a:srgbClr val="122767"/>
                </a:solidFill>
                <a:latin typeface="Arial"/>
                <a:cs typeface="Arial"/>
              </a:rPr>
              <a:t>Network </a:t>
            </a:r>
            <a:r>
              <a:rPr sz="3200" dirty="0">
                <a:solidFill>
                  <a:srgbClr val="122767"/>
                </a:solidFill>
                <a:latin typeface="Arial"/>
                <a:cs typeface="Arial"/>
              </a:rPr>
              <a:t>и </a:t>
            </a:r>
            <a:r>
              <a:rPr sz="3200" spc="-25" dirty="0" err="1">
                <a:solidFill>
                  <a:srgbClr val="122767"/>
                </a:solidFill>
                <a:latin typeface="Arial"/>
                <a:cs typeface="Arial"/>
              </a:rPr>
              <a:t>означава</a:t>
            </a:r>
            <a:r>
              <a:rPr lang="bg-BG" sz="3200" spc="-25" dirty="0">
                <a:solidFill>
                  <a:srgbClr val="122767"/>
                </a:solidFill>
                <a:latin typeface="Arial"/>
                <a:cs typeface="Arial"/>
              </a:rPr>
              <a:t> </a:t>
            </a:r>
            <a:r>
              <a:rPr sz="3200" b="1" spc="-5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международна</a:t>
            </a:r>
            <a:r>
              <a:rPr sz="3200" b="1" spc="-5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 </a:t>
            </a:r>
            <a:r>
              <a:rPr sz="3200" b="1" spc="-5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мрежа</a:t>
            </a:r>
            <a:r>
              <a:rPr sz="3200" spc="-5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.</a:t>
            </a:r>
            <a:endParaRPr sz="32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171688" y="188976"/>
            <a:ext cx="792480" cy="431800"/>
          </a:xfrm>
          <a:custGeom>
            <a:avLst/>
            <a:gdLst/>
            <a:ahLst/>
            <a:cxnLst/>
            <a:rect l="l" t="t" r="r" b="b"/>
            <a:pathLst>
              <a:path w="792479" h="431800">
                <a:moveTo>
                  <a:pt x="396239" y="0"/>
                </a:moveTo>
                <a:lnTo>
                  <a:pt x="337690" y="2337"/>
                </a:lnTo>
                <a:lnTo>
                  <a:pt x="281806" y="9127"/>
                </a:lnTo>
                <a:lnTo>
                  <a:pt x="229202" y="20038"/>
                </a:lnTo>
                <a:lnTo>
                  <a:pt x="180490" y="34734"/>
                </a:lnTo>
                <a:lnTo>
                  <a:pt x="136284" y="52884"/>
                </a:lnTo>
                <a:lnTo>
                  <a:pt x="97196" y="74155"/>
                </a:lnTo>
                <a:lnTo>
                  <a:pt x="63840" y="98212"/>
                </a:lnTo>
                <a:lnTo>
                  <a:pt x="16777" y="153354"/>
                </a:lnTo>
                <a:lnTo>
                  <a:pt x="0" y="215646"/>
                </a:lnTo>
                <a:lnTo>
                  <a:pt x="4296" y="247518"/>
                </a:lnTo>
                <a:lnTo>
                  <a:pt x="36830" y="306569"/>
                </a:lnTo>
                <a:lnTo>
                  <a:pt x="97196" y="357136"/>
                </a:lnTo>
                <a:lnTo>
                  <a:pt x="136284" y="378407"/>
                </a:lnTo>
                <a:lnTo>
                  <a:pt x="180490" y="396557"/>
                </a:lnTo>
                <a:lnTo>
                  <a:pt x="229202" y="411253"/>
                </a:lnTo>
                <a:lnTo>
                  <a:pt x="281806" y="422164"/>
                </a:lnTo>
                <a:lnTo>
                  <a:pt x="337690" y="428954"/>
                </a:lnTo>
                <a:lnTo>
                  <a:pt x="396239" y="431291"/>
                </a:lnTo>
                <a:lnTo>
                  <a:pt x="454789" y="428954"/>
                </a:lnTo>
                <a:lnTo>
                  <a:pt x="510673" y="422164"/>
                </a:lnTo>
                <a:lnTo>
                  <a:pt x="563277" y="411253"/>
                </a:lnTo>
                <a:lnTo>
                  <a:pt x="611989" y="396557"/>
                </a:lnTo>
                <a:lnTo>
                  <a:pt x="656195" y="378407"/>
                </a:lnTo>
                <a:lnTo>
                  <a:pt x="695283" y="357136"/>
                </a:lnTo>
                <a:lnTo>
                  <a:pt x="728639" y="333079"/>
                </a:lnTo>
                <a:lnTo>
                  <a:pt x="775702" y="277937"/>
                </a:lnTo>
                <a:lnTo>
                  <a:pt x="792479" y="215646"/>
                </a:lnTo>
                <a:lnTo>
                  <a:pt x="788183" y="183773"/>
                </a:lnTo>
                <a:lnTo>
                  <a:pt x="755649" y="124722"/>
                </a:lnTo>
                <a:lnTo>
                  <a:pt x="695283" y="74155"/>
                </a:lnTo>
                <a:lnTo>
                  <a:pt x="656195" y="52884"/>
                </a:lnTo>
                <a:lnTo>
                  <a:pt x="611989" y="34734"/>
                </a:lnTo>
                <a:lnTo>
                  <a:pt x="563277" y="20038"/>
                </a:lnTo>
                <a:lnTo>
                  <a:pt x="510673" y="9127"/>
                </a:lnTo>
                <a:lnTo>
                  <a:pt x="454789" y="2337"/>
                </a:lnTo>
                <a:lnTo>
                  <a:pt x="39623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86054" rIns="0" bIns="0" rtlCol="0">
            <a:spAutoFit/>
          </a:bodyPr>
          <a:lstStyle/>
          <a:p>
            <a:pPr marL="5374005">
              <a:lnSpc>
                <a:spcPct val="100000"/>
              </a:lnSpc>
              <a:spcBef>
                <a:spcPts val="135"/>
              </a:spcBef>
            </a:pPr>
            <a:r>
              <a:rPr sz="2000" spc="-455" dirty="0"/>
              <a:t>LO</a:t>
            </a:r>
            <a:r>
              <a:rPr sz="2700" b="0" spc="-682" baseline="10802" dirty="0">
                <a:solidFill>
                  <a:srgbClr val="FCEC1C"/>
                </a:solidFill>
                <a:latin typeface="Arial"/>
                <a:cs typeface="Arial"/>
              </a:rPr>
              <a:t>T</a:t>
            </a:r>
            <a:r>
              <a:rPr sz="3150" b="0" spc="-682" baseline="-11904" dirty="0">
                <a:solidFill>
                  <a:srgbClr val="FCEC1C"/>
                </a:solidFill>
                <a:latin typeface="Arial"/>
                <a:cs typeface="Arial"/>
              </a:rPr>
              <a:t>G</a:t>
            </a:r>
            <a:r>
              <a:rPr sz="2000" spc="-455" dirty="0"/>
              <a:t>GO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5" name="Овал 4"/>
          <p:cNvSpPr/>
          <p:nvPr/>
        </p:nvSpPr>
        <p:spPr>
          <a:xfrm>
            <a:off x="8087393" y="76200"/>
            <a:ext cx="961070" cy="556577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6" name="AutoShape 2" descr="Резултат с изображение за интернет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bg-BG"/>
          </a:p>
        </p:txBody>
      </p:sp>
      <p:sp>
        <p:nvSpPr>
          <p:cNvPr id="7" name="Текстово поле 3">
            <a:extLst>
              <a:ext uri="{FF2B5EF4-FFF2-40B4-BE49-F238E27FC236}">
                <a16:creationId xmlns:a16="http://schemas.microsoft.com/office/drawing/2014/main" id="{46A49560-A0A8-4F97-9492-299B315DBB8E}"/>
              </a:ext>
            </a:extLst>
          </p:cNvPr>
          <p:cNvSpPr txBox="1"/>
          <p:nvPr/>
        </p:nvSpPr>
        <p:spPr>
          <a:xfrm>
            <a:off x="2733645" y="6337541"/>
            <a:ext cx="47290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bg-BG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bg-BG" sz="1600" dirty="0"/>
              <a:t>КМИТ, 5 клас, Елена Маврова-Ненкова</a:t>
            </a:r>
          </a:p>
        </p:txBody>
      </p:sp>
      <p:pic>
        <p:nvPicPr>
          <p:cNvPr id="1028" name="Picture 1027" descr="_em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40" y="5943600"/>
            <a:ext cx="868680" cy="90529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4800" y="584403"/>
            <a:ext cx="8839200" cy="4443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423920">
              <a:lnSpc>
                <a:spcPct val="100000"/>
              </a:lnSpc>
              <a:spcBef>
                <a:spcPts val="105"/>
              </a:spcBef>
            </a:pPr>
            <a:r>
              <a:rPr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ЩО Е</a:t>
            </a:r>
            <a:r>
              <a:rPr sz="2800" spc="-25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ИНТЕРНЕТ?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395424"/>
            <a:ext cx="8060690" cy="3952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832485" indent="-343535">
              <a:lnSpc>
                <a:spcPct val="100000"/>
              </a:lnSpc>
              <a:spcBef>
                <a:spcPts val="95"/>
              </a:spcBef>
              <a:buClr>
                <a:srgbClr val="174AB1"/>
              </a:buClr>
              <a:buFont typeface="Wingdings"/>
              <a:buChar char=""/>
              <a:tabLst>
                <a:tab pos="356235" algn="l"/>
              </a:tabLst>
            </a:pPr>
            <a:r>
              <a:rPr sz="2800" b="1" spc="-20" dirty="0">
                <a:solidFill>
                  <a:srgbClr val="122767"/>
                </a:solidFill>
                <a:latin typeface="Arial"/>
                <a:cs typeface="Arial"/>
              </a:rPr>
              <a:t>Компютърна </a:t>
            </a:r>
            <a:r>
              <a:rPr sz="2800" b="1" spc="-10" dirty="0">
                <a:solidFill>
                  <a:srgbClr val="122767"/>
                </a:solidFill>
                <a:latin typeface="Arial"/>
                <a:cs typeface="Arial"/>
              </a:rPr>
              <a:t>мрежа </a:t>
            </a:r>
            <a:r>
              <a:rPr sz="2800" spc="-5" dirty="0">
                <a:solidFill>
                  <a:srgbClr val="122767"/>
                </a:solidFill>
                <a:latin typeface="Arial"/>
                <a:cs typeface="Arial"/>
              </a:rPr>
              <a:t>е </a:t>
            </a:r>
            <a:r>
              <a:rPr sz="2800" spc="-10" dirty="0">
                <a:solidFill>
                  <a:srgbClr val="122767"/>
                </a:solidFill>
                <a:latin typeface="Arial"/>
                <a:cs typeface="Arial"/>
              </a:rPr>
              <a:t>група </a:t>
            </a:r>
            <a:r>
              <a:rPr sz="2800" spc="-30" dirty="0">
                <a:solidFill>
                  <a:srgbClr val="122767"/>
                </a:solidFill>
                <a:latin typeface="Arial"/>
                <a:cs typeface="Arial"/>
              </a:rPr>
              <a:t>от </a:t>
            </a:r>
            <a:r>
              <a:rPr sz="2800" spc="-20" dirty="0">
                <a:solidFill>
                  <a:srgbClr val="122767"/>
                </a:solidFill>
                <a:latin typeface="Arial"/>
                <a:cs typeface="Arial"/>
              </a:rPr>
              <a:t>свързани  </a:t>
            </a:r>
            <a:r>
              <a:rPr sz="2800" spc="-10" dirty="0">
                <a:solidFill>
                  <a:srgbClr val="122767"/>
                </a:solidFill>
                <a:latin typeface="Arial"/>
                <a:cs typeface="Arial"/>
              </a:rPr>
              <a:t>помежду </a:t>
            </a:r>
            <a:r>
              <a:rPr sz="2800" spc="-5" dirty="0">
                <a:solidFill>
                  <a:srgbClr val="122767"/>
                </a:solidFill>
                <a:latin typeface="Arial"/>
                <a:cs typeface="Arial"/>
              </a:rPr>
              <a:t>си </a:t>
            </a:r>
            <a:r>
              <a:rPr sz="2800" spc="-10" dirty="0">
                <a:solidFill>
                  <a:srgbClr val="122767"/>
                </a:solidFill>
                <a:latin typeface="Arial"/>
                <a:cs typeface="Arial"/>
              </a:rPr>
              <a:t>компютри </a:t>
            </a:r>
            <a:r>
              <a:rPr sz="2800" spc="-5" dirty="0">
                <a:solidFill>
                  <a:srgbClr val="122767"/>
                </a:solidFill>
                <a:latin typeface="Arial"/>
                <a:cs typeface="Arial"/>
              </a:rPr>
              <a:t>с </a:t>
            </a:r>
            <a:r>
              <a:rPr sz="2800" spc="-50" dirty="0">
                <a:solidFill>
                  <a:srgbClr val="122767"/>
                </a:solidFill>
                <a:latin typeface="Arial"/>
                <a:cs typeface="Arial"/>
              </a:rPr>
              <a:t>цел </a:t>
            </a:r>
            <a:r>
              <a:rPr sz="2800" spc="-20" dirty="0">
                <a:solidFill>
                  <a:srgbClr val="122767"/>
                </a:solidFill>
                <a:latin typeface="Arial"/>
                <a:cs typeface="Arial"/>
              </a:rPr>
              <a:t>обмен</a:t>
            </a:r>
            <a:r>
              <a:rPr sz="2800" spc="120" dirty="0">
                <a:solidFill>
                  <a:srgbClr val="122767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122767"/>
                </a:solidFill>
                <a:latin typeface="Arial"/>
                <a:cs typeface="Arial"/>
              </a:rPr>
              <a:t>на</a:t>
            </a:r>
            <a:endParaRPr sz="2800" dirty="0">
              <a:latin typeface="Arial"/>
              <a:cs typeface="Arial"/>
            </a:endParaRPr>
          </a:p>
          <a:p>
            <a:pPr marL="355600">
              <a:lnSpc>
                <a:spcPct val="100000"/>
              </a:lnSpc>
              <a:spcBef>
                <a:spcPts val="5"/>
              </a:spcBef>
            </a:pPr>
            <a:r>
              <a:rPr sz="2800" spc="-5" dirty="0">
                <a:solidFill>
                  <a:srgbClr val="122767"/>
                </a:solidFill>
                <a:latin typeface="Arial"/>
                <a:cs typeface="Arial"/>
              </a:rPr>
              <a:t>информация. </a:t>
            </a:r>
            <a:r>
              <a:rPr sz="2800" spc="-85" dirty="0">
                <a:solidFill>
                  <a:srgbClr val="122767"/>
                </a:solidFill>
                <a:latin typeface="Arial"/>
                <a:cs typeface="Arial"/>
              </a:rPr>
              <a:t>Те </a:t>
            </a:r>
            <a:r>
              <a:rPr sz="2800" spc="-10" dirty="0">
                <a:solidFill>
                  <a:srgbClr val="122767"/>
                </a:solidFill>
                <a:latin typeface="Arial"/>
                <a:cs typeface="Arial"/>
              </a:rPr>
              <a:t>може </a:t>
            </a:r>
            <a:r>
              <a:rPr sz="2800" spc="-5" dirty="0">
                <a:solidFill>
                  <a:srgbClr val="122767"/>
                </a:solidFill>
                <a:latin typeface="Arial"/>
                <a:cs typeface="Arial"/>
              </a:rPr>
              <a:t>да са </a:t>
            </a:r>
            <a:r>
              <a:rPr sz="2800" spc="5" dirty="0">
                <a:solidFill>
                  <a:srgbClr val="122767"/>
                </a:solidFill>
                <a:latin typeface="Arial"/>
                <a:cs typeface="Arial"/>
              </a:rPr>
              <a:t>както </a:t>
            </a:r>
            <a:r>
              <a:rPr sz="2800" spc="-5" dirty="0">
                <a:solidFill>
                  <a:srgbClr val="122767"/>
                </a:solidFill>
                <a:latin typeface="Arial"/>
                <a:cs typeface="Arial"/>
              </a:rPr>
              <a:t>в</a:t>
            </a:r>
            <a:r>
              <a:rPr sz="2800" spc="150" dirty="0">
                <a:solidFill>
                  <a:srgbClr val="122767"/>
                </a:solidFill>
                <a:latin typeface="Arial"/>
                <a:cs typeface="Arial"/>
              </a:rPr>
              <a:t> </a:t>
            </a:r>
            <a:r>
              <a:rPr sz="2800" spc="-25" dirty="0">
                <a:solidFill>
                  <a:srgbClr val="122767"/>
                </a:solidFill>
                <a:latin typeface="Arial"/>
                <a:cs typeface="Arial"/>
              </a:rPr>
              <a:t>едно</a:t>
            </a:r>
            <a:endParaRPr sz="2800" dirty="0">
              <a:latin typeface="Arial"/>
              <a:cs typeface="Arial"/>
            </a:endParaRPr>
          </a:p>
          <a:p>
            <a:pPr marL="355600">
              <a:lnSpc>
                <a:spcPct val="100000"/>
              </a:lnSpc>
            </a:pPr>
            <a:r>
              <a:rPr sz="2800" spc="-10" dirty="0">
                <a:solidFill>
                  <a:srgbClr val="122767"/>
                </a:solidFill>
                <a:latin typeface="Arial"/>
                <a:cs typeface="Arial"/>
              </a:rPr>
              <a:t>помещение, </a:t>
            </a:r>
            <a:r>
              <a:rPr sz="2800" dirty="0">
                <a:solidFill>
                  <a:srgbClr val="122767"/>
                </a:solidFill>
                <a:latin typeface="Arial"/>
                <a:cs typeface="Arial"/>
              </a:rPr>
              <a:t>така </a:t>
            </a:r>
            <a:r>
              <a:rPr sz="2800" spc="-5" dirty="0">
                <a:solidFill>
                  <a:srgbClr val="122767"/>
                </a:solidFill>
                <a:latin typeface="Arial"/>
                <a:cs typeface="Arial"/>
              </a:rPr>
              <a:t>и </a:t>
            </a:r>
            <a:r>
              <a:rPr sz="2800" spc="-10" dirty="0">
                <a:solidFill>
                  <a:srgbClr val="122767"/>
                </a:solidFill>
                <a:latin typeface="Arial"/>
                <a:cs typeface="Arial"/>
              </a:rPr>
              <a:t>пръснати </a:t>
            </a:r>
            <a:r>
              <a:rPr sz="2800" spc="-5" dirty="0">
                <a:solidFill>
                  <a:srgbClr val="122767"/>
                </a:solidFill>
                <a:latin typeface="Arial"/>
                <a:cs typeface="Arial"/>
              </a:rPr>
              <a:t>по </a:t>
            </a:r>
            <a:r>
              <a:rPr sz="2800" spc="-35" dirty="0">
                <a:solidFill>
                  <a:srgbClr val="122767"/>
                </a:solidFill>
                <a:latin typeface="Arial"/>
                <a:cs typeface="Arial"/>
              </a:rPr>
              <a:t>целия</a:t>
            </a:r>
            <a:r>
              <a:rPr sz="2800" spc="55" dirty="0">
                <a:solidFill>
                  <a:srgbClr val="122767"/>
                </a:solidFill>
                <a:latin typeface="Arial"/>
                <a:cs typeface="Arial"/>
              </a:rPr>
              <a:t> </a:t>
            </a:r>
            <a:r>
              <a:rPr sz="2800" spc="-70" dirty="0">
                <a:solidFill>
                  <a:srgbClr val="122767"/>
                </a:solidFill>
                <a:latin typeface="Arial"/>
                <a:cs typeface="Arial"/>
              </a:rPr>
              <a:t>свят.</a:t>
            </a:r>
            <a:endParaRPr sz="2800" dirty="0">
              <a:latin typeface="Arial"/>
              <a:cs typeface="Arial"/>
            </a:endParaRPr>
          </a:p>
          <a:p>
            <a:pPr marL="355600" indent="-343535">
              <a:lnSpc>
                <a:spcPct val="100000"/>
              </a:lnSpc>
              <a:spcBef>
                <a:spcPts val="675"/>
              </a:spcBef>
              <a:buClr>
                <a:srgbClr val="174AB1"/>
              </a:buClr>
              <a:buFont typeface="Wingdings"/>
              <a:buChar char=""/>
              <a:tabLst>
                <a:tab pos="356235" algn="l"/>
              </a:tabLst>
            </a:pPr>
            <a:r>
              <a:rPr sz="2800" b="1" spc="-15" dirty="0">
                <a:solidFill>
                  <a:srgbClr val="122767"/>
                </a:solidFill>
                <a:latin typeface="Arial"/>
                <a:cs typeface="Arial"/>
              </a:rPr>
              <a:t>Интернет </a:t>
            </a:r>
            <a:r>
              <a:rPr sz="2800" spc="-5" dirty="0">
                <a:solidFill>
                  <a:srgbClr val="122767"/>
                </a:solidFill>
                <a:latin typeface="Arial"/>
                <a:cs typeface="Arial"/>
              </a:rPr>
              <a:t>е </a:t>
            </a:r>
            <a:r>
              <a:rPr sz="2800" spc="-10" dirty="0">
                <a:solidFill>
                  <a:srgbClr val="122767"/>
                </a:solidFill>
                <a:latin typeface="Arial"/>
                <a:cs typeface="Arial"/>
              </a:rPr>
              <a:t>мрежа </a:t>
            </a:r>
            <a:r>
              <a:rPr sz="2800" spc="-30" dirty="0">
                <a:solidFill>
                  <a:srgbClr val="122767"/>
                </a:solidFill>
                <a:latin typeface="Arial"/>
                <a:cs typeface="Arial"/>
              </a:rPr>
              <a:t>от </a:t>
            </a:r>
            <a:r>
              <a:rPr sz="2800" spc="-5" dirty="0">
                <a:solidFill>
                  <a:srgbClr val="122767"/>
                </a:solidFill>
                <a:latin typeface="Arial"/>
                <a:cs typeface="Arial"/>
              </a:rPr>
              <a:t>компютърни</a:t>
            </a:r>
            <a:r>
              <a:rPr sz="2800" spc="114" dirty="0">
                <a:solidFill>
                  <a:srgbClr val="122767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122767"/>
                </a:solidFill>
                <a:latin typeface="Arial"/>
                <a:cs typeface="Arial"/>
              </a:rPr>
              <a:t>мрежи.</a:t>
            </a:r>
            <a:endParaRPr sz="2800" dirty="0">
              <a:latin typeface="Arial"/>
              <a:cs typeface="Arial"/>
            </a:endParaRPr>
          </a:p>
          <a:p>
            <a:pPr marL="355600" marR="5080">
              <a:lnSpc>
                <a:spcPct val="100000"/>
              </a:lnSpc>
            </a:pPr>
            <a:r>
              <a:rPr sz="2800" spc="-5" dirty="0">
                <a:solidFill>
                  <a:srgbClr val="122767"/>
                </a:solidFill>
                <a:latin typeface="Arial"/>
                <a:cs typeface="Arial"/>
              </a:rPr>
              <a:t>Появил се </a:t>
            </a:r>
            <a:r>
              <a:rPr sz="2800" spc="-15" dirty="0">
                <a:solidFill>
                  <a:srgbClr val="122767"/>
                </a:solidFill>
                <a:latin typeface="Arial"/>
                <a:cs typeface="Arial"/>
              </a:rPr>
              <a:t>през </a:t>
            </a:r>
            <a:r>
              <a:rPr sz="2800" spc="-10" dirty="0">
                <a:solidFill>
                  <a:srgbClr val="122767"/>
                </a:solidFill>
                <a:latin typeface="Arial"/>
                <a:cs typeface="Arial"/>
              </a:rPr>
              <a:t>60-те </a:t>
            </a:r>
            <a:r>
              <a:rPr sz="2800" spc="-30" dirty="0">
                <a:solidFill>
                  <a:srgbClr val="122767"/>
                </a:solidFill>
                <a:latin typeface="Arial"/>
                <a:cs typeface="Arial"/>
              </a:rPr>
              <a:t>години </a:t>
            </a:r>
            <a:r>
              <a:rPr sz="2800" spc="-5" dirty="0">
                <a:solidFill>
                  <a:srgbClr val="122767"/>
                </a:solidFill>
                <a:latin typeface="Arial"/>
                <a:cs typeface="Arial"/>
              </a:rPr>
              <a:t>на 20. </a:t>
            </a:r>
            <a:r>
              <a:rPr sz="2800" spc="-15" dirty="0">
                <a:solidFill>
                  <a:srgbClr val="122767"/>
                </a:solidFill>
                <a:latin typeface="Arial"/>
                <a:cs typeface="Arial"/>
              </a:rPr>
              <a:t>век, </a:t>
            </a:r>
            <a:r>
              <a:rPr sz="2800" spc="-20" dirty="0">
                <a:solidFill>
                  <a:srgbClr val="122767"/>
                </a:solidFill>
                <a:latin typeface="Arial"/>
                <a:cs typeface="Arial"/>
              </a:rPr>
              <a:t>той </a:t>
            </a:r>
            <a:r>
              <a:rPr sz="2800" spc="-5" dirty="0">
                <a:solidFill>
                  <a:srgbClr val="122767"/>
                </a:solidFill>
                <a:latin typeface="Arial"/>
                <a:cs typeface="Arial"/>
              </a:rPr>
              <a:t>се  </a:t>
            </a:r>
            <a:r>
              <a:rPr sz="2800" spc="-10" dirty="0">
                <a:solidFill>
                  <a:srgbClr val="122767"/>
                </a:solidFill>
                <a:latin typeface="Arial"/>
                <a:cs typeface="Arial"/>
              </a:rPr>
              <a:t>смята </a:t>
            </a:r>
            <a:r>
              <a:rPr sz="2800" spc="-5" dirty="0">
                <a:solidFill>
                  <a:srgbClr val="122767"/>
                </a:solidFill>
                <a:latin typeface="Arial"/>
                <a:cs typeface="Arial"/>
              </a:rPr>
              <a:t>за </a:t>
            </a:r>
            <a:r>
              <a:rPr sz="2800" spc="-15" dirty="0">
                <a:solidFill>
                  <a:srgbClr val="122767"/>
                </a:solidFill>
                <a:latin typeface="Arial"/>
                <a:cs typeface="Arial"/>
              </a:rPr>
              <a:t>най-революционното </a:t>
            </a:r>
            <a:r>
              <a:rPr sz="2800" spc="-10" dirty="0">
                <a:solidFill>
                  <a:srgbClr val="122767"/>
                </a:solidFill>
                <a:latin typeface="Arial"/>
                <a:cs typeface="Arial"/>
              </a:rPr>
              <a:t>откритие </a:t>
            </a:r>
            <a:r>
              <a:rPr sz="2800" spc="-5" dirty="0">
                <a:solidFill>
                  <a:srgbClr val="122767"/>
                </a:solidFill>
                <a:latin typeface="Arial"/>
                <a:cs typeface="Arial"/>
              </a:rPr>
              <a:t>в  </a:t>
            </a:r>
            <a:r>
              <a:rPr sz="2800" spc="-15" dirty="0">
                <a:solidFill>
                  <a:srgbClr val="122767"/>
                </a:solidFill>
                <a:latin typeface="Arial"/>
                <a:cs typeface="Arial"/>
              </a:rPr>
              <a:t>технологичен </a:t>
            </a:r>
            <a:r>
              <a:rPr sz="2800" spc="-45" dirty="0">
                <a:solidFill>
                  <a:srgbClr val="122767"/>
                </a:solidFill>
                <a:latin typeface="Arial"/>
                <a:cs typeface="Arial"/>
              </a:rPr>
              <a:t>аспект. </a:t>
            </a:r>
            <a:r>
              <a:rPr sz="2800" spc="-5" dirty="0">
                <a:solidFill>
                  <a:srgbClr val="122767"/>
                </a:solidFill>
                <a:latin typeface="Arial"/>
                <a:cs typeface="Arial"/>
              </a:rPr>
              <a:t>Все </a:t>
            </a:r>
            <a:r>
              <a:rPr sz="2800" spc="-25" dirty="0">
                <a:solidFill>
                  <a:srgbClr val="122767"/>
                </a:solidFill>
                <a:latin typeface="Arial"/>
                <a:cs typeface="Arial"/>
              </a:rPr>
              <a:t>повече </a:t>
            </a:r>
            <a:r>
              <a:rPr sz="2800" spc="-15" dirty="0">
                <a:solidFill>
                  <a:srgbClr val="122767"/>
                </a:solidFill>
                <a:latin typeface="Arial"/>
                <a:cs typeface="Arial"/>
              </a:rPr>
              <a:t>услугите </a:t>
            </a:r>
            <a:r>
              <a:rPr sz="2800" spc="-5" dirty="0">
                <a:solidFill>
                  <a:srgbClr val="122767"/>
                </a:solidFill>
                <a:latin typeface="Arial"/>
                <a:cs typeface="Arial"/>
              </a:rPr>
              <a:t>на  </a:t>
            </a:r>
            <a:r>
              <a:rPr sz="2800" spc="-20" dirty="0">
                <a:solidFill>
                  <a:srgbClr val="122767"/>
                </a:solidFill>
                <a:latin typeface="Arial"/>
                <a:cs typeface="Arial"/>
              </a:rPr>
              <a:t>интернет навлизат </a:t>
            </a:r>
            <a:r>
              <a:rPr sz="2800" spc="-5" dirty="0">
                <a:solidFill>
                  <a:srgbClr val="122767"/>
                </a:solidFill>
                <a:latin typeface="Arial"/>
                <a:cs typeface="Arial"/>
              </a:rPr>
              <a:t>в </a:t>
            </a:r>
            <a:r>
              <a:rPr sz="2800" spc="-15" dirty="0">
                <a:solidFill>
                  <a:srgbClr val="122767"/>
                </a:solidFill>
                <a:latin typeface="Arial"/>
                <a:cs typeface="Arial"/>
              </a:rPr>
              <a:t>бита </a:t>
            </a:r>
            <a:r>
              <a:rPr sz="2800" spc="-5" dirty="0">
                <a:solidFill>
                  <a:srgbClr val="122767"/>
                </a:solidFill>
                <a:latin typeface="Arial"/>
                <a:cs typeface="Arial"/>
              </a:rPr>
              <a:t>на</a:t>
            </a:r>
            <a:r>
              <a:rPr sz="2800" spc="90" dirty="0">
                <a:solidFill>
                  <a:srgbClr val="122767"/>
                </a:solidFill>
                <a:latin typeface="Arial"/>
                <a:cs typeface="Arial"/>
              </a:rPr>
              <a:t> </a:t>
            </a:r>
            <a:r>
              <a:rPr sz="2800" spc="-25" dirty="0">
                <a:solidFill>
                  <a:srgbClr val="122767"/>
                </a:solidFill>
                <a:latin typeface="Arial"/>
                <a:cs typeface="Arial"/>
              </a:rPr>
              <a:t>хората.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171688" y="188976"/>
            <a:ext cx="792480" cy="431800"/>
          </a:xfrm>
          <a:custGeom>
            <a:avLst/>
            <a:gdLst/>
            <a:ahLst/>
            <a:cxnLst/>
            <a:rect l="l" t="t" r="r" b="b"/>
            <a:pathLst>
              <a:path w="792479" h="431800">
                <a:moveTo>
                  <a:pt x="396239" y="0"/>
                </a:moveTo>
                <a:lnTo>
                  <a:pt x="337690" y="2337"/>
                </a:lnTo>
                <a:lnTo>
                  <a:pt x="281806" y="9127"/>
                </a:lnTo>
                <a:lnTo>
                  <a:pt x="229202" y="20038"/>
                </a:lnTo>
                <a:lnTo>
                  <a:pt x="180490" y="34734"/>
                </a:lnTo>
                <a:lnTo>
                  <a:pt x="136284" y="52884"/>
                </a:lnTo>
                <a:lnTo>
                  <a:pt x="97196" y="74155"/>
                </a:lnTo>
                <a:lnTo>
                  <a:pt x="63840" y="98212"/>
                </a:lnTo>
                <a:lnTo>
                  <a:pt x="16777" y="153354"/>
                </a:lnTo>
                <a:lnTo>
                  <a:pt x="0" y="215646"/>
                </a:lnTo>
                <a:lnTo>
                  <a:pt x="4296" y="247518"/>
                </a:lnTo>
                <a:lnTo>
                  <a:pt x="36830" y="306569"/>
                </a:lnTo>
                <a:lnTo>
                  <a:pt x="97196" y="357136"/>
                </a:lnTo>
                <a:lnTo>
                  <a:pt x="136284" y="378407"/>
                </a:lnTo>
                <a:lnTo>
                  <a:pt x="180490" y="396557"/>
                </a:lnTo>
                <a:lnTo>
                  <a:pt x="229202" y="411253"/>
                </a:lnTo>
                <a:lnTo>
                  <a:pt x="281806" y="422164"/>
                </a:lnTo>
                <a:lnTo>
                  <a:pt x="337690" y="428954"/>
                </a:lnTo>
                <a:lnTo>
                  <a:pt x="396239" y="431291"/>
                </a:lnTo>
                <a:lnTo>
                  <a:pt x="454789" y="428954"/>
                </a:lnTo>
                <a:lnTo>
                  <a:pt x="510673" y="422164"/>
                </a:lnTo>
                <a:lnTo>
                  <a:pt x="563277" y="411253"/>
                </a:lnTo>
                <a:lnTo>
                  <a:pt x="611989" y="396557"/>
                </a:lnTo>
                <a:lnTo>
                  <a:pt x="656195" y="378407"/>
                </a:lnTo>
                <a:lnTo>
                  <a:pt x="695283" y="357136"/>
                </a:lnTo>
                <a:lnTo>
                  <a:pt x="728639" y="333079"/>
                </a:lnTo>
                <a:lnTo>
                  <a:pt x="775702" y="277937"/>
                </a:lnTo>
                <a:lnTo>
                  <a:pt x="792479" y="215646"/>
                </a:lnTo>
                <a:lnTo>
                  <a:pt x="788183" y="183773"/>
                </a:lnTo>
                <a:lnTo>
                  <a:pt x="755649" y="124722"/>
                </a:lnTo>
                <a:lnTo>
                  <a:pt x="695283" y="74155"/>
                </a:lnTo>
                <a:lnTo>
                  <a:pt x="656195" y="52884"/>
                </a:lnTo>
                <a:lnTo>
                  <a:pt x="611989" y="34734"/>
                </a:lnTo>
                <a:lnTo>
                  <a:pt x="563277" y="20038"/>
                </a:lnTo>
                <a:lnTo>
                  <a:pt x="510673" y="9127"/>
                </a:lnTo>
                <a:lnTo>
                  <a:pt x="454789" y="2337"/>
                </a:lnTo>
                <a:lnTo>
                  <a:pt x="39623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8186039" y="265937"/>
            <a:ext cx="826135" cy="3511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2000" b="1" spc="-455" dirty="0">
                <a:solidFill>
                  <a:srgbClr val="FFFFFF"/>
                </a:solidFill>
                <a:latin typeface="Arial"/>
                <a:cs typeface="Arial"/>
              </a:rPr>
              <a:t>LO</a:t>
            </a:r>
            <a:r>
              <a:rPr sz="2700" spc="-682" baseline="10802" dirty="0">
                <a:solidFill>
                  <a:srgbClr val="FCEC1C"/>
                </a:solidFill>
                <a:latin typeface="Arial"/>
                <a:cs typeface="Arial"/>
              </a:rPr>
              <a:t>T</a:t>
            </a:r>
            <a:r>
              <a:rPr sz="3150" spc="-682" baseline="-11904" dirty="0">
                <a:solidFill>
                  <a:srgbClr val="FCEC1C"/>
                </a:solidFill>
                <a:latin typeface="Arial"/>
                <a:cs typeface="Arial"/>
              </a:rPr>
              <a:t>G</a:t>
            </a:r>
            <a:r>
              <a:rPr sz="2000" b="1" spc="-455" dirty="0">
                <a:solidFill>
                  <a:srgbClr val="FFFFFF"/>
                </a:solidFill>
                <a:latin typeface="Arial"/>
                <a:cs typeface="Arial"/>
              </a:rPr>
              <a:t>GO</a:t>
            </a:r>
            <a:endParaRPr sz="2000">
              <a:latin typeface="Arial"/>
              <a:cs typeface="Arial"/>
            </a:endParaRPr>
          </a:p>
        </p:txBody>
      </p:sp>
      <p:sp>
        <p:nvSpPr>
          <p:cNvPr id="6" name="Овал 5"/>
          <p:cNvSpPr/>
          <p:nvPr/>
        </p:nvSpPr>
        <p:spPr>
          <a:xfrm>
            <a:off x="8087393" y="76200"/>
            <a:ext cx="961070" cy="556577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7" name="Текстово поле 3">
            <a:extLst>
              <a:ext uri="{FF2B5EF4-FFF2-40B4-BE49-F238E27FC236}">
                <a16:creationId xmlns:a16="http://schemas.microsoft.com/office/drawing/2014/main" id="{E16F352B-1A68-13D1-1B09-523525694B5A}"/>
              </a:ext>
            </a:extLst>
          </p:cNvPr>
          <p:cNvSpPr txBox="1"/>
          <p:nvPr/>
        </p:nvSpPr>
        <p:spPr>
          <a:xfrm>
            <a:off x="2733645" y="6337541"/>
            <a:ext cx="47290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bg-BG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bg-BG" sz="1600" dirty="0"/>
              <a:t>КМИТ, 5 клас, Елена Маврова-Ненкова</a:t>
            </a:r>
          </a:p>
        </p:txBody>
      </p:sp>
      <p:pic>
        <p:nvPicPr>
          <p:cNvPr id="8" name="Picture 7" descr="_e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5943600"/>
            <a:ext cx="868680" cy="90529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4800" y="584403"/>
            <a:ext cx="883920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62275">
              <a:lnSpc>
                <a:spcPct val="100000"/>
              </a:lnSpc>
              <a:spcBef>
                <a:spcPts val="105"/>
              </a:spcBef>
            </a:pPr>
            <a:r>
              <a:rPr lang="bg-BG" sz="3200" b="1" spc="-3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2. </a:t>
            </a:r>
            <a:r>
              <a:rPr sz="3200" b="1" spc="-3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НЕОБХОДИМ</a:t>
            </a:r>
            <a:r>
              <a:rPr sz="3200" b="1" spc="-4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 </a:t>
            </a:r>
            <a:r>
              <a:rPr sz="3200" b="1" spc="-3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ХАРДУЕР</a:t>
            </a:r>
            <a:endParaRPr sz="32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244853"/>
            <a:ext cx="8023859" cy="37632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065" marR="5080" algn="ctr">
              <a:lnSpc>
                <a:spcPct val="100000"/>
              </a:lnSpc>
              <a:spcBef>
                <a:spcPts val="105"/>
              </a:spcBef>
              <a:buClr>
                <a:srgbClr val="174AB1"/>
              </a:buClr>
              <a:tabLst>
                <a:tab pos="356235" algn="l"/>
              </a:tabLst>
            </a:pPr>
            <a:r>
              <a:rPr sz="2200" dirty="0">
                <a:solidFill>
                  <a:srgbClr val="122767"/>
                </a:solidFill>
                <a:latin typeface="Arial"/>
                <a:cs typeface="Arial"/>
              </a:rPr>
              <a:t>За </a:t>
            </a:r>
            <a:r>
              <a:rPr sz="2200" spc="-5" dirty="0">
                <a:solidFill>
                  <a:srgbClr val="122767"/>
                </a:solidFill>
                <a:latin typeface="Arial"/>
                <a:cs typeface="Arial"/>
              </a:rPr>
              <a:t>да </a:t>
            </a:r>
            <a:r>
              <a:rPr sz="2200" spc="-20" dirty="0">
                <a:solidFill>
                  <a:srgbClr val="122767"/>
                </a:solidFill>
                <a:latin typeface="Arial"/>
                <a:cs typeface="Arial"/>
              </a:rPr>
              <a:t>бъде </a:t>
            </a:r>
            <a:r>
              <a:rPr sz="2200" spc="-15" dirty="0">
                <a:solidFill>
                  <a:srgbClr val="122767"/>
                </a:solidFill>
                <a:latin typeface="Arial"/>
                <a:cs typeface="Arial"/>
              </a:rPr>
              <a:t>свързан един </a:t>
            </a:r>
            <a:r>
              <a:rPr sz="2200" spc="-10" dirty="0">
                <a:solidFill>
                  <a:srgbClr val="122767"/>
                </a:solidFill>
                <a:latin typeface="Arial"/>
                <a:cs typeface="Arial"/>
              </a:rPr>
              <a:t>компютър </a:t>
            </a:r>
            <a:r>
              <a:rPr sz="2200" dirty="0">
                <a:solidFill>
                  <a:srgbClr val="122767"/>
                </a:solidFill>
                <a:latin typeface="Arial"/>
                <a:cs typeface="Arial"/>
              </a:rPr>
              <a:t>в </a:t>
            </a:r>
            <a:r>
              <a:rPr sz="2200" spc="-5" dirty="0">
                <a:solidFill>
                  <a:srgbClr val="122767"/>
                </a:solidFill>
                <a:latin typeface="Arial"/>
                <a:cs typeface="Arial"/>
              </a:rPr>
              <a:t>мрежа, </a:t>
            </a:r>
            <a:r>
              <a:rPr sz="2200" dirty="0">
                <a:solidFill>
                  <a:srgbClr val="122767"/>
                </a:solidFill>
                <a:latin typeface="Arial"/>
                <a:cs typeface="Arial"/>
              </a:rPr>
              <a:t>е </a:t>
            </a:r>
            <a:r>
              <a:rPr sz="2200" spc="-20" dirty="0">
                <a:solidFill>
                  <a:srgbClr val="122767"/>
                </a:solidFill>
                <a:latin typeface="Arial"/>
                <a:cs typeface="Arial"/>
              </a:rPr>
              <a:t>необходим </a:t>
            </a:r>
            <a:r>
              <a:rPr sz="2200" spc="-5" dirty="0">
                <a:solidFill>
                  <a:srgbClr val="122767"/>
                </a:solidFill>
                <a:latin typeface="Arial"/>
                <a:cs typeface="Arial"/>
              </a:rPr>
              <a:t>набор  </a:t>
            </a:r>
            <a:r>
              <a:rPr sz="2200" spc="-25" dirty="0">
                <a:solidFill>
                  <a:srgbClr val="122767"/>
                </a:solidFill>
                <a:latin typeface="Arial"/>
                <a:cs typeface="Arial"/>
              </a:rPr>
              <a:t>от </a:t>
            </a:r>
            <a:r>
              <a:rPr sz="2200" spc="-15" dirty="0">
                <a:solidFill>
                  <a:srgbClr val="122767"/>
                </a:solidFill>
                <a:latin typeface="Arial"/>
                <a:cs typeface="Arial"/>
              </a:rPr>
              <a:t>хардуерни </a:t>
            </a:r>
            <a:r>
              <a:rPr sz="2200" dirty="0">
                <a:solidFill>
                  <a:srgbClr val="122767"/>
                </a:solidFill>
                <a:latin typeface="Arial"/>
                <a:cs typeface="Arial"/>
              </a:rPr>
              <a:t>компоненти. </a:t>
            </a:r>
            <a:endParaRPr lang="en-US" sz="2200" dirty="0">
              <a:solidFill>
                <a:srgbClr val="122767"/>
              </a:solidFill>
              <a:latin typeface="Arial"/>
              <a:cs typeface="Arial"/>
            </a:endParaRPr>
          </a:p>
          <a:p>
            <a:pPr marL="12065" marR="5080" algn="ctr">
              <a:lnSpc>
                <a:spcPct val="100000"/>
              </a:lnSpc>
              <a:spcBef>
                <a:spcPts val="105"/>
              </a:spcBef>
              <a:buClr>
                <a:srgbClr val="174AB1"/>
              </a:buClr>
              <a:tabLst>
                <a:tab pos="356235" algn="l"/>
              </a:tabLst>
            </a:pPr>
            <a:r>
              <a:rPr sz="2200" spc="-15" dirty="0" err="1">
                <a:solidFill>
                  <a:srgbClr val="122767"/>
                </a:solidFill>
                <a:latin typeface="Arial"/>
                <a:cs typeface="Arial"/>
              </a:rPr>
              <a:t>Задължително</a:t>
            </a:r>
            <a:r>
              <a:rPr sz="2200" spc="-15" dirty="0">
                <a:solidFill>
                  <a:srgbClr val="122767"/>
                </a:solidFill>
                <a:latin typeface="Arial"/>
                <a:cs typeface="Arial"/>
              </a:rPr>
              <a:t> </a:t>
            </a:r>
            <a:r>
              <a:rPr sz="2200" spc="-5" dirty="0">
                <a:solidFill>
                  <a:srgbClr val="122767"/>
                </a:solidFill>
                <a:latin typeface="Arial"/>
                <a:cs typeface="Arial"/>
              </a:rPr>
              <a:t>условие </a:t>
            </a:r>
            <a:r>
              <a:rPr sz="2200" dirty="0">
                <a:solidFill>
                  <a:srgbClr val="122767"/>
                </a:solidFill>
                <a:latin typeface="Arial"/>
                <a:cs typeface="Arial"/>
              </a:rPr>
              <a:t>е </a:t>
            </a:r>
            <a:r>
              <a:rPr sz="2200" spc="-5" dirty="0">
                <a:solidFill>
                  <a:srgbClr val="122767"/>
                </a:solidFill>
                <a:latin typeface="Arial"/>
                <a:cs typeface="Arial"/>
              </a:rPr>
              <a:t>компютърът  да </a:t>
            </a:r>
            <a:r>
              <a:rPr sz="2200" spc="-15" dirty="0">
                <a:solidFill>
                  <a:srgbClr val="122767"/>
                </a:solidFill>
                <a:latin typeface="Arial"/>
                <a:cs typeface="Arial"/>
              </a:rPr>
              <a:t>разполага </a:t>
            </a:r>
            <a:r>
              <a:rPr sz="2200" dirty="0">
                <a:solidFill>
                  <a:srgbClr val="122767"/>
                </a:solidFill>
                <a:latin typeface="Arial"/>
                <a:cs typeface="Arial"/>
              </a:rPr>
              <a:t>с </a:t>
            </a:r>
            <a:r>
              <a:rPr sz="2200" spc="-5" dirty="0">
                <a:solidFill>
                  <a:srgbClr val="122767"/>
                </a:solidFill>
                <a:latin typeface="Arial"/>
                <a:cs typeface="Arial"/>
              </a:rPr>
              <a:t>устройство, </a:t>
            </a:r>
            <a:r>
              <a:rPr sz="2200" spc="-15" dirty="0">
                <a:solidFill>
                  <a:srgbClr val="122767"/>
                </a:solidFill>
                <a:latin typeface="Arial"/>
                <a:cs typeface="Arial"/>
              </a:rPr>
              <a:t>управляващо </a:t>
            </a:r>
            <a:r>
              <a:rPr sz="2200" spc="-20" dirty="0">
                <a:solidFill>
                  <a:srgbClr val="122767"/>
                </a:solidFill>
                <a:latin typeface="Arial"/>
                <a:cs typeface="Arial"/>
              </a:rPr>
              <a:t>работата </a:t>
            </a:r>
            <a:r>
              <a:rPr sz="2200" dirty="0">
                <a:solidFill>
                  <a:srgbClr val="122767"/>
                </a:solidFill>
                <a:latin typeface="Arial"/>
                <a:cs typeface="Arial"/>
              </a:rPr>
              <a:t>в </a:t>
            </a:r>
            <a:r>
              <a:rPr sz="2200" spc="-5" dirty="0" err="1">
                <a:solidFill>
                  <a:srgbClr val="122767"/>
                </a:solidFill>
                <a:latin typeface="Arial"/>
                <a:cs typeface="Arial"/>
              </a:rPr>
              <a:t>мрежа</a:t>
            </a:r>
            <a:r>
              <a:rPr lang="en-US" sz="2200" spc="-5" dirty="0">
                <a:solidFill>
                  <a:srgbClr val="122767"/>
                </a:solidFill>
                <a:latin typeface="Arial"/>
                <a:cs typeface="Arial"/>
              </a:rPr>
              <a:t> </a:t>
            </a:r>
            <a:r>
              <a:rPr sz="2200" spc="-80" dirty="0">
                <a:solidFill>
                  <a:srgbClr val="122767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122767"/>
                </a:solidFill>
                <a:latin typeface="Arial"/>
                <a:cs typeface="Arial"/>
              </a:rPr>
              <a:t>–</a:t>
            </a:r>
            <a:r>
              <a:rPr lang="en-US" sz="2200" dirty="0">
                <a:solidFill>
                  <a:srgbClr val="122767"/>
                </a:solidFill>
                <a:latin typeface="Arial"/>
                <a:cs typeface="Arial"/>
              </a:rPr>
              <a:t> </a:t>
            </a:r>
          </a:p>
          <a:p>
            <a:pPr marL="12065" marR="5080" algn="ctr">
              <a:lnSpc>
                <a:spcPct val="100000"/>
              </a:lnSpc>
              <a:spcBef>
                <a:spcPts val="105"/>
              </a:spcBef>
              <a:buClr>
                <a:srgbClr val="174AB1"/>
              </a:buClr>
              <a:tabLst>
                <a:tab pos="356235" algn="l"/>
              </a:tabLst>
            </a:pPr>
            <a:r>
              <a:rPr sz="2200" b="1" spc="-10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мрежов</a:t>
            </a:r>
            <a:r>
              <a:rPr sz="2200" b="1" spc="-1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 адаптер </a:t>
            </a:r>
            <a:r>
              <a:rPr sz="2200" dirty="0">
                <a:solidFill>
                  <a:srgbClr val="122767"/>
                </a:solidFill>
                <a:latin typeface="Arial"/>
                <a:cs typeface="Arial"/>
              </a:rPr>
              <a:t>(или </a:t>
            </a:r>
            <a:r>
              <a:rPr sz="2200" b="1" spc="-5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мрежова </a:t>
            </a:r>
            <a:r>
              <a:rPr sz="2200" b="1" spc="-5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платка</a:t>
            </a:r>
            <a:r>
              <a:rPr sz="2200" spc="-5" dirty="0">
                <a:solidFill>
                  <a:srgbClr val="122767"/>
                </a:solidFill>
                <a:latin typeface="Arial"/>
                <a:cs typeface="Arial"/>
              </a:rPr>
              <a:t>).</a:t>
            </a:r>
            <a:endParaRPr lang="en-US" sz="2200" spc="-5" dirty="0">
              <a:solidFill>
                <a:srgbClr val="122767"/>
              </a:solidFill>
              <a:latin typeface="Arial"/>
              <a:cs typeface="Arial"/>
            </a:endParaRPr>
          </a:p>
          <a:p>
            <a:pPr marL="355600" marR="368300" algn="ctr">
              <a:lnSpc>
                <a:spcPct val="100000"/>
              </a:lnSpc>
            </a:pPr>
            <a:r>
              <a:rPr sz="2200" spc="-5" dirty="0" err="1">
                <a:solidFill>
                  <a:srgbClr val="122767"/>
                </a:solidFill>
                <a:latin typeface="Arial"/>
                <a:cs typeface="Arial"/>
              </a:rPr>
              <a:t>Обменът</a:t>
            </a:r>
            <a:r>
              <a:rPr sz="2200" spc="-5" dirty="0">
                <a:solidFill>
                  <a:srgbClr val="122767"/>
                </a:solidFill>
                <a:latin typeface="Arial"/>
                <a:cs typeface="Arial"/>
              </a:rPr>
              <a:t> на </a:t>
            </a:r>
            <a:r>
              <a:rPr sz="2200" spc="-10" dirty="0">
                <a:solidFill>
                  <a:srgbClr val="122767"/>
                </a:solidFill>
                <a:latin typeface="Arial"/>
                <a:cs typeface="Arial"/>
              </a:rPr>
              <a:t>данните  </a:t>
            </a:r>
            <a:r>
              <a:rPr sz="2200" spc="-5" dirty="0">
                <a:solidFill>
                  <a:srgbClr val="122767"/>
                </a:solidFill>
                <a:latin typeface="Arial"/>
                <a:cs typeface="Arial"/>
              </a:rPr>
              <a:t>между </a:t>
            </a:r>
            <a:r>
              <a:rPr sz="2200" spc="-10" dirty="0">
                <a:solidFill>
                  <a:srgbClr val="122767"/>
                </a:solidFill>
                <a:latin typeface="Arial"/>
                <a:cs typeface="Arial"/>
              </a:rPr>
              <a:t>компютрите </a:t>
            </a:r>
            <a:r>
              <a:rPr sz="2200" dirty="0">
                <a:solidFill>
                  <a:srgbClr val="122767"/>
                </a:solidFill>
                <a:latin typeface="Arial"/>
                <a:cs typeface="Arial"/>
              </a:rPr>
              <a:t>се </a:t>
            </a:r>
            <a:r>
              <a:rPr sz="2200" spc="-10" dirty="0">
                <a:solidFill>
                  <a:srgbClr val="122767"/>
                </a:solidFill>
                <a:latin typeface="Arial"/>
                <a:cs typeface="Arial"/>
              </a:rPr>
              <a:t>извършва </a:t>
            </a:r>
            <a:r>
              <a:rPr sz="2200" spc="-5" dirty="0">
                <a:solidFill>
                  <a:srgbClr val="122767"/>
                </a:solidFill>
                <a:latin typeface="Arial"/>
                <a:cs typeface="Arial"/>
              </a:rPr>
              <a:t>по </a:t>
            </a:r>
            <a:r>
              <a:rPr sz="2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линии </a:t>
            </a:r>
            <a:r>
              <a:rPr sz="2200" b="1" spc="-15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за </a:t>
            </a:r>
            <a:r>
              <a:rPr sz="2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връзка</a:t>
            </a:r>
            <a:r>
              <a:rPr sz="2200" dirty="0">
                <a:solidFill>
                  <a:srgbClr val="122767"/>
                </a:solidFill>
                <a:latin typeface="Arial"/>
                <a:cs typeface="Arial"/>
              </a:rPr>
              <a:t>, </a:t>
            </a:r>
            <a:r>
              <a:rPr sz="2200" spc="-10" dirty="0">
                <a:solidFill>
                  <a:srgbClr val="122767"/>
                </a:solidFill>
                <a:latin typeface="Arial"/>
                <a:cs typeface="Arial"/>
              </a:rPr>
              <a:t>като </a:t>
            </a:r>
            <a:r>
              <a:rPr sz="2200" spc="-5" dirty="0">
                <a:solidFill>
                  <a:srgbClr val="122767"/>
                </a:solidFill>
                <a:latin typeface="Arial"/>
                <a:cs typeface="Arial"/>
              </a:rPr>
              <a:t>за  </a:t>
            </a:r>
            <a:r>
              <a:rPr sz="2200" spc="-10" dirty="0">
                <a:solidFill>
                  <a:srgbClr val="122767"/>
                </a:solidFill>
                <a:latin typeface="Arial"/>
                <a:cs typeface="Arial"/>
              </a:rPr>
              <a:t>най-елементарните </a:t>
            </a:r>
            <a:r>
              <a:rPr sz="2200" spc="-25" dirty="0">
                <a:solidFill>
                  <a:srgbClr val="122767"/>
                </a:solidFill>
                <a:latin typeface="Arial"/>
                <a:cs typeface="Arial"/>
              </a:rPr>
              <a:t>от </a:t>
            </a:r>
            <a:r>
              <a:rPr sz="2200" spc="-10" dirty="0">
                <a:solidFill>
                  <a:srgbClr val="122767"/>
                </a:solidFill>
                <a:latin typeface="Arial"/>
                <a:cs typeface="Arial"/>
              </a:rPr>
              <a:t>тях </a:t>
            </a:r>
            <a:r>
              <a:rPr sz="2200" dirty="0">
                <a:solidFill>
                  <a:srgbClr val="122767"/>
                </a:solidFill>
                <a:latin typeface="Arial"/>
                <a:cs typeface="Arial"/>
              </a:rPr>
              <a:t>се </a:t>
            </a:r>
            <a:r>
              <a:rPr sz="2200" spc="-15" dirty="0">
                <a:solidFill>
                  <a:srgbClr val="122767"/>
                </a:solidFill>
                <a:latin typeface="Arial"/>
                <a:cs typeface="Arial"/>
              </a:rPr>
              <a:t>използват </a:t>
            </a:r>
            <a:r>
              <a:rPr sz="2200" spc="-10" dirty="0">
                <a:solidFill>
                  <a:srgbClr val="122767"/>
                </a:solidFill>
                <a:latin typeface="Arial"/>
                <a:cs typeface="Arial"/>
              </a:rPr>
              <a:t>различни </a:t>
            </a:r>
            <a:r>
              <a:rPr sz="2200" spc="-5" dirty="0">
                <a:solidFill>
                  <a:srgbClr val="122767"/>
                </a:solidFill>
                <a:latin typeface="Arial"/>
                <a:cs typeface="Arial"/>
              </a:rPr>
              <a:t>видове  </a:t>
            </a:r>
            <a:r>
              <a:rPr sz="2200" spc="-10" dirty="0">
                <a:solidFill>
                  <a:srgbClr val="122767"/>
                </a:solidFill>
                <a:latin typeface="Arial"/>
                <a:cs typeface="Arial"/>
              </a:rPr>
              <a:t>кабели. </a:t>
            </a:r>
            <a:endParaRPr lang="en-US" sz="2200" spc="-10" dirty="0">
              <a:solidFill>
                <a:srgbClr val="122767"/>
              </a:solidFill>
              <a:latin typeface="Arial"/>
              <a:cs typeface="Arial"/>
            </a:endParaRPr>
          </a:p>
          <a:p>
            <a:pPr marL="355600" marR="368300" algn="ctr">
              <a:lnSpc>
                <a:spcPct val="100000"/>
              </a:lnSpc>
            </a:pPr>
            <a:r>
              <a:rPr sz="2200" dirty="0" err="1">
                <a:solidFill>
                  <a:srgbClr val="122767"/>
                </a:solidFill>
                <a:latin typeface="Arial"/>
                <a:cs typeface="Arial"/>
              </a:rPr>
              <a:t>За</a:t>
            </a:r>
            <a:r>
              <a:rPr sz="2200" dirty="0">
                <a:solidFill>
                  <a:srgbClr val="122767"/>
                </a:solidFill>
                <a:latin typeface="Arial"/>
                <a:cs typeface="Arial"/>
              </a:rPr>
              <a:t> </a:t>
            </a:r>
            <a:r>
              <a:rPr sz="2200" spc="-5" dirty="0">
                <a:solidFill>
                  <a:srgbClr val="122767"/>
                </a:solidFill>
                <a:latin typeface="Arial"/>
                <a:cs typeface="Arial"/>
              </a:rPr>
              <a:t>да </a:t>
            </a:r>
            <a:r>
              <a:rPr sz="2200" spc="-20" dirty="0">
                <a:solidFill>
                  <a:srgbClr val="122767"/>
                </a:solidFill>
                <a:latin typeface="Arial"/>
                <a:cs typeface="Arial"/>
              </a:rPr>
              <a:t>бъде </a:t>
            </a:r>
            <a:r>
              <a:rPr sz="2200" spc="-10" dirty="0">
                <a:solidFill>
                  <a:srgbClr val="122767"/>
                </a:solidFill>
                <a:latin typeface="Arial"/>
                <a:cs typeface="Arial"/>
              </a:rPr>
              <a:t>управляван </a:t>
            </a:r>
            <a:r>
              <a:rPr sz="2200" spc="-5" dirty="0">
                <a:solidFill>
                  <a:srgbClr val="122767"/>
                </a:solidFill>
                <a:latin typeface="Arial"/>
                <a:cs typeface="Arial"/>
              </a:rPr>
              <a:t>обменът на данни между  </a:t>
            </a:r>
            <a:r>
              <a:rPr sz="2200" spc="-30" dirty="0">
                <a:solidFill>
                  <a:srgbClr val="122767"/>
                </a:solidFill>
                <a:latin typeface="Arial"/>
                <a:cs typeface="Arial"/>
              </a:rPr>
              <a:t>отделните </a:t>
            </a:r>
            <a:r>
              <a:rPr sz="2200" spc="-5" dirty="0">
                <a:solidFill>
                  <a:srgbClr val="122767"/>
                </a:solidFill>
                <a:latin typeface="Arial"/>
                <a:cs typeface="Arial"/>
              </a:rPr>
              <a:t>компютри </a:t>
            </a:r>
            <a:r>
              <a:rPr sz="2200" dirty="0">
                <a:solidFill>
                  <a:srgbClr val="122767"/>
                </a:solidFill>
                <a:latin typeface="Arial"/>
                <a:cs typeface="Arial"/>
              </a:rPr>
              <a:t>в </a:t>
            </a:r>
            <a:r>
              <a:rPr sz="2200" spc="-15" dirty="0">
                <a:solidFill>
                  <a:srgbClr val="122767"/>
                </a:solidFill>
                <a:latin typeface="Arial"/>
                <a:cs typeface="Arial"/>
              </a:rPr>
              <a:t>компютърната </a:t>
            </a:r>
            <a:r>
              <a:rPr sz="2200" spc="-5" dirty="0">
                <a:solidFill>
                  <a:srgbClr val="122767"/>
                </a:solidFill>
                <a:latin typeface="Arial"/>
                <a:cs typeface="Arial"/>
              </a:rPr>
              <a:t>мрежа, </a:t>
            </a:r>
            <a:r>
              <a:rPr sz="2200" dirty="0">
                <a:solidFill>
                  <a:srgbClr val="122767"/>
                </a:solidFill>
                <a:latin typeface="Arial"/>
                <a:cs typeface="Arial"/>
              </a:rPr>
              <a:t>се </a:t>
            </a:r>
            <a:r>
              <a:rPr sz="2200" spc="-15" dirty="0">
                <a:solidFill>
                  <a:srgbClr val="122767"/>
                </a:solidFill>
                <a:latin typeface="Arial"/>
                <a:cs typeface="Arial"/>
              </a:rPr>
              <a:t>използват  </a:t>
            </a:r>
            <a:r>
              <a:rPr sz="2200" spc="-5" dirty="0">
                <a:solidFill>
                  <a:srgbClr val="122767"/>
                </a:solidFill>
                <a:latin typeface="Arial"/>
                <a:cs typeface="Arial"/>
              </a:rPr>
              <a:t>устройства, </a:t>
            </a:r>
            <a:r>
              <a:rPr sz="2200" spc="-10" dirty="0" err="1">
                <a:solidFill>
                  <a:srgbClr val="122767"/>
                </a:solidFill>
                <a:latin typeface="Arial"/>
                <a:cs typeface="Arial"/>
              </a:rPr>
              <a:t>наречени</a:t>
            </a:r>
            <a:r>
              <a:rPr sz="2200" spc="-75" dirty="0">
                <a:solidFill>
                  <a:srgbClr val="122767"/>
                </a:solidFill>
                <a:latin typeface="Arial"/>
                <a:cs typeface="Arial"/>
              </a:rPr>
              <a:t> </a:t>
            </a:r>
            <a:r>
              <a:rPr sz="2200" b="1" spc="-15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рутери</a:t>
            </a:r>
            <a:r>
              <a:rPr lang="en-US" sz="2200" b="1" spc="-15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.</a:t>
            </a:r>
            <a:endParaRPr sz="22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14400" y="5040631"/>
            <a:ext cx="2502252" cy="172403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564129" y="5140649"/>
            <a:ext cx="2320542" cy="15240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344340" y="5140649"/>
            <a:ext cx="2227720" cy="138935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8171688" y="188976"/>
            <a:ext cx="792480" cy="431800"/>
          </a:xfrm>
          <a:custGeom>
            <a:avLst/>
            <a:gdLst/>
            <a:ahLst/>
            <a:cxnLst/>
            <a:rect l="l" t="t" r="r" b="b"/>
            <a:pathLst>
              <a:path w="792479" h="431800">
                <a:moveTo>
                  <a:pt x="396239" y="0"/>
                </a:moveTo>
                <a:lnTo>
                  <a:pt x="337690" y="2337"/>
                </a:lnTo>
                <a:lnTo>
                  <a:pt x="281806" y="9127"/>
                </a:lnTo>
                <a:lnTo>
                  <a:pt x="229202" y="20038"/>
                </a:lnTo>
                <a:lnTo>
                  <a:pt x="180490" y="34734"/>
                </a:lnTo>
                <a:lnTo>
                  <a:pt x="136284" y="52884"/>
                </a:lnTo>
                <a:lnTo>
                  <a:pt x="97196" y="74155"/>
                </a:lnTo>
                <a:lnTo>
                  <a:pt x="63840" y="98212"/>
                </a:lnTo>
                <a:lnTo>
                  <a:pt x="16777" y="153354"/>
                </a:lnTo>
                <a:lnTo>
                  <a:pt x="0" y="215646"/>
                </a:lnTo>
                <a:lnTo>
                  <a:pt x="4296" y="247518"/>
                </a:lnTo>
                <a:lnTo>
                  <a:pt x="36830" y="306569"/>
                </a:lnTo>
                <a:lnTo>
                  <a:pt x="97196" y="357136"/>
                </a:lnTo>
                <a:lnTo>
                  <a:pt x="136284" y="378407"/>
                </a:lnTo>
                <a:lnTo>
                  <a:pt x="180490" y="396557"/>
                </a:lnTo>
                <a:lnTo>
                  <a:pt x="229202" y="411253"/>
                </a:lnTo>
                <a:lnTo>
                  <a:pt x="281806" y="422164"/>
                </a:lnTo>
                <a:lnTo>
                  <a:pt x="337690" y="428954"/>
                </a:lnTo>
                <a:lnTo>
                  <a:pt x="396239" y="431291"/>
                </a:lnTo>
                <a:lnTo>
                  <a:pt x="454789" y="428954"/>
                </a:lnTo>
                <a:lnTo>
                  <a:pt x="510673" y="422164"/>
                </a:lnTo>
                <a:lnTo>
                  <a:pt x="563277" y="411253"/>
                </a:lnTo>
                <a:lnTo>
                  <a:pt x="611989" y="396557"/>
                </a:lnTo>
                <a:lnTo>
                  <a:pt x="656195" y="378407"/>
                </a:lnTo>
                <a:lnTo>
                  <a:pt x="695283" y="357136"/>
                </a:lnTo>
                <a:lnTo>
                  <a:pt x="728639" y="333079"/>
                </a:lnTo>
                <a:lnTo>
                  <a:pt x="775702" y="277937"/>
                </a:lnTo>
                <a:lnTo>
                  <a:pt x="792479" y="215646"/>
                </a:lnTo>
                <a:lnTo>
                  <a:pt x="788183" y="183773"/>
                </a:lnTo>
                <a:lnTo>
                  <a:pt x="755649" y="124722"/>
                </a:lnTo>
                <a:lnTo>
                  <a:pt x="695283" y="74155"/>
                </a:lnTo>
                <a:lnTo>
                  <a:pt x="656195" y="52884"/>
                </a:lnTo>
                <a:lnTo>
                  <a:pt x="611989" y="34734"/>
                </a:lnTo>
                <a:lnTo>
                  <a:pt x="563277" y="20038"/>
                </a:lnTo>
                <a:lnTo>
                  <a:pt x="510673" y="9127"/>
                </a:lnTo>
                <a:lnTo>
                  <a:pt x="454789" y="2337"/>
                </a:lnTo>
                <a:lnTo>
                  <a:pt x="39623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86054" rIns="0" bIns="0" rtlCol="0">
            <a:spAutoFit/>
          </a:bodyPr>
          <a:lstStyle/>
          <a:p>
            <a:pPr marL="5374005">
              <a:lnSpc>
                <a:spcPct val="100000"/>
              </a:lnSpc>
              <a:spcBef>
                <a:spcPts val="135"/>
              </a:spcBef>
            </a:pPr>
            <a:r>
              <a:rPr sz="2000" spc="-455" dirty="0"/>
              <a:t>LO</a:t>
            </a:r>
            <a:r>
              <a:rPr sz="2700" b="0" spc="-682" baseline="10802" dirty="0">
                <a:solidFill>
                  <a:srgbClr val="FCEC1C"/>
                </a:solidFill>
                <a:latin typeface="Arial"/>
                <a:cs typeface="Arial"/>
              </a:rPr>
              <a:t>T</a:t>
            </a:r>
            <a:r>
              <a:rPr sz="3150" b="0" spc="-682" baseline="-11904" dirty="0">
                <a:solidFill>
                  <a:srgbClr val="FCEC1C"/>
                </a:solidFill>
                <a:latin typeface="Arial"/>
                <a:cs typeface="Arial"/>
              </a:rPr>
              <a:t>G</a:t>
            </a:r>
            <a:r>
              <a:rPr sz="2000" spc="-455" dirty="0"/>
              <a:t>GO</a:t>
            </a:r>
            <a:endParaRPr sz="2000">
              <a:latin typeface="Arial"/>
              <a:cs typeface="Arial"/>
            </a:endParaRPr>
          </a:p>
        </p:txBody>
      </p:sp>
      <p:sp>
        <p:nvSpPr>
          <p:cNvPr id="9" name="Овал 8"/>
          <p:cNvSpPr/>
          <p:nvPr/>
        </p:nvSpPr>
        <p:spPr>
          <a:xfrm>
            <a:off x="8087393" y="76200"/>
            <a:ext cx="961070" cy="556577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pic>
        <p:nvPicPr>
          <p:cNvPr id="10" name="Picture 9" descr="_em_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2440" y="5943600"/>
            <a:ext cx="868680" cy="90529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22626" y="148844"/>
            <a:ext cx="5735574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bg-BG" sz="2400" spc="-35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3. </a:t>
            </a:r>
            <a:r>
              <a:rPr sz="2400" spc="-35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ПРОГРАМИ </a:t>
            </a:r>
            <a:r>
              <a:rPr sz="2400" spc="-5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ЗА ЗАРЕЖДАНЕ</a:t>
            </a:r>
            <a:r>
              <a:rPr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И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8965" y="599440"/>
            <a:ext cx="90350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61340" algn="ctr">
              <a:lnSpc>
                <a:spcPct val="100000"/>
              </a:lnSpc>
              <a:spcBef>
                <a:spcPts val="100"/>
              </a:spcBef>
            </a:pPr>
            <a:r>
              <a:rPr sz="2400" b="1" spc="-15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ПРИДВИЖВАНЕ </a:t>
            </a:r>
            <a:r>
              <a:rPr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В </a:t>
            </a:r>
            <a:r>
              <a:rPr sz="2400" b="1" spc="-5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УЕБ</a:t>
            </a:r>
            <a:r>
              <a:rPr sz="2400" b="1" spc="4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 </a:t>
            </a:r>
            <a:r>
              <a:rPr sz="2400" b="1" spc="-25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САЙТОВЕ</a:t>
            </a:r>
            <a:endParaRPr sz="24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8965" y="1341882"/>
            <a:ext cx="4038600" cy="990600"/>
          </a:xfrm>
          <a:custGeom>
            <a:avLst/>
            <a:gdLst/>
            <a:ahLst/>
            <a:cxnLst/>
            <a:rect l="l" t="t" r="r" b="b"/>
            <a:pathLst>
              <a:path w="4038600" h="990600">
                <a:moveTo>
                  <a:pt x="0" y="90169"/>
                </a:moveTo>
                <a:lnTo>
                  <a:pt x="7088" y="55078"/>
                </a:lnTo>
                <a:lnTo>
                  <a:pt x="26419" y="26415"/>
                </a:lnTo>
                <a:lnTo>
                  <a:pt x="55089" y="7088"/>
                </a:lnTo>
                <a:lnTo>
                  <a:pt x="90195" y="0"/>
                </a:lnTo>
                <a:lnTo>
                  <a:pt x="3948430" y="0"/>
                </a:lnTo>
                <a:lnTo>
                  <a:pt x="3983521" y="7088"/>
                </a:lnTo>
                <a:lnTo>
                  <a:pt x="4012184" y="26415"/>
                </a:lnTo>
                <a:lnTo>
                  <a:pt x="4031511" y="55078"/>
                </a:lnTo>
                <a:lnTo>
                  <a:pt x="4038600" y="90169"/>
                </a:lnTo>
                <a:lnTo>
                  <a:pt x="4038600" y="900429"/>
                </a:lnTo>
                <a:lnTo>
                  <a:pt x="4031511" y="935521"/>
                </a:lnTo>
                <a:lnTo>
                  <a:pt x="4012183" y="964183"/>
                </a:lnTo>
                <a:lnTo>
                  <a:pt x="3983521" y="983511"/>
                </a:lnTo>
                <a:lnTo>
                  <a:pt x="3948430" y="990600"/>
                </a:lnTo>
                <a:lnTo>
                  <a:pt x="90195" y="990600"/>
                </a:lnTo>
                <a:lnTo>
                  <a:pt x="55089" y="983511"/>
                </a:lnTo>
                <a:lnTo>
                  <a:pt x="26419" y="964183"/>
                </a:lnTo>
                <a:lnTo>
                  <a:pt x="7088" y="935521"/>
                </a:lnTo>
                <a:lnTo>
                  <a:pt x="0" y="900429"/>
                </a:lnTo>
                <a:lnTo>
                  <a:pt x="0" y="90169"/>
                </a:lnTo>
                <a:close/>
              </a:path>
            </a:pathLst>
          </a:custGeom>
          <a:ln w="25908">
            <a:solidFill>
              <a:srgbClr val="12276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212852" y="1680159"/>
            <a:ext cx="17125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spc="-5" dirty="0">
                <a:solidFill>
                  <a:srgbClr val="122767"/>
                </a:solidFill>
                <a:latin typeface="Arial"/>
                <a:cs typeface="Arial"/>
              </a:rPr>
              <a:t>Internet</a:t>
            </a:r>
            <a:r>
              <a:rPr sz="1800" i="1" spc="-60" dirty="0">
                <a:solidFill>
                  <a:srgbClr val="122767"/>
                </a:solidFill>
                <a:latin typeface="Arial"/>
                <a:cs typeface="Arial"/>
              </a:rPr>
              <a:t> </a:t>
            </a:r>
            <a:r>
              <a:rPr sz="1800" i="1" spc="-5" dirty="0">
                <a:solidFill>
                  <a:srgbClr val="122767"/>
                </a:solidFill>
                <a:latin typeface="Arial"/>
                <a:cs typeface="Arial"/>
              </a:rPr>
              <a:t>Explorer</a:t>
            </a:r>
            <a:endParaRPr sz="18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8965" y="2439161"/>
            <a:ext cx="4038600" cy="990600"/>
          </a:xfrm>
          <a:custGeom>
            <a:avLst/>
            <a:gdLst/>
            <a:ahLst/>
            <a:cxnLst/>
            <a:rect l="l" t="t" r="r" b="b"/>
            <a:pathLst>
              <a:path w="4038600" h="990600">
                <a:moveTo>
                  <a:pt x="0" y="90170"/>
                </a:moveTo>
                <a:lnTo>
                  <a:pt x="7088" y="55078"/>
                </a:lnTo>
                <a:lnTo>
                  <a:pt x="26419" y="26416"/>
                </a:lnTo>
                <a:lnTo>
                  <a:pt x="55089" y="7088"/>
                </a:lnTo>
                <a:lnTo>
                  <a:pt x="90195" y="0"/>
                </a:lnTo>
                <a:lnTo>
                  <a:pt x="3948430" y="0"/>
                </a:lnTo>
                <a:lnTo>
                  <a:pt x="3983521" y="7088"/>
                </a:lnTo>
                <a:lnTo>
                  <a:pt x="4012184" y="26416"/>
                </a:lnTo>
                <a:lnTo>
                  <a:pt x="4031511" y="55078"/>
                </a:lnTo>
                <a:lnTo>
                  <a:pt x="4038600" y="90170"/>
                </a:lnTo>
                <a:lnTo>
                  <a:pt x="4038600" y="900429"/>
                </a:lnTo>
                <a:lnTo>
                  <a:pt x="4031511" y="935521"/>
                </a:lnTo>
                <a:lnTo>
                  <a:pt x="4012183" y="964183"/>
                </a:lnTo>
                <a:lnTo>
                  <a:pt x="3983521" y="983511"/>
                </a:lnTo>
                <a:lnTo>
                  <a:pt x="3948430" y="990600"/>
                </a:lnTo>
                <a:lnTo>
                  <a:pt x="90195" y="990600"/>
                </a:lnTo>
                <a:lnTo>
                  <a:pt x="55089" y="983511"/>
                </a:lnTo>
                <a:lnTo>
                  <a:pt x="26419" y="964183"/>
                </a:lnTo>
                <a:lnTo>
                  <a:pt x="7088" y="935521"/>
                </a:lnTo>
                <a:lnTo>
                  <a:pt x="0" y="900429"/>
                </a:lnTo>
                <a:lnTo>
                  <a:pt x="0" y="90170"/>
                </a:lnTo>
                <a:close/>
              </a:path>
            </a:pathLst>
          </a:custGeom>
          <a:ln w="25908">
            <a:solidFill>
              <a:srgbClr val="12276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08965" y="908303"/>
            <a:ext cx="5543550" cy="594969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12852" y="2778074"/>
            <a:ext cx="15487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spc="-5" dirty="0">
                <a:solidFill>
                  <a:srgbClr val="122767"/>
                </a:solidFill>
                <a:latin typeface="Arial"/>
                <a:cs typeface="Arial"/>
              </a:rPr>
              <a:t>Microsoft</a:t>
            </a:r>
            <a:r>
              <a:rPr sz="1800" i="1" spc="-55" dirty="0">
                <a:solidFill>
                  <a:srgbClr val="122767"/>
                </a:solidFill>
                <a:latin typeface="Arial"/>
                <a:cs typeface="Arial"/>
              </a:rPr>
              <a:t> </a:t>
            </a:r>
            <a:r>
              <a:rPr sz="1800" i="1" spc="-5" dirty="0">
                <a:solidFill>
                  <a:srgbClr val="122767"/>
                </a:solidFill>
                <a:latin typeface="Arial"/>
                <a:cs typeface="Arial"/>
              </a:rPr>
              <a:t>Edge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08965" y="3501390"/>
            <a:ext cx="4038600" cy="990600"/>
          </a:xfrm>
          <a:custGeom>
            <a:avLst/>
            <a:gdLst/>
            <a:ahLst/>
            <a:cxnLst/>
            <a:rect l="l" t="t" r="r" b="b"/>
            <a:pathLst>
              <a:path w="4038600" h="990600">
                <a:moveTo>
                  <a:pt x="0" y="90170"/>
                </a:moveTo>
                <a:lnTo>
                  <a:pt x="7088" y="55078"/>
                </a:lnTo>
                <a:lnTo>
                  <a:pt x="26419" y="26416"/>
                </a:lnTo>
                <a:lnTo>
                  <a:pt x="55089" y="7088"/>
                </a:lnTo>
                <a:lnTo>
                  <a:pt x="90195" y="0"/>
                </a:lnTo>
                <a:lnTo>
                  <a:pt x="3948430" y="0"/>
                </a:lnTo>
                <a:lnTo>
                  <a:pt x="3983521" y="7088"/>
                </a:lnTo>
                <a:lnTo>
                  <a:pt x="4012184" y="26416"/>
                </a:lnTo>
                <a:lnTo>
                  <a:pt x="4031511" y="55078"/>
                </a:lnTo>
                <a:lnTo>
                  <a:pt x="4038600" y="90170"/>
                </a:lnTo>
                <a:lnTo>
                  <a:pt x="4038600" y="900430"/>
                </a:lnTo>
                <a:lnTo>
                  <a:pt x="4031511" y="935521"/>
                </a:lnTo>
                <a:lnTo>
                  <a:pt x="4012183" y="964184"/>
                </a:lnTo>
                <a:lnTo>
                  <a:pt x="3983521" y="983511"/>
                </a:lnTo>
                <a:lnTo>
                  <a:pt x="3948430" y="990600"/>
                </a:lnTo>
                <a:lnTo>
                  <a:pt x="90195" y="990600"/>
                </a:lnTo>
                <a:lnTo>
                  <a:pt x="55089" y="983511"/>
                </a:lnTo>
                <a:lnTo>
                  <a:pt x="26419" y="964184"/>
                </a:lnTo>
                <a:lnTo>
                  <a:pt x="7088" y="935521"/>
                </a:lnTo>
                <a:lnTo>
                  <a:pt x="0" y="900430"/>
                </a:lnTo>
                <a:lnTo>
                  <a:pt x="0" y="90170"/>
                </a:lnTo>
                <a:close/>
              </a:path>
            </a:pathLst>
          </a:custGeom>
          <a:ln w="25908">
            <a:solidFill>
              <a:srgbClr val="12276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212852" y="3841495"/>
            <a:ext cx="8356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spc="-10" dirty="0">
                <a:solidFill>
                  <a:srgbClr val="122767"/>
                </a:solidFill>
                <a:latin typeface="Arial"/>
                <a:cs typeface="Arial"/>
              </a:rPr>
              <a:t>Chrome</a:t>
            </a:r>
            <a:endParaRPr sz="18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644641" y="2494914"/>
            <a:ext cx="3350895" cy="298094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2400" dirty="0" err="1">
                <a:solidFill>
                  <a:srgbClr val="122767"/>
                </a:solidFill>
                <a:latin typeface="Arial"/>
                <a:cs typeface="Arial"/>
              </a:rPr>
              <a:t>За</a:t>
            </a:r>
            <a:r>
              <a:rPr sz="2400" dirty="0">
                <a:solidFill>
                  <a:srgbClr val="122767"/>
                </a:solidFill>
                <a:latin typeface="Arial"/>
                <a:cs typeface="Arial"/>
              </a:rPr>
              <a:t> </a:t>
            </a:r>
            <a:r>
              <a:rPr sz="2400" spc="-5" dirty="0" err="1">
                <a:solidFill>
                  <a:srgbClr val="122767"/>
                </a:solidFill>
                <a:latin typeface="Arial"/>
                <a:cs typeface="Arial"/>
              </a:rPr>
              <a:t>да</a:t>
            </a:r>
            <a:r>
              <a:rPr sz="2400" spc="-5" dirty="0">
                <a:solidFill>
                  <a:srgbClr val="122767"/>
                </a:solidFill>
                <a:latin typeface="Arial"/>
                <a:cs typeface="Arial"/>
              </a:rPr>
              <a:t> </a:t>
            </a:r>
            <a:r>
              <a:rPr sz="2400" spc="-25" dirty="0" err="1">
                <a:solidFill>
                  <a:srgbClr val="122767"/>
                </a:solidFill>
                <a:latin typeface="Arial"/>
                <a:cs typeface="Arial"/>
              </a:rPr>
              <a:t>четем</a:t>
            </a:r>
            <a:r>
              <a:rPr sz="2400" spc="-25" dirty="0">
                <a:solidFill>
                  <a:srgbClr val="122767"/>
                </a:solidFill>
                <a:latin typeface="Arial"/>
                <a:cs typeface="Arial"/>
              </a:rPr>
              <a:t> </a:t>
            </a:r>
            <a:r>
              <a:rPr sz="2400" spc="-5" dirty="0" err="1">
                <a:solidFill>
                  <a:srgbClr val="122767"/>
                </a:solidFill>
                <a:latin typeface="Arial"/>
                <a:cs typeface="Arial"/>
              </a:rPr>
              <a:t>информация</a:t>
            </a:r>
            <a:r>
              <a:rPr sz="2400" spc="-5" dirty="0">
                <a:solidFill>
                  <a:srgbClr val="122767"/>
                </a:solidFill>
                <a:latin typeface="Arial"/>
                <a:cs typeface="Arial"/>
              </a:rPr>
              <a:t> </a:t>
            </a:r>
            <a:r>
              <a:rPr sz="2400" spc="-25" dirty="0" err="1">
                <a:solidFill>
                  <a:srgbClr val="122767"/>
                </a:solidFill>
                <a:latin typeface="Arial"/>
                <a:cs typeface="Arial"/>
              </a:rPr>
              <a:t>от</a:t>
            </a:r>
            <a:r>
              <a:rPr sz="2400" spc="-25" dirty="0">
                <a:solidFill>
                  <a:srgbClr val="122767"/>
                </a:solidFill>
                <a:latin typeface="Arial"/>
                <a:cs typeface="Arial"/>
              </a:rPr>
              <a:t>  </a:t>
            </a:r>
            <a:r>
              <a:rPr sz="2400" spc="-15" dirty="0" err="1">
                <a:solidFill>
                  <a:srgbClr val="122767"/>
                </a:solidFill>
                <a:latin typeface="Arial"/>
                <a:cs typeface="Arial"/>
              </a:rPr>
              <a:t>интернет</a:t>
            </a:r>
            <a:r>
              <a:rPr sz="2400" spc="-15" dirty="0">
                <a:solidFill>
                  <a:srgbClr val="122767"/>
                </a:solidFill>
                <a:latin typeface="Arial"/>
                <a:cs typeface="Arial"/>
              </a:rPr>
              <a:t> </a:t>
            </a:r>
            <a:r>
              <a:rPr sz="2400" spc="-5" dirty="0" err="1">
                <a:solidFill>
                  <a:srgbClr val="122767"/>
                </a:solidFill>
                <a:latin typeface="Arial"/>
                <a:cs typeface="Arial"/>
              </a:rPr>
              <a:t>на</a:t>
            </a:r>
            <a:r>
              <a:rPr sz="2400" spc="-5" dirty="0">
                <a:solidFill>
                  <a:srgbClr val="122767"/>
                </a:solidFill>
                <a:latin typeface="Arial"/>
                <a:cs typeface="Arial"/>
              </a:rPr>
              <a:t> </a:t>
            </a:r>
            <a:r>
              <a:rPr sz="2400" spc="-10" dirty="0" err="1">
                <a:solidFill>
                  <a:srgbClr val="122767"/>
                </a:solidFill>
                <a:latin typeface="Arial"/>
                <a:cs typeface="Arial"/>
              </a:rPr>
              <a:t>дигитално</a:t>
            </a:r>
            <a:r>
              <a:rPr sz="2400" spc="-10" dirty="0">
                <a:solidFill>
                  <a:srgbClr val="122767"/>
                </a:solidFill>
                <a:latin typeface="Arial"/>
                <a:cs typeface="Arial"/>
              </a:rPr>
              <a:t>  </a:t>
            </a:r>
            <a:r>
              <a:rPr sz="2400" spc="-5" dirty="0" err="1">
                <a:solidFill>
                  <a:srgbClr val="122767"/>
                </a:solidFill>
                <a:latin typeface="Arial"/>
                <a:cs typeface="Arial"/>
              </a:rPr>
              <a:t>устройство</a:t>
            </a:r>
            <a:r>
              <a:rPr sz="2400" spc="-5" dirty="0">
                <a:solidFill>
                  <a:srgbClr val="122767"/>
                </a:solidFill>
                <a:latin typeface="Arial"/>
                <a:cs typeface="Arial"/>
              </a:rPr>
              <a:t>, </a:t>
            </a:r>
            <a:r>
              <a:rPr sz="2400" dirty="0">
                <a:solidFill>
                  <a:srgbClr val="122767"/>
                </a:solidFill>
                <a:latin typeface="Arial"/>
                <a:cs typeface="Arial"/>
              </a:rPr>
              <a:t>е </a:t>
            </a:r>
            <a:r>
              <a:rPr lang="bg-BG" sz="2400" dirty="0">
                <a:solidFill>
                  <a:srgbClr val="122767"/>
                </a:solidFill>
                <a:latin typeface="Arial"/>
                <a:cs typeface="Arial"/>
              </a:rPr>
              <a:t>необходима </a:t>
            </a:r>
            <a:r>
              <a:rPr sz="2400" spc="-5" dirty="0" err="1">
                <a:solidFill>
                  <a:srgbClr val="122767"/>
                </a:solidFill>
                <a:latin typeface="Arial"/>
                <a:cs typeface="Arial"/>
              </a:rPr>
              <a:t>компютърна</a:t>
            </a:r>
            <a:r>
              <a:rPr sz="2400" spc="-5" dirty="0">
                <a:solidFill>
                  <a:srgbClr val="122767"/>
                </a:solidFill>
                <a:latin typeface="Arial"/>
                <a:cs typeface="Arial"/>
              </a:rPr>
              <a:t> </a:t>
            </a:r>
            <a:r>
              <a:rPr sz="2400" spc="-5" dirty="0" err="1">
                <a:solidFill>
                  <a:srgbClr val="122767"/>
                </a:solidFill>
                <a:latin typeface="Arial"/>
                <a:cs typeface="Arial"/>
              </a:rPr>
              <a:t>програма</a:t>
            </a:r>
            <a:r>
              <a:rPr sz="2400" spc="-5" dirty="0">
                <a:solidFill>
                  <a:srgbClr val="122767"/>
                </a:solidFill>
                <a:latin typeface="Arial"/>
                <a:cs typeface="Arial"/>
              </a:rPr>
              <a:t>,  </a:t>
            </a:r>
            <a:r>
              <a:rPr sz="2400" spc="-10" dirty="0" err="1">
                <a:solidFill>
                  <a:srgbClr val="122767"/>
                </a:solidFill>
                <a:latin typeface="Arial"/>
                <a:cs typeface="Arial"/>
              </a:rPr>
              <a:t>наречена</a:t>
            </a:r>
            <a:r>
              <a:rPr sz="2400" spc="-35" dirty="0">
                <a:solidFill>
                  <a:srgbClr val="122767"/>
                </a:solidFill>
                <a:latin typeface="Arial"/>
                <a:cs typeface="Arial"/>
              </a:rPr>
              <a:t> </a:t>
            </a:r>
            <a:endParaRPr lang="bg-BG" sz="2400" spc="-35" dirty="0">
              <a:solidFill>
                <a:srgbClr val="122767"/>
              </a:solidFill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b</a:t>
            </a:r>
            <a:r>
              <a:rPr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rowser</a:t>
            </a:r>
            <a:r>
              <a:rPr lang="bg-BG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(</a:t>
            </a:r>
            <a:r>
              <a:rPr sz="2400" b="1" spc="-10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браузър</a:t>
            </a:r>
            <a:r>
              <a:rPr sz="2400" spc="-1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).</a:t>
            </a:r>
            <a:endParaRPr sz="24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700527" y="1412747"/>
            <a:ext cx="1078991" cy="80924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625851" y="2470442"/>
            <a:ext cx="1549653" cy="93404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060192" y="3572255"/>
            <a:ext cx="792480" cy="79247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08965" y="4581905"/>
            <a:ext cx="4038600" cy="990600"/>
          </a:xfrm>
          <a:custGeom>
            <a:avLst/>
            <a:gdLst/>
            <a:ahLst/>
            <a:cxnLst/>
            <a:rect l="l" t="t" r="r" b="b"/>
            <a:pathLst>
              <a:path w="4038600" h="990600">
                <a:moveTo>
                  <a:pt x="0" y="90170"/>
                </a:moveTo>
                <a:lnTo>
                  <a:pt x="7088" y="55078"/>
                </a:lnTo>
                <a:lnTo>
                  <a:pt x="26419" y="26416"/>
                </a:lnTo>
                <a:lnTo>
                  <a:pt x="55089" y="7088"/>
                </a:lnTo>
                <a:lnTo>
                  <a:pt x="90195" y="0"/>
                </a:lnTo>
                <a:lnTo>
                  <a:pt x="3948430" y="0"/>
                </a:lnTo>
                <a:lnTo>
                  <a:pt x="3983521" y="7088"/>
                </a:lnTo>
                <a:lnTo>
                  <a:pt x="4012184" y="26416"/>
                </a:lnTo>
                <a:lnTo>
                  <a:pt x="4031511" y="55078"/>
                </a:lnTo>
                <a:lnTo>
                  <a:pt x="4038600" y="90170"/>
                </a:lnTo>
                <a:lnTo>
                  <a:pt x="4038600" y="900430"/>
                </a:lnTo>
                <a:lnTo>
                  <a:pt x="4031511" y="935521"/>
                </a:lnTo>
                <a:lnTo>
                  <a:pt x="4012183" y="964184"/>
                </a:lnTo>
                <a:lnTo>
                  <a:pt x="3983521" y="983511"/>
                </a:lnTo>
                <a:lnTo>
                  <a:pt x="3948430" y="990600"/>
                </a:lnTo>
                <a:lnTo>
                  <a:pt x="90195" y="990600"/>
                </a:lnTo>
                <a:lnTo>
                  <a:pt x="55089" y="983511"/>
                </a:lnTo>
                <a:lnTo>
                  <a:pt x="26419" y="964184"/>
                </a:lnTo>
                <a:lnTo>
                  <a:pt x="7088" y="935521"/>
                </a:lnTo>
                <a:lnTo>
                  <a:pt x="0" y="900430"/>
                </a:lnTo>
                <a:lnTo>
                  <a:pt x="0" y="90170"/>
                </a:lnTo>
                <a:close/>
              </a:path>
            </a:pathLst>
          </a:custGeom>
          <a:ln w="25908">
            <a:solidFill>
              <a:srgbClr val="12276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212852" y="4921757"/>
            <a:ext cx="14922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dirty="0">
                <a:solidFill>
                  <a:srgbClr val="122767"/>
                </a:solidFill>
                <a:latin typeface="Arial"/>
                <a:cs typeface="Arial"/>
              </a:rPr>
              <a:t>Firefox</a:t>
            </a:r>
            <a:r>
              <a:rPr sz="1800" i="1" spc="-80" dirty="0">
                <a:solidFill>
                  <a:srgbClr val="122767"/>
                </a:solidFill>
                <a:latin typeface="Arial"/>
                <a:cs typeface="Arial"/>
              </a:rPr>
              <a:t> </a:t>
            </a:r>
            <a:r>
              <a:rPr sz="1800" i="1" spc="-10" dirty="0">
                <a:solidFill>
                  <a:srgbClr val="122767"/>
                </a:solidFill>
                <a:latin typeface="Arial"/>
                <a:cs typeface="Arial"/>
              </a:rPr>
              <a:t>Mozilla</a:t>
            </a:r>
            <a:endParaRPr sz="1800"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08965" y="5644134"/>
            <a:ext cx="4038600" cy="990600"/>
          </a:xfrm>
          <a:custGeom>
            <a:avLst/>
            <a:gdLst/>
            <a:ahLst/>
            <a:cxnLst/>
            <a:rect l="l" t="t" r="r" b="b"/>
            <a:pathLst>
              <a:path w="4038600" h="990600">
                <a:moveTo>
                  <a:pt x="0" y="90195"/>
                </a:moveTo>
                <a:lnTo>
                  <a:pt x="7088" y="55089"/>
                </a:lnTo>
                <a:lnTo>
                  <a:pt x="26419" y="26419"/>
                </a:lnTo>
                <a:lnTo>
                  <a:pt x="55089" y="7088"/>
                </a:lnTo>
                <a:lnTo>
                  <a:pt x="90195" y="0"/>
                </a:lnTo>
                <a:lnTo>
                  <a:pt x="3948430" y="0"/>
                </a:lnTo>
                <a:lnTo>
                  <a:pt x="3983521" y="7088"/>
                </a:lnTo>
                <a:lnTo>
                  <a:pt x="4012184" y="26419"/>
                </a:lnTo>
                <a:lnTo>
                  <a:pt x="4031511" y="55089"/>
                </a:lnTo>
                <a:lnTo>
                  <a:pt x="4038600" y="90195"/>
                </a:lnTo>
                <a:lnTo>
                  <a:pt x="4038600" y="900391"/>
                </a:lnTo>
                <a:lnTo>
                  <a:pt x="4031511" y="935505"/>
                </a:lnTo>
                <a:lnTo>
                  <a:pt x="4012183" y="964179"/>
                </a:lnTo>
                <a:lnTo>
                  <a:pt x="3983521" y="983511"/>
                </a:lnTo>
                <a:lnTo>
                  <a:pt x="3948430" y="990599"/>
                </a:lnTo>
                <a:lnTo>
                  <a:pt x="90195" y="990599"/>
                </a:lnTo>
                <a:lnTo>
                  <a:pt x="55089" y="983511"/>
                </a:lnTo>
                <a:lnTo>
                  <a:pt x="26419" y="964179"/>
                </a:lnTo>
                <a:lnTo>
                  <a:pt x="7088" y="935505"/>
                </a:lnTo>
                <a:lnTo>
                  <a:pt x="0" y="900391"/>
                </a:lnTo>
                <a:lnTo>
                  <a:pt x="0" y="90195"/>
                </a:lnTo>
                <a:close/>
              </a:path>
            </a:pathLst>
          </a:custGeom>
          <a:ln w="25908">
            <a:solidFill>
              <a:srgbClr val="12276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212852" y="5984544"/>
            <a:ext cx="6604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spc="-5" dirty="0">
                <a:solidFill>
                  <a:srgbClr val="122767"/>
                </a:solidFill>
                <a:latin typeface="Arial"/>
                <a:cs typeface="Arial"/>
              </a:rPr>
              <a:t>Op</a:t>
            </a:r>
            <a:r>
              <a:rPr sz="1800" i="1" spc="-15" dirty="0">
                <a:solidFill>
                  <a:srgbClr val="122767"/>
                </a:solidFill>
                <a:latin typeface="Arial"/>
                <a:cs typeface="Arial"/>
              </a:rPr>
              <a:t>e</a:t>
            </a:r>
            <a:r>
              <a:rPr sz="1800" i="1" spc="-5" dirty="0">
                <a:solidFill>
                  <a:srgbClr val="122767"/>
                </a:solidFill>
                <a:latin typeface="Arial"/>
                <a:cs typeface="Arial"/>
              </a:rPr>
              <a:t>ra</a:t>
            </a:r>
            <a:endParaRPr sz="1800">
              <a:latin typeface="Arial"/>
              <a:cs typeface="Arial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3203448" y="4724400"/>
            <a:ext cx="720851" cy="720852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3203448" y="5733288"/>
            <a:ext cx="794003" cy="864108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8171688" y="188976"/>
            <a:ext cx="792480" cy="431800"/>
          </a:xfrm>
          <a:custGeom>
            <a:avLst/>
            <a:gdLst/>
            <a:ahLst/>
            <a:cxnLst/>
            <a:rect l="l" t="t" r="r" b="b"/>
            <a:pathLst>
              <a:path w="792479" h="431800">
                <a:moveTo>
                  <a:pt x="396239" y="0"/>
                </a:moveTo>
                <a:lnTo>
                  <a:pt x="337690" y="2337"/>
                </a:lnTo>
                <a:lnTo>
                  <a:pt x="281806" y="9127"/>
                </a:lnTo>
                <a:lnTo>
                  <a:pt x="229202" y="20038"/>
                </a:lnTo>
                <a:lnTo>
                  <a:pt x="180490" y="34734"/>
                </a:lnTo>
                <a:lnTo>
                  <a:pt x="136284" y="52884"/>
                </a:lnTo>
                <a:lnTo>
                  <a:pt x="97196" y="74155"/>
                </a:lnTo>
                <a:lnTo>
                  <a:pt x="63840" y="98212"/>
                </a:lnTo>
                <a:lnTo>
                  <a:pt x="16777" y="153354"/>
                </a:lnTo>
                <a:lnTo>
                  <a:pt x="0" y="215646"/>
                </a:lnTo>
                <a:lnTo>
                  <a:pt x="4296" y="247518"/>
                </a:lnTo>
                <a:lnTo>
                  <a:pt x="36830" y="306569"/>
                </a:lnTo>
                <a:lnTo>
                  <a:pt x="97196" y="357136"/>
                </a:lnTo>
                <a:lnTo>
                  <a:pt x="136284" y="378407"/>
                </a:lnTo>
                <a:lnTo>
                  <a:pt x="180490" y="396557"/>
                </a:lnTo>
                <a:lnTo>
                  <a:pt x="229202" y="411253"/>
                </a:lnTo>
                <a:lnTo>
                  <a:pt x="281806" y="422164"/>
                </a:lnTo>
                <a:lnTo>
                  <a:pt x="337690" y="428954"/>
                </a:lnTo>
                <a:lnTo>
                  <a:pt x="396239" y="431291"/>
                </a:lnTo>
                <a:lnTo>
                  <a:pt x="454789" y="428954"/>
                </a:lnTo>
                <a:lnTo>
                  <a:pt x="510673" y="422164"/>
                </a:lnTo>
                <a:lnTo>
                  <a:pt x="563277" y="411253"/>
                </a:lnTo>
                <a:lnTo>
                  <a:pt x="611989" y="396557"/>
                </a:lnTo>
                <a:lnTo>
                  <a:pt x="656195" y="378407"/>
                </a:lnTo>
                <a:lnTo>
                  <a:pt x="695283" y="357136"/>
                </a:lnTo>
                <a:lnTo>
                  <a:pt x="728639" y="333079"/>
                </a:lnTo>
                <a:lnTo>
                  <a:pt x="775702" y="277937"/>
                </a:lnTo>
                <a:lnTo>
                  <a:pt x="792479" y="215646"/>
                </a:lnTo>
                <a:lnTo>
                  <a:pt x="788183" y="183773"/>
                </a:lnTo>
                <a:lnTo>
                  <a:pt x="755649" y="124722"/>
                </a:lnTo>
                <a:lnTo>
                  <a:pt x="695283" y="74155"/>
                </a:lnTo>
                <a:lnTo>
                  <a:pt x="656195" y="52884"/>
                </a:lnTo>
                <a:lnTo>
                  <a:pt x="611989" y="34734"/>
                </a:lnTo>
                <a:lnTo>
                  <a:pt x="563277" y="20038"/>
                </a:lnTo>
                <a:lnTo>
                  <a:pt x="510673" y="9127"/>
                </a:lnTo>
                <a:lnTo>
                  <a:pt x="454789" y="2337"/>
                </a:lnTo>
                <a:lnTo>
                  <a:pt x="39623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8186039" y="265937"/>
            <a:ext cx="826135" cy="3511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2000" b="1" spc="-455" dirty="0">
                <a:solidFill>
                  <a:srgbClr val="FFFFFF"/>
                </a:solidFill>
                <a:latin typeface="Arial"/>
                <a:cs typeface="Arial"/>
              </a:rPr>
              <a:t>LO</a:t>
            </a:r>
            <a:r>
              <a:rPr sz="2700" spc="-682" baseline="10802" dirty="0">
                <a:solidFill>
                  <a:srgbClr val="FCEC1C"/>
                </a:solidFill>
                <a:latin typeface="Arial"/>
                <a:cs typeface="Arial"/>
              </a:rPr>
              <a:t>T</a:t>
            </a:r>
            <a:r>
              <a:rPr sz="3150" spc="-682" baseline="-11904" dirty="0">
                <a:solidFill>
                  <a:srgbClr val="FCEC1C"/>
                </a:solidFill>
                <a:latin typeface="Arial"/>
                <a:cs typeface="Arial"/>
              </a:rPr>
              <a:t>G</a:t>
            </a:r>
            <a:r>
              <a:rPr sz="2000" b="1" spc="-455" dirty="0">
                <a:solidFill>
                  <a:srgbClr val="FFFFFF"/>
                </a:solidFill>
                <a:latin typeface="Arial"/>
                <a:cs typeface="Arial"/>
              </a:rPr>
              <a:t>GO</a:t>
            </a:r>
            <a:endParaRPr sz="2000">
              <a:latin typeface="Arial"/>
              <a:cs typeface="Arial"/>
            </a:endParaRPr>
          </a:p>
        </p:txBody>
      </p:sp>
      <p:sp>
        <p:nvSpPr>
          <p:cNvPr id="23" name="Овал 22"/>
          <p:cNvSpPr/>
          <p:nvPr/>
        </p:nvSpPr>
        <p:spPr>
          <a:xfrm>
            <a:off x="8087393" y="76200"/>
            <a:ext cx="961070" cy="556577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24" name="object 8"/>
          <p:cNvSpPr txBox="1"/>
          <p:nvPr/>
        </p:nvSpPr>
        <p:spPr>
          <a:xfrm>
            <a:off x="376682" y="1661482"/>
            <a:ext cx="15487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endParaRPr sz="1800" dirty="0">
              <a:latin typeface="Arial"/>
              <a:cs typeface="Arial"/>
            </a:endParaRPr>
          </a:p>
        </p:txBody>
      </p:sp>
      <p:sp>
        <p:nvSpPr>
          <p:cNvPr id="25" name="object 8"/>
          <p:cNvSpPr txBox="1"/>
          <p:nvPr/>
        </p:nvSpPr>
        <p:spPr>
          <a:xfrm>
            <a:off x="274129" y="1661481"/>
            <a:ext cx="1854136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800" i="1" spc="-5" dirty="0">
                <a:solidFill>
                  <a:srgbClr val="122767"/>
                </a:solidFill>
                <a:latin typeface="Arial"/>
                <a:cs typeface="Arial"/>
              </a:rPr>
              <a:t>Internet Explorer</a:t>
            </a:r>
            <a:endParaRPr sz="1800" dirty="0">
              <a:latin typeface="Arial"/>
              <a:cs typeface="Arial"/>
            </a:endParaRPr>
          </a:p>
        </p:txBody>
      </p:sp>
      <p:pic>
        <p:nvPicPr>
          <p:cNvPr id="26" name="Picture 25" descr="_em_logo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92440" y="5943600"/>
            <a:ext cx="868680" cy="90529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4800" y="584403"/>
            <a:ext cx="883920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102610">
              <a:lnSpc>
                <a:spcPct val="100000"/>
              </a:lnSpc>
              <a:spcBef>
                <a:spcPts val="105"/>
              </a:spcBef>
            </a:pPr>
            <a:r>
              <a:rPr lang="bg-BG" sz="3200" b="1" spc="-6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4. </a:t>
            </a:r>
            <a:r>
              <a:rPr sz="3200" b="1" spc="-6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РАБОТА </a:t>
            </a:r>
            <a:r>
              <a:rPr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С</a:t>
            </a:r>
            <a:r>
              <a:rPr sz="3200" b="1" spc="25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 </a:t>
            </a:r>
            <a:r>
              <a:rPr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ИНТЕРНЕТ</a:t>
            </a:r>
          </a:p>
        </p:txBody>
      </p:sp>
      <p:sp>
        <p:nvSpPr>
          <p:cNvPr id="6" name="object 6"/>
          <p:cNvSpPr/>
          <p:nvPr/>
        </p:nvSpPr>
        <p:spPr>
          <a:xfrm>
            <a:off x="1470660" y="2156510"/>
            <a:ext cx="475259" cy="56522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500888" y="1466493"/>
            <a:ext cx="8067040" cy="458907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105"/>
              </a:spcBef>
              <a:buClr>
                <a:srgbClr val="174AB1"/>
              </a:buClr>
              <a:buFont typeface="Wingdings"/>
              <a:buChar char=""/>
              <a:tabLst>
                <a:tab pos="356235" algn="l"/>
              </a:tabLst>
            </a:pPr>
            <a:r>
              <a:rPr sz="2000" spc="-25" dirty="0">
                <a:solidFill>
                  <a:srgbClr val="122767"/>
                </a:solidFill>
                <a:latin typeface="Arial"/>
                <a:cs typeface="Arial"/>
              </a:rPr>
              <a:t>Текстовото </a:t>
            </a:r>
            <a:r>
              <a:rPr sz="2000" spc="-15" dirty="0">
                <a:solidFill>
                  <a:srgbClr val="122767"/>
                </a:solidFill>
                <a:latin typeface="Arial"/>
                <a:cs typeface="Arial"/>
              </a:rPr>
              <a:t>поле </a:t>
            </a:r>
            <a:r>
              <a:rPr sz="2000" dirty="0">
                <a:solidFill>
                  <a:srgbClr val="122767"/>
                </a:solidFill>
                <a:latin typeface="Arial"/>
                <a:cs typeface="Arial"/>
              </a:rPr>
              <a:t>в </a:t>
            </a:r>
            <a:r>
              <a:rPr sz="2000" spc="-10" dirty="0">
                <a:solidFill>
                  <a:srgbClr val="122767"/>
                </a:solidFill>
                <a:latin typeface="Arial"/>
                <a:cs typeface="Arial"/>
              </a:rPr>
              <a:t>браузъра, </a:t>
            </a:r>
            <a:r>
              <a:rPr sz="2000" dirty="0">
                <a:solidFill>
                  <a:srgbClr val="122767"/>
                </a:solidFill>
                <a:latin typeface="Arial"/>
                <a:cs typeface="Arial"/>
              </a:rPr>
              <a:t>в </a:t>
            </a:r>
            <a:r>
              <a:rPr sz="2000" spc="-20" dirty="0">
                <a:solidFill>
                  <a:srgbClr val="122767"/>
                </a:solidFill>
                <a:latin typeface="Arial"/>
                <a:cs typeface="Arial"/>
              </a:rPr>
              <a:t>което </a:t>
            </a:r>
            <a:r>
              <a:rPr sz="2000" spc="-5" dirty="0">
                <a:solidFill>
                  <a:srgbClr val="122767"/>
                </a:solidFill>
                <a:latin typeface="Arial"/>
                <a:cs typeface="Arial"/>
              </a:rPr>
              <a:t>можем да </a:t>
            </a:r>
            <a:r>
              <a:rPr sz="2000" spc="-15" dirty="0">
                <a:solidFill>
                  <a:srgbClr val="122767"/>
                </a:solidFill>
                <a:latin typeface="Arial"/>
                <a:cs typeface="Arial"/>
              </a:rPr>
              <a:t>въвеждаме</a:t>
            </a:r>
            <a:r>
              <a:rPr sz="2000" dirty="0">
                <a:solidFill>
                  <a:srgbClr val="122767"/>
                </a:solidFill>
                <a:latin typeface="Arial"/>
                <a:cs typeface="Arial"/>
              </a:rPr>
              <a:t> </a:t>
            </a:r>
            <a:r>
              <a:rPr sz="2000" spc="-5" dirty="0">
                <a:solidFill>
                  <a:srgbClr val="122767"/>
                </a:solidFill>
                <a:latin typeface="Arial"/>
                <a:cs typeface="Arial"/>
              </a:rPr>
              <a:t>адрес</a:t>
            </a:r>
            <a:endParaRPr sz="2000" dirty="0">
              <a:latin typeface="Arial"/>
              <a:cs typeface="Arial"/>
            </a:endParaRPr>
          </a:p>
          <a:p>
            <a:pPr marL="355600">
              <a:lnSpc>
                <a:spcPct val="100000"/>
              </a:lnSpc>
            </a:pPr>
            <a:r>
              <a:rPr sz="2000" dirty="0">
                <a:solidFill>
                  <a:srgbClr val="122767"/>
                </a:solidFill>
                <a:latin typeface="Arial"/>
                <a:cs typeface="Arial"/>
              </a:rPr>
              <a:t>на </a:t>
            </a:r>
            <a:r>
              <a:rPr sz="2000" spc="-5" dirty="0">
                <a:solidFill>
                  <a:srgbClr val="122767"/>
                </a:solidFill>
                <a:latin typeface="Arial"/>
                <a:cs typeface="Arial"/>
              </a:rPr>
              <a:t>ресурс </a:t>
            </a:r>
            <a:r>
              <a:rPr sz="2000" spc="-40" dirty="0">
                <a:solidFill>
                  <a:srgbClr val="122767"/>
                </a:solidFill>
                <a:latin typeface="Arial"/>
                <a:cs typeface="Arial"/>
              </a:rPr>
              <a:t>(сайт, </a:t>
            </a:r>
            <a:r>
              <a:rPr sz="2000" spc="-5" dirty="0">
                <a:solidFill>
                  <a:srgbClr val="122767"/>
                </a:solidFill>
                <a:latin typeface="Arial"/>
                <a:cs typeface="Arial"/>
              </a:rPr>
              <a:t>видео), </a:t>
            </a:r>
            <a:r>
              <a:rPr sz="2000" dirty="0">
                <a:solidFill>
                  <a:srgbClr val="122767"/>
                </a:solidFill>
                <a:latin typeface="Arial"/>
                <a:cs typeface="Arial"/>
              </a:rPr>
              <a:t>се </a:t>
            </a:r>
            <a:r>
              <a:rPr sz="2000" spc="-5" dirty="0">
                <a:solidFill>
                  <a:srgbClr val="122767"/>
                </a:solidFill>
                <a:latin typeface="Arial"/>
                <a:cs typeface="Arial"/>
              </a:rPr>
              <a:t>нарича </a:t>
            </a:r>
            <a:r>
              <a:rPr sz="2000" b="1" spc="-5" dirty="0">
                <a:solidFill>
                  <a:srgbClr val="FF0000"/>
                </a:solidFill>
                <a:latin typeface="Arial"/>
                <a:cs typeface="Arial"/>
              </a:rPr>
              <a:t>адресно</a:t>
            </a:r>
            <a:r>
              <a:rPr sz="2000" b="1" spc="-114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b="1" spc="-20" dirty="0" err="1">
                <a:solidFill>
                  <a:srgbClr val="FF0000"/>
                </a:solidFill>
                <a:latin typeface="Arial"/>
                <a:cs typeface="Arial"/>
              </a:rPr>
              <a:t>поле</a:t>
            </a:r>
            <a:r>
              <a:rPr sz="2000" b="1" spc="-20" dirty="0">
                <a:solidFill>
                  <a:srgbClr val="FF0000"/>
                </a:solidFill>
                <a:latin typeface="Arial"/>
                <a:cs typeface="Arial"/>
              </a:rPr>
              <a:t>.</a:t>
            </a:r>
            <a:endParaRPr lang="en-US" sz="2000" b="1" spc="-20" dirty="0">
              <a:solidFill>
                <a:srgbClr val="FF0000"/>
              </a:solidFill>
              <a:latin typeface="Arial"/>
              <a:cs typeface="Arial"/>
            </a:endParaRPr>
          </a:p>
          <a:p>
            <a:pPr marL="355600">
              <a:lnSpc>
                <a:spcPct val="100000"/>
              </a:lnSpc>
            </a:pPr>
            <a:endParaRPr sz="2000" dirty="0">
              <a:latin typeface="Arial"/>
              <a:cs typeface="Arial"/>
            </a:endParaRPr>
          </a:p>
          <a:p>
            <a:pPr marL="355600" marR="732155" indent="-343535">
              <a:lnSpc>
                <a:spcPct val="100000"/>
              </a:lnSpc>
              <a:spcBef>
                <a:spcPts val="480"/>
              </a:spcBef>
              <a:buClr>
                <a:srgbClr val="174AB1"/>
              </a:buClr>
              <a:buFont typeface="Wingdings"/>
              <a:buChar char=""/>
              <a:tabLst>
                <a:tab pos="356235" algn="l"/>
              </a:tabLst>
            </a:pPr>
            <a:r>
              <a:rPr sz="2000" dirty="0">
                <a:solidFill>
                  <a:srgbClr val="122767"/>
                </a:solidFill>
                <a:latin typeface="Arial"/>
                <a:cs typeface="Arial"/>
              </a:rPr>
              <a:t>Всеки </a:t>
            </a:r>
            <a:r>
              <a:rPr sz="2000" spc="-10" dirty="0">
                <a:solidFill>
                  <a:srgbClr val="122767"/>
                </a:solidFill>
                <a:latin typeface="Arial"/>
                <a:cs typeface="Arial"/>
              </a:rPr>
              <a:t>ресурс </a:t>
            </a:r>
            <a:r>
              <a:rPr sz="2000" dirty="0">
                <a:solidFill>
                  <a:srgbClr val="122767"/>
                </a:solidFill>
                <a:latin typeface="Arial"/>
                <a:cs typeface="Arial"/>
              </a:rPr>
              <a:t>в </a:t>
            </a:r>
            <a:r>
              <a:rPr sz="2000" spc="-15" dirty="0">
                <a:solidFill>
                  <a:srgbClr val="122767"/>
                </a:solidFill>
                <a:latin typeface="Arial"/>
                <a:cs typeface="Arial"/>
              </a:rPr>
              <a:t>интернет </a:t>
            </a:r>
            <a:r>
              <a:rPr sz="2000" dirty="0">
                <a:solidFill>
                  <a:srgbClr val="122767"/>
                </a:solidFill>
                <a:latin typeface="Arial"/>
                <a:cs typeface="Arial"/>
              </a:rPr>
              <a:t>има уникален </a:t>
            </a:r>
            <a:r>
              <a:rPr sz="2000" spc="-5" dirty="0">
                <a:solidFill>
                  <a:srgbClr val="122767"/>
                </a:solidFill>
                <a:latin typeface="Arial"/>
                <a:cs typeface="Arial"/>
              </a:rPr>
              <a:t>адрес, </a:t>
            </a:r>
            <a:r>
              <a:rPr sz="2000" spc="-10" dirty="0">
                <a:solidFill>
                  <a:srgbClr val="122767"/>
                </a:solidFill>
                <a:latin typeface="Arial"/>
                <a:cs typeface="Arial"/>
              </a:rPr>
              <a:t>наречен </a:t>
            </a:r>
            <a:r>
              <a:rPr sz="2000" b="1" spc="-30" dirty="0">
                <a:solidFill>
                  <a:srgbClr val="FF0000"/>
                </a:solidFill>
                <a:latin typeface="Arial"/>
                <a:cs typeface="Arial"/>
              </a:rPr>
              <a:t>уеб  </a:t>
            </a:r>
            <a:r>
              <a:rPr sz="2000" b="1" spc="-5" dirty="0">
                <a:solidFill>
                  <a:srgbClr val="FF0000"/>
                </a:solidFill>
                <a:latin typeface="Arial"/>
                <a:cs typeface="Arial"/>
              </a:rPr>
              <a:t>адрес.</a:t>
            </a:r>
            <a:endParaRPr sz="20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Clr>
                <a:srgbClr val="174AB1"/>
              </a:buClr>
              <a:buFont typeface="Wingdings"/>
              <a:buChar char=""/>
            </a:pPr>
            <a:endParaRPr sz="2900" dirty="0">
              <a:latin typeface="Times New Roman"/>
              <a:cs typeface="Times New Roman"/>
            </a:endParaRPr>
          </a:p>
          <a:p>
            <a:pPr marL="355600" marR="64135" indent="-343535">
              <a:lnSpc>
                <a:spcPct val="100000"/>
              </a:lnSpc>
              <a:spcBef>
                <a:spcPts val="5"/>
              </a:spcBef>
              <a:buClr>
                <a:srgbClr val="174AB1"/>
              </a:buClr>
              <a:buFont typeface="Wingdings"/>
              <a:buChar char=""/>
              <a:tabLst>
                <a:tab pos="356235" algn="l"/>
              </a:tabLst>
            </a:pPr>
            <a:endParaRPr lang="en-US" sz="2000" dirty="0">
              <a:solidFill>
                <a:srgbClr val="122767"/>
              </a:solidFill>
              <a:latin typeface="Arial"/>
              <a:cs typeface="Arial"/>
            </a:endParaRPr>
          </a:p>
          <a:p>
            <a:pPr marL="355600" marR="64135" indent="-343535">
              <a:lnSpc>
                <a:spcPct val="100000"/>
              </a:lnSpc>
              <a:spcBef>
                <a:spcPts val="5"/>
              </a:spcBef>
              <a:buClr>
                <a:srgbClr val="174AB1"/>
              </a:buClr>
              <a:buFont typeface="Wingdings"/>
              <a:buChar char=""/>
              <a:tabLst>
                <a:tab pos="356235" algn="l"/>
              </a:tabLst>
            </a:pPr>
            <a:r>
              <a:rPr sz="2000" dirty="0">
                <a:solidFill>
                  <a:srgbClr val="122767"/>
                </a:solidFill>
                <a:latin typeface="Arial"/>
                <a:cs typeface="Arial"/>
              </a:rPr>
              <a:t>В </a:t>
            </a:r>
            <a:r>
              <a:rPr sz="2000" spc="-10" dirty="0">
                <a:solidFill>
                  <a:srgbClr val="122767"/>
                </a:solidFill>
                <a:latin typeface="Arial"/>
                <a:cs typeface="Arial"/>
              </a:rPr>
              <a:t>браузърите </a:t>
            </a:r>
            <a:r>
              <a:rPr sz="2000" dirty="0">
                <a:solidFill>
                  <a:srgbClr val="122767"/>
                </a:solidFill>
                <a:latin typeface="Arial"/>
                <a:cs typeface="Arial"/>
              </a:rPr>
              <a:t>се </a:t>
            </a:r>
            <a:r>
              <a:rPr sz="2000" spc="-15" dirty="0">
                <a:solidFill>
                  <a:srgbClr val="122767"/>
                </a:solidFill>
                <a:latin typeface="Arial"/>
                <a:cs typeface="Arial"/>
              </a:rPr>
              <a:t>визуализират </a:t>
            </a:r>
            <a:r>
              <a:rPr sz="2000" b="1" spc="-30" dirty="0">
                <a:solidFill>
                  <a:srgbClr val="FF0000"/>
                </a:solidFill>
                <a:latin typeface="Arial"/>
                <a:cs typeface="Arial"/>
              </a:rPr>
              <a:t>уеб </a:t>
            </a:r>
            <a:r>
              <a:rPr sz="2000" b="1" spc="-10" dirty="0">
                <a:solidFill>
                  <a:srgbClr val="FF0000"/>
                </a:solidFill>
                <a:latin typeface="Arial"/>
                <a:cs typeface="Arial"/>
              </a:rPr>
              <a:t>сайтове</a:t>
            </a:r>
            <a:r>
              <a:rPr sz="2000" spc="-10" dirty="0">
                <a:solidFill>
                  <a:srgbClr val="122767"/>
                </a:solidFill>
                <a:latin typeface="Arial"/>
                <a:cs typeface="Arial"/>
              </a:rPr>
              <a:t>. </a:t>
            </a:r>
            <a:r>
              <a:rPr sz="2000" spc="-45" dirty="0">
                <a:solidFill>
                  <a:srgbClr val="122767"/>
                </a:solidFill>
                <a:latin typeface="Arial"/>
                <a:cs typeface="Arial"/>
              </a:rPr>
              <a:t>Това </a:t>
            </a:r>
            <a:r>
              <a:rPr sz="2000" dirty="0">
                <a:solidFill>
                  <a:srgbClr val="122767"/>
                </a:solidFill>
                <a:latin typeface="Arial"/>
                <a:cs typeface="Arial"/>
              </a:rPr>
              <a:t>е файл  </a:t>
            </a:r>
            <a:r>
              <a:rPr sz="2000" spc="-5" dirty="0">
                <a:solidFill>
                  <a:srgbClr val="122767"/>
                </a:solidFill>
                <a:latin typeface="Arial"/>
                <a:cs typeface="Arial"/>
              </a:rPr>
              <a:t>(документ), </a:t>
            </a:r>
            <a:r>
              <a:rPr sz="2000" dirty="0">
                <a:solidFill>
                  <a:srgbClr val="122767"/>
                </a:solidFill>
                <a:latin typeface="Arial"/>
                <a:cs typeface="Arial"/>
              </a:rPr>
              <a:t>в </a:t>
            </a:r>
            <a:r>
              <a:rPr sz="2000" spc="-5" dirty="0">
                <a:solidFill>
                  <a:srgbClr val="122767"/>
                </a:solidFill>
                <a:latin typeface="Arial"/>
                <a:cs typeface="Arial"/>
              </a:rPr>
              <a:t>който </a:t>
            </a:r>
            <a:r>
              <a:rPr sz="2000" dirty="0">
                <a:solidFill>
                  <a:srgbClr val="122767"/>
                </a:solidFill>
                <a:latin typeface="Arial"/>
                <a:cs typeface="Arial"/>
              </a:rPr>
              <a:t>е </a:t>
            </a:r>
            <a:r>
              <a:rPr sz="2000" spc="-5" dirty="0">
                <a:solidFill>
                  <a:srgbClr val="122767"/>
                </a:solidFill>
                <a:latin typeface="Arial"/>
                <a:cs typeface="Arial"/>
              </a:rPr>
              <a:t>комбинирана </a:t>
            </a:r>
            <a:r>
              <a:rPr sz="2000" dirty="0">
                <a:solidFill>
                  <a:srgbClr val="122767"/>
                </a:solidFill>
                <a:latin typeface="Arial"/>
                <a:cs typeface="Arial"/>
              </a:rPr>
              <a:t>информация </a:t>
            </a:r>
            <a:r>
              <a:rPr sz="2000" spc="-25" dirty="0">
                <a:solidFill>
                  <a:srgbClr val="122767"/>
                </a:solidFill>
                <a:latin typeface="Arial"/>
                <a:cs typeface="Arial"/>
              </a:rPr>
              <a:t>от </a:t>
            </a:r>
            <a:r>
              <a:rPr sz="2000" spc="-10" dirty="0">
                <a:solidFill>
                  <a:srgbClr val="122767"/>
                </a:solidFill>
                <a:latin typeface="Arial"/>
                <a:cs typeface="Arial"/>
              </a:rPr>
              <a:t>различен</a:t>
            </a:r>
            <a:r>
              <a:rPr sz="2000" spc="-110" dirty="0">
                <a:solidFill>
                  <a:srgbClr val="122767"/>
                </a:solidFill>
                <a:latin typeface="Arial"/>
                <a:cs typeface="Arial"/>
              </a:rPr>
              <a:t> </a:t>
            </a:r>
            <a:r>
              <a:rPr sz="2000" spc="-5" dirty="0">
                <a:solidFill>
                  <a:srgbClr val="122767"/>
                </a:solidFill>
                <a:latin typeface="Arial"/>
                <a:cs typeface="Arial"/>
              </a:rPr>
              <a:t>тип</a:t>
            </a:r>
            <a:endParaRPr sz="2000" dirty="0">
              <a:latin typeface="Arial"/>
              <a:cs typeface="Arial"/>
            </a:endParaRPr>
          </a:p>
          <a:p>
            <a:pPr marL="355600">
              <a:lnSpc>
                <a:spcPct val="100000"/>
              </a:lnSpc>
            </a:pPr>
            <a:r>
              <a:rPr sz="2000" dirty="0">
                <a:solidFill>
                  <a:srgbClr val="122767"/>
                </a:solidFill>
                <a:latin typeface="Arial"/>
                <a:cs typeface="Arial"/>
              </a:rPr>
              <a:t>– </a:t>
            </a:r>
            <a:r>
              <a:rPr sz="2000" spc="-10" dirty="0">
                <a:solidFill>
                  <a:srgbClr val="122767"/>
                </a:solidFill>
                <a:latin typeface="Arial"/>
                <a:cs typeface="Arial"/>
              </a:rPr>
              <a:t>текстова, </a:t>
            </a:r>
            <a:r>
              <a:rPr sz="2000" spc="-5" dirty="0">
                <a:solidFill>
                  <a:srgbClr val="122767"/>
                </a:solidFill>
                <a:latin typeface="Arial"/>
                <a:cs typeface="Arial"/>
              </a:rPr>
              <a:t>изображения, </a:t>
            </a:r>
            <a:r>
              <a:rPr sz="2000" spc="-20" dirty="0">
                <a:solidFill>
                  <a:srgbClr val="122767"/>
                </a:solidFill>
                <a:latin typeface="Arial"/>
                <a:cs typeface="Arial"/>
              </a:rPr>
              <a:t>аудио, </a:t>
            </a:r>
            <a:r>
              <a:rPr sz="2000" spc="-5" dirty="0">
                <a:solidFill>
                  <a:srgbClr val="122767"/>
                </a:solidFill>
                <a:latin typeface="Arial"/>
                <a:cs typeface="Arial"/>
              </a:rPr>
              <a:t>видео </a:t>
            </a:r>
            <a:r>
              <a:rPr sz="2000" dirty="0">
                <a:solidFill>
                  <a:srgbClr val="122767"/>
                </a:solidFill>
                <a:latin typeface="Arial"/>
                <a:cs typeface="Arial"/>
              </a:rPr>
              <a:t>и</a:t>
            </a:r>
            <a:r>
              <a:rPr sz="2000" spc="-110" dirty="0">
                <a:solidFill>
                  <a:srgbClr val="122767"/>
                </a:solidFill>
                <a:latin typeface="Arial"/>
                <a:cs typeface="Arial"/>
              </a:rPr>
              <a:t> </a:t>
            </a:r>
            <a:r>
              <a:rPr sz="2000" spc="-5" dirty="0" err="1">
                <a:solidFill>
                  <a:srgbClr val="122767"/>
                </a:solidFill>
                <a:latin typeface="Arial"/>
                <a:cs typeface="Arial"/>
              </a:rPr>
              <a:t>др</a:t>
            </a:r>
            <a:r>
              <a:rPr sz="2000" spc="-5" dirty="0">
                <a:solidFill>
                  <a:srgbClr val="122767"/>
                </a:solidFill>
                <a:latin typeface="Arial"/>
                <a:cs typeface="Arial"/>
              </a:rPr>
              <a:t>.</a:t>
            </a:r>
            <a:endParaRPr lang="en-US" sz="2000" spc="-5" dirty="0">
              <a:solidFill>
                <a:srgbClr val="122767"/>
              </a:solidFill>
              <a:latin typeface="Arial"/>
              <a:cs typeface="Arial"/>
            </a:endParaRPr>
          </a:p>
          <a:p>
            <a:pPr marL="355600">
              <a:lnSpc>
                <a:spcPct val="100000"/>
              </a:lnSpc>
            </a:pPr>
            <a:endParaRPr sz="2000" dirty="0">
              <a:latin typeface="Arial"/>
              <a:cs typeface="Arial"/>
            </a:endParaRPr>
          </a:p>
          <a:p>
            <a:pPr marL="355600" indent="-343535">
              <a:lnSpc>
                <a:spcPct val="100000"/>
              </a:lnSpc>
              <a:spcBef>
                <a:spcPts val="480"/>
              </a:spcBef>
              <a:buClr>
                <a:srgbClr val="174AB1"/>
              </a:buClr>
              <a:buFont typeface="Wingdings"/>
              <a:buChar char=""/>
              <a:tabLst>
                <a:tab pos="356235" algn="l"/>
              </a:tabLst>
            </a:pPr>
            <a:r>
              <a:rPr sz="2000" b="1" spc="-50" dirty="0">
                <a:solidFill>
                  <a:srgbClr val="FF0000"/>
                </a:solidFill>
                <a:latin typeface="Arial"/>
                <a:cs typeface="Arial"/>
              </a:rPr>
              <a:t>Уеб </a:t>
            </a:r>
            <a:r>
              <a:rPr sz="2000" b="1" spc="-5" dirty="0">
                <a:solidFill>
                  <a:srgbClr val="FF0000"/>
                </a:solidFill>
                <a:latin typeface="Arial"/>
                <a:cs typeface="Arial"/>
              </a:rPr>
              <a:t>сайтът </a:t>
            </a:r>
            <a:r>
              <a:rPr sz="2000" dirty="0">
                <a:solidFill>
                  <a:srgbClr val="122767"/>
                </a:solidFill>
                <a:latin typeface="Arial"/>
                <a:cs typeface="Arial"/>
              </a:rPr>
              <a:t>е съвкупност </a:t>
            </a:r>
            <a:r>
              <a:rPr sz="2000" spc="-25" dirty="0">
                <a:solidFill>
                  <a:srgbClr val="122767"/>
                </a:solidFill>
                <a:latin typeface="Arial"/>
                <a:cs typeface="Arial"/>
              </a:rPr>
              <a:t>от </a:t>
            </a:r>
            <a:r>
              <a:rPr sz="2000" b="1" spc="-30" dirty="0">
                <a:solidFill>
                  <a:srgbClr val="FF0000"/>
                </a:solidFill>
                <a:latin typeface="Arial"/>
                <a:cs typeface="Arial"/>
              </a:rPr>
              <a:t>уеб </a:t>
            </a:r>
            <a:r>
              <a:rPr sz="2000" b="1" spc="-5" dirty="0">
                <a:solidFill>
                  <a:srgbClr val="FF0000"/>
                </a:solidFill>
                <a:latin typeface="Arial"/>
                <a:cs typeface="Arial"/>
              </a:rPr>
              <a:t>страници </a:t>
            </a:r>
            <a:r>
              <a:rPr sz="2000" spc="-15" dirty="0">
                <a:solidFill>
                  <a:srgbClr val="122767"/>
                </a:solidFill>
                <a:latin typeface="Arial"/>
                <a:cs typeface="Arial"/>
              </a:rPr>
              <a:t>(интернет</a:t>
            </a:r>
            <a:r>
              <a:rPr sz="2000" spc="55" dirty="0">
                <a:solidFill>
                  <a:srgbClr val="122767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122767"/>
                </a:solidFill>
                <a:latin typeface="Arial"/>
                <a:cs typeface="Arial"/>
              </a:rPr>
              <a:t>страници),</a:t>
            </a:r>
            <a:endParaRPr sz="2000" dirty="0">
              <a:latin typeface="Arial"/>
              <a:cs typeface="Arial"/>
            </a:endParaRPr>
          </a:p>
          <a:p>
            <a:pPr marL="355600">
              <a:lnSpc>
                <a:spcPct val="100000"/>
              </a:lnSpc>
            </a:pPr>
            <a:r>
              <a:rPr sz="2000" spc="-5" dirty="0">
                <a:solidFill>
                  <a:srgbClr val="122767"/>
                </a:solidFill>
                <a:latin typeface="Arial"/>
                <a:cs typeface="Arial"/>
              </a:rPr>
              <a:t>които оформят често </a:t>
            </a:r>
            <a:r>
              <a:rPr sz="2000" dirty="0">
                <a:solidFill>
                  <a:srgbClr val="122767"/>
                </a:solidFill>
                <a:latin typeface="Arial"/>
                <a:cs typeface="Arial"/>
              </a:rPr>
              <a:t>срещани </a:t>
            </a:r>
            <a:r>
              <a:rPr sz="2000" spc="-20" dirty="0">
                <a:solidFill>
                  <a:srgbClr val="122767"/>
                </a:solidFill>
                <a:latin typeface="Arial"/>
                <a:cs typeface="Arial"/>
              </a:rPr>
              <a:t>раздели: </a:t>
            </a:r>
            <a:r>
              <a:rPr sz="2000" dirty="0">
                <a:solidFill>
                  <a:srgbClr val="122767"/>
                </a:solidFill>
                <a:latin typeface="Arial"/>
                <a:cs typeface="Arial"/>
              </a:rPr>
              <a:t>„За </a:t>
            </a:r>
            <a:r>
              <a:rPr sz="2000" spc="5" dirty="0">
                <a:solidFill>
                  <a:srgbClr val="122767"/>
                </a:solidFill>
                <a:latin typeface="Arial"/>
                <a:cs typeface="Arial"/>
              </a:rPr>
              <a:t>нас“,</a:t>
            </a:r>
            <a:r>
              <a:rPr sz="2000" spc="-165" dirty="0">
                <a:solidFill>
                  <a:srgbClr val="122767"/>
                </a:solidFill>
                <a:latin typeface="Arial"/>
                <a:cs typeface="Arial"/>
              </a:rPr>
              <a:t> </a:t>
            </a:r>
            <a:r>
              <a:rPr sz="2000" spc="-5" dirty="0">
                <a:solidFill>
                  <a:srgbClr val="122767"/>
                </a:solidFill>
                <a:latin typeface="Arial"/>
                <a:cs typeface="Arial"/>
              </a:rPr>
              <a:t>„Новини“,</a:t>
            </a:r>
            <a:endParaRPr sz="2000" dirty="0">
              <a:latin typeface="Arial"/>
              <a:cs typeface="Arial"/>
            </a:endParaRPr>
          </a:p>
          <a:p>
            <a:pPr marL="355600">
              <a:lnSpc>
                <a:spcPct val="100000"/>
              </a:lnSpc>
            </a:pPr>
            <a:r>
              <a:rPr sz="2000" spc="-5" dirty="0">
                <a:solidFill>
                  <a:srgbClr val="122767"/>
                </a:solidFill>
                <a:latin typeface="Arial"/>
                <a:cs typeface="Arial"/>
              </a:rPr>
              <a:t>„Контакти“ </a:t>
            </a:r>
            <a:r>
              <a:rPr sz="2000" dirty="0">
                <a:solidFill>
                  <a:srgbClr val="122767"/>
                </a:solidFill>
                <a:latin typeface="Arial"/>
                <a:cs typeface="Arial"/>
              </a:rPr>
              <a:t>и</a:t>
            </a:r>
            <a:r>
              <a:rPr sz="2000" spc="-55" dirty="0">
                <a:solidFill>
                  <a:srgbClr val="122767"/>
                </a:solidFill>
                <a:latin typeface="Arial"/>
                <a:cs typeface="Arial"/>
              </a:rPr>
              <a:t> </a:t>
            </a:r>
            <a:r>
              <a:rPr sz="2000" spc="-5" dirty="0">
                <a:solidFill>
                  <a:srgbClr val="122767"/>
                </a:solidFill>
                <a:latin typeface="Arial"/>
                <a:cs typeface="Arial"/>
              </a:rPr>
              <a:t>др.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945919" y="2971800"/>
            <a:ext cx="6566917" cy="49531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8171688" y="188976"/>
            <a:ext cx="792480" cy="431800"/>
          </a:xfrm>
          <a:custGeom>
            <a:avLst/>
            <a:gdLst/>
            <a:ahLst/>
            <a:cxnLst/>
            <a:rect l="l" t="t" r="r" b="b"/>
            <a:pathLst>
              <a:path w="792479" h="431800">
                <a:moveTo>
                  <a:pt x="396239" y="0"/>
                </a:moveTo>
                <a:lnTo>
                  <a:pt x="337690" y="2337"/>
                </a:lnTo>
                <a:lnTo>
                  <a:pt x="281806" y="9127"/>
                </a:lnTo>
                <a:lnTo>
                  <a:pt x="229202" y="20038"/>
                </a:lnTo>
                <a:lnTo>
                  <a:pt x="180490" y="34734"/>
                </a:lnTo>
                <a:lnTo>
                  <a:pt x="136284" y="52884"/>
                </a:lnTo>
                <a:lnTo>
                  <a:pt x="97196" y="74155"/>
                </a:lnTo>
                <a:lnTo>
                  <a:pt x="63840" y="98212"/>
                </a:lnTo>
                <a:lnTo>
                  <a:pt x="16777" y="153354"/>
                </a:lnTo>
                <a:lnTo>
                  <a:pt x="0" y="215646"/>
                </a:lnTo>
                <a:lnTo>
                  <a:pt x="4296" y="247518"/>
                </a:lnTo>
                <a:lnTo>
                  <a:pt x="36830" y="306569"/>
                </a:lnTo>
                <a:lnTo>
                  <a:pt x="97196" y="357136"/>
                </a:lnTo>
                <a:lnTo>
                  <a:pt x="136284" y="378407"/>
                </a:lnTo>
                <a:lnTo>
                  <a:pt x="180490" y="396557"/>
                </a:lnTo>
                <a:lnTo>
                  <a:pt x="229202" y="411253"/>
                </a:lnTo>
                <a:lnTo>
                  <a:pt x="281806" y="422164"/>
                </a:lnTo>
                <a:lnTo>
                  <a:pt x="337690" y="428954"/>
                </a:lnTo>
                <a:lnTo>
                  <a:pt x="396239" y="431291"/>
                </a:lnTo>
                <a:lnTo>
                  <a:pt x="454789" y="428954"/>
                </a:lnTo>
                <a:lnTo>
                  <a:pt x="510673" y="422164"/>
                </a:lnTo>
                <a:lnTo>
                  <a:pt x="563277" y="411253"/>
                </a:lnTo>
                <a:lnTo>
                  <a:pt x="611989" y="396557"/>
                </a:lnTo>
                <a:lnTo>
                  <a:pt x="656195" y="378407"/>
                </a:lnTo>
                <a:lnTo>
                  <a:pt x="695283" y="357136"/>
                </a:lnTo>
                <a:lnTo>
                  <a:pt x="728639" y="333079"/>
                </a:lnTo>
                <a:lnTo>
                  <a:pt x="775702" y="277937"/>
                </a:lnTo>
                <a:lnTo>
                  <a:pt x="792479" y="215646"/>
                </a:lnTo>
                <a:lnTo>
                  <a:pt x="788183" y="183773"/>
                </a:lnTo>
                <a:lnTo>
                  <a:pt x="755649" y="124722"/>
                </a:lnTo>
                <a:lnTo>
                  <a:pt x="695283" y="74155"/>
                </a:lnTo>
                <a:lnTo>
                  <a:pt x="656195" y="52884"/>
                </a:lnTo>
                <a:lnTo>
                  <a:pt x="611989" y="34734"/>
                </a:lnTo>
                <a:lnTo>
                  <a:pt x="563277" y="20038"/>
                </a:lnTo>
                <a:lnTo>
                  <a:pt x="510673" y="9127"/>
                </a:lnTo>
                <a:lnTo>
                  <a:pt x="454789" y="2337"/>
                </a:lnTo>
                <a:lnTo>
                  <a:pt x="39623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86054" rIns="0" bIns="0" rtlCol="0">
            <a:spAutoFit/>
          </a:bodyPr>
          <a:lstStyle/>
          <a:p>
            <a:pPr marL="5374005">
              <a:lnSpc>
                <a:spcPct val="100000"/>
              </a:lnSpc>
              <a:spcBef>
                <a:spcPts val="135"/>
              </a:spcBef>
            </a:pPr>
            <a:r>
              <a:rPr sz="2000" spc="-455" dirty="0"/>
              <a:t>LO</a:t>
            </a:r>
            <a:r>
              <a:rPr sz="2700" b="0" spc="-682" baseline="10802" dirty="0">
                <a:solidFill>
                  <a:srgbClr val="FCEC1C"/>
                </a:solidFill>
                <a:latin typeface="Arial"/>
                <a:cs typeface="Arial"/>
              </a:rPr>
              <a:t>T</a:t>
            </a:r>
            <a:r>
              <a:rPr sz="3150" b="0" spc="-682" baseline="-11904" dirty="0">
                <a:solidFill>
                  <a:srgbClr val="FCEC1C"/>
                </a:solidFill>
                <a:latin typeface="Arial"/>
                <a:cs typeface="Arial"/>
              </a:rPr>
              <a:t>G</a:t>
            </a:r>
            <a:r>
              <a:rPr sz="2000" spc="-455" dirty="0"/>
              <a:t>GO</a:t>
            </a:r>
            <a:endParaRPr sz="2000">
              <a:latin typeface="Arial"/>
              <a:cs typeface="Arial"/>
            </a:endParaRPr>
          </a:p>
        </p:txBody>
      </p:sp>
      <p:sp>
        <p:nvSpPr>
          <p:cNvPr id="15" name="Овал 14"/>
          <p:cNvSpPr/>
          <p:nvPr/>
        </p:nvSpPr>
        <p:spPr>
          <a:xfrm>
            <a:off x="8087393" y="76200"/>
            <a:ext cx="961070" cy="556577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3" name="Текстово поле 3">
            <a:extLst>
              <a:ext uri="{FF2B5EF4-FFF2-40B4-BE49-F238E27FC236}">
                <a16:creationId xmlns:a16="http://schemas.microsoft.com/office/drawing/2014/main" id="{DF8CB43C-F74D-C843-856A-3FE2ACB76C05}"/>
              </a:ext>
            </a:extLst>
          </p:cNvPr>
          <p:cNvSpPr txBox="1"/>
          <p:nvPr/>
        </p:nvSpPr>
        <p:spPr>
          <a:xfrm>
            <a:off x="2849626" y="6519446"/>
            <a:ext cx="47290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bg-BG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bg-BG" sz="1600" dirty="0"/>
              <a:t>КМИТ, 5 клас, Елена Маврова-Ненкова</a:t>
            </a:r>
          </a:p>
        </p:txBody>
      </p:sp>
      <p:pic>
        <p:nvPicPr>
          <p:cNvPr id="16" name="Picture 15" descr="_em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5943600"/>
            <a:ext cx="868680" cy="90529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4800" y="584403"/>
            <a:ext cx="883920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102610">
              <a:lnSpc>
                <a:spcPct val="100000"/>
              </a:lnSpc>
              <a:spcBef>
                <a:spcPts val="105"/>
              </a:spcBef>
            </a:pPr>
            <a:r>
              <a:rPr sz="3200" b="1" spc="-6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РАБОТА </a:t>
            </a:r>
            <a:r>
              <a:rPr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С</a:t>
            </a:r>
            <a:r>
              <a:rPr sz="3200" b="1" spc="25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 </a:t>
            </a:r>
            <a:r>
              <a:rPr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ИНТЕРНЕТ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457200" y="2009573"/>
            <a:ext cx="7991475" cy="35020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163830" indent="-343535">
              <a:lnSpc>
                <a:spcPct val="100000"/>
              </a:lnSpc>
              <a:spcBef>
                <a:spcPts val="105"/>
              </a:spcBef>
              <a:buClr>
                <a:srgbClr val="174AB1"/>
              </a:buClr>
              <a:buFont typeface="Wingdings"/>
              <a:buChar char=""/>
              <a:tabLst>
                <a:tab pos="356235" algn="l"/>
              </a:tabLst>
            </a:pPr>
            <a:r>
              <a:rPr sz="2000" dirty="0">
                <a:solidFill>
                  <a:srgbClr val="122767"/>
                </a:solidFill>
                <a:latin typeface="Arial"/>
                <a:cs typeface="Arial"/>
              </a:rPr>
              <a:t>На </a:t>
            </a:r>
            <a:r>
              <a:rPr sz="2000" spc="-20" dirty="0">
                <a:solidFill>
                  <a:srgbClr val="122767"/>
                </a:solidFill>
                <a:latin typeface="Arial"/>
                <a:cs typeface="Arial"/>
              </a:rPr>
              <a:t>нивото </a:t>
            </a:r>
            <a:r>
              <a:rPr sz="2000" spc="-5" dirty="0">
                <a:solidFill>
                  <a:srgbClr val="122767"/>
                </a:solidFill>
                <a:latin typeface="Arial"/>
                <a:cs typeface="Arial"/>
              </a:rPr>
              <a:t>на </a:t>
            </a:r>
            <a:r>
              <a:rPr sz="2000" spc="-15" dirty="0">
                <a:solidFill>
                  <a:srgbClr val="122767"/>
                </a:solidFill>
                <a:latin typeface="Arial"/>
                <a:cs typeface="Arial"/>
              </a:rPr>
              <a:t>адресното поле </a:t>
            </a:r>
            <a:r>
              <a:rPr sz="2000" dirty="0">
                <a:solidFill>
                  <a:srgbClr val="122767"/>
                </a:solidFill>
                <a:latin typeface="Arial"/>
                <a:cs typeface="Arial"/>
              </a:rPr>
              <a:t>има </a:t>
            </a:r>
            <a:r>
              <a:rPr sz="2000" spc="-5" dirty="0">
                <a:solidFill>
                  <a:srgbClr val="122767"/>
                </a:solidFill>
                <a:latin typeface="Arial"/>
                <a:cs typeface="Arial"/>
              </a:rPr>
              <a:t>набор </a:t>
            </a:r>
            <a:r>
              <a:rPr sz="2000" spc="-25" dirty="0">
                <a:solidFill>
                  <a:srgbClr val="122767"/>
                </a:solidFill>
                <a:latin typeface="Arial"/>
                <a:cs typeface="Arial"/>
              </a:rPr>
              <a:t>от </a:t>
            </a:r>
            <a:r>
              <a:rPr sz="2000" spc="-15" dirty="0">
                <a:solidFill>
                  <a:srgbClr val="122767"/>
                </a:solidFill>
                <a:latin typeface="Arial"/>
                <a:cs typeface="Arial"/>
              </a:rPr>
              <a:t>бутони </a:t>
            </a:r>
            <a:r>
              <a:rPr sz="2000" b="1" dirty="0">
                <a:solidFill>
                  <a:srgbClr val="FF0000"/>
                </a:solidFill>
                <a:latin typeface="Arial"/>
                <a:cs typeface="Arial"/>
              </a:rPr>
              <a:t>(Back,  Forward, Refresh или Reload</a:t>
            </a:r>
            <a:r>
              <a:rPr sz="2000" dirty="0">
                <a:solidFill>
                  <a:srgbClr val="122767"/>
                </a:solidFill>
                <a:latin typeface="Arial"/>
                <a:cs typeface="Arial"/>
              </a:rPr>
              <a:t>), с </a:t>
            </a:r>
            <a:r>
              <a:rPr sz="2000" spc="-5" dirty="0">
                <a:solidFill>
                  <a:srgbClr val="122767"/>
                </a:solidFill>
                <a:latin typeface="Arial"/>
                <a:cs typeface="Arial"/>
              </a:rPr>
              <a:t>които може </a:t>
            </a:r>
            <a:r>
              <a:rPr sz="2000" dirty="0">
                <a:solidFill>
                  <a:srgbClr val="122767"/>
                </a:solidFill>
                <a:latin typeface="Arial"/>
                <a:cs typeface="Arial"/>
              </a:rPr>
              <a:t>да </a:t>
            </a:r>
            <a:r>
              <a:rPr sz="2000" spc="-5" dirty="0">
                <a:solidFill>
                  <a:srgbClr val="122767"/>
                </a:solidFill>
                <a:latin typeface="Arial"/>
                <a:cs typeface="Arial"/>
              </a:rPr>
              <a:t>придвижваме  </a:t>
            </a:r>
            <a:r>
              <a:rPr sz="2000" dirty="0">
                <a:solidFill>
                  <a:srgbClr val="122767"/>
                </a:solidFill>
                <a:latin typeface="Arial"/>
                <a:cs typeface="Arial"/>
              </a:rPr>
              <a:t>страница </a:t>
            </a:r>
            <a:r>
              <a:rPr sz="2000" spc="-10" dirty="0">
                <a:solidFill>
                  <a:srgbClr val="122767"/>
                </a:solidFill>
                <a:latin typeface="Arial"/>
                <a:cs typeface="Arial"/>
              </a:rPr>
              <a:t>назад/напред </a:t>
            </a:r>
            <a:r>
              <a:rPr sz="2000" spc="-5" dirty="0">
                <a:solidFill>
                  <a:srgbClr val="122767"/>
                </a:solidFill>
                <a:latin typeface="Arial"/>
                <a:cs typeface="Arial"/>
              </a:rPr>
              <a:t>или да </a:t>
            </a:r>
            <a:r>
              <a:rPr sz="2000" spc="-10" dirty="0">
                <a:solidFill>
                  <a:srgbClr val="122767"/>
                </a:solidFill>
                <a:latin typeface="Arial"/>
                <a:cs typeface="Arial"/>
              </a:rPr>
              <a:t>презареждаме </a:t>
            </a:r>
            <a:r>
              <a:rPr sz="2000" spc="-5" dirty="0">
                <a:solidFill>
                  <a:srgbClr val="122767"/>
                </a:solidFill>
                <a:latin typeface="Arial"/>
                <a:cs typeface="Arial"/>
              </a:rPr>
              <a:t>информацията </a:t>
            </a:r>
            <a:r>
              <a:rPr sz="2000" dirty="0">
                <a:solidFill>
                  <a:srgbClr val="122767"/>
                </a:solidFill>
                <a:latin typeface="Arial"/>
                <a:cs typeface="Arial"/>
              </a:rPr>
              <a:t>в  </a:t>
            </a:r>
            <a:r>
              <a:rPr sz="2000" spc="-5" dirty="0">
                <a:solidFill>
                  <a:srgbClr val="122767"/>
                </a:solidFill>
                <a:latin typeface="Arial"/>
                <a:cs typeface="Arial"/>
              </a:rPr>
              <a:t>сайта.</a:t>
            </a:r>
            <a:endParaRPr sz="2000" dirty="0">
              <a:latin typeface="Arial"/>
              <a:cs typeface="Arial"/>
            </a:endParaRPr>
          </a:p>
          <a:p>
            <a:pPr marL="355600" marR="235585" indent="-343535">
              <a:lnSpc>
                <a:spcPct val="100000"/>
              </a:lnSpc>
              <a:spcBef>
                <a:spcPts val="480"/>
              </a:spcBef>
              <a:buClr>
                <a:srgbClr val="174AB1"/>
              </a:buClr>
              <a:buFont typeface="Wingdings"/>
              <a:buChar char=""/>
              <a:tabLst>
                <a:tab pos="356235" algn="l"/>
              </a:tabLst>
            </a:pPr>
            <a:r>
              <a:rPr sz="2000" b="1" spc="-5" dirty="0">
                <a:solidFill>
                  <a:srgbClr val="FF0000"/>
                </a:solidFill>
                <a:latin typeface="Arial"/>
                <a:cs typeface="Arial"/>
              </a:rPr>
              <a:t>Хипервръзката </a:t>
            </a:r>
            <a:r>
              <a:rPr sz="2000" dirty="0">
                <a:solidFill>
                  <a:srgbClr val="122767"/>
                </a:solidFill>
                <a:latin typeface="Arial"/>
                <a:cs typeface="Arial"/>
              </a:rPr>
              <a:t>е специален </a:t>
            </a:r>
            <a:r>
              <a:rPr sz="2000" spc="-5" dirty="0">
                <a:solidFill>
                  <a:srgbClr val="122767"/>
                </a:solidFill>
                <a:latin typeface="Arial"/>
                <a:cs typeface="Arial"/>
              </a:rPr>
              <a:t>текст или </a:t>
            </a:r>
            <a:r>
              <a:rPr sz="2000" spc="-40" dirty="0">
                <a:solidFill>
                  <a:srgbClr val="122767"/>
                </a:solidFill>
                <a:latin typeface="Arial"/>
                <a:cs typeface="Arial"/>
              </a:rPr>
              <a:t>обект, </a:t>
            </a:r>
            <a:r>
              <a:rPr sz="2000" spc="-5" dirty="0">
                <a:solidFill>
                  <a:srgbClr val="122767"/>
                </a:solidFill>
                <a:latin typeface="Arial"/>
                <a:cs typeface="Arial"/>
              </a:rPr>
              <a:t>при </a:t>
            </a:r>
            <a:r>
              <a:rPr sz="2000" spc="-15" dirty="0">
                <a:solidFill>
                  <a:srgbClr val="122767"/>
                </a:solidFill>
                <a:latin typeface="Arial"/>
                <a:cs typeface="Arial"/>
              </a:rPr>
              <a:t>щракването  </a:t>
            </a:r>
            <a:r>
              <a:rPr sz="2000" spc="-5" dirty="0">
                <a:solidFill>
                  <a:srgbClr val="122767"/>
                </a:solidFill>
                <a:latin typeface="Arial"/>
                <a:cs typeface="Arial"/>
              </a:rPr>
              <a:t>на който </a:t>
            </a:r>
            <a:r>
              <a:rPr sz="2000" dirty="0">
                <a:solidFill>
                  <a:srgbClr val="122767"/>
                </a:solidFill>
                <a:latin typeface="Arial"/>
                <a:cs typeface="Arial"/>
              </a:rPr>
              <a:t>се </a:t>
            </a:r>
            <a:r>
              <a:rPr sz="2000" spc="-15" dirty="0">
                <a:solidFill>
                  <a:srgbClr val="122767"/>
                </a:solidFill>
                <a:latin typeface="Arial"/>
                <a:cs typeface="Arial"/>
              </a:rPr>
              <a:t>препращате </a:t>
            </a:r>
            <a:r>
              <a:rPr sz="2000" spc="-5" dirty="0">
                <a:solidFill>
                  <a:srgbClr val="122767"/>
                </a:solidFill>
                <a:latin typeface="Arial"/>
                <a:cs typeface="Arial"/>
              </a:rPr>
              <a:t>към </a:t>
            </a:r>
            <a:r>
              <a:rPr sz="2000" spc="-10" dirty="0">
                <a:solidFill>
                  <a:srgbClr val="122767"/>
                </a:solidFill>
                <a:latin typeface="Arial"/>
                <a:cs typeface="Arial"/>
              </a:rPr>
              <a:t>друг </a:t>
            </a:r>
            <a:r>
              <a:rPr sz="2000" spc="-15" dirty="0">
                <a:solidFill>
                  <a:srgbClr val="122767"/>
                </a:solidFill>
                <a:latin typeface="Arial"/>
                <a:cs typeface="Arial"/>
              </a:rPr>
              <a:t>елемент </a:t>
            </a:r>
            <a:r>
              <a:rPr sz="2000" dirty="0">
                <a:solidFill>
                  <a:srgbClr val="122767"/>
                </a:solidFill>
                <a:latin typeface="Arial"/>
                <a:cs typeface="Arial"/>
              </a:rPr>
              <a:t>в същия </a:t>
            </a:r>
            <a:r>
              <a:rPr sz="2000" spc="-5" dirty="0">
                <a:solidFill>
                  <a:srgbClr val="122767"/>
                </a:solidFill>
                <a:latin typeface="Arial"/>
                <a:cs typeface="Arial"/>
              </a:rPr>
              <a:t>или </a:t>
            </a:r>
            <a:r>
              <a:rPr sz="2000" spc="-10" dirty="0">
                <a:solidFill>
                  <a:srgbClr val="122767"/>
                </a:solidFill>
                <a:latin typeface="Arial"/>
                <a:cs typeface="Arial"/>
              </a:rPr>
              <a:t>друг  </a:t>
            </a:r>
            <a:r>
              <a:rPr sz="2000" spc="-5" dirty="0">
                <a:solidFill>
                  <a:srgbClr val="122767"/>
                </a:solidFill>
                <a:latin typeface="Arial"/>
                <a:cs typeface="Arial"/>
              </a:rPr>
              <a:t>документ </a:t>
            </a:r>
            <a:r>
              <a:rPr sz="2000" dirty="0">
                <a:solidFill>
                  <a:srgbClr val="122767"/>
                </a:solidFill>
                <a:latin typeface="Arial"/>
                <a:cs typeface="Arial"/>
              </a:rPr>
              <a:t>(фрагмент </a:t>
            </a:r>
            <a:r>
              <a:rPr sz="2000" spc="-25" dirty="0">
                <a:solidFill>
                  <a:srgbClr val="122767"/>
                </a:solidFill>
                <a:latin typeface="Arial"/>
                <a:cs typeface="Arial"/>
              </a:rPr>
              <a:t>от </a:t>
            </a:r>
            <a:r>
              <a:rPr sz="2000" spc="-40" dirty="0">
                <a:solidFill>
                  <a:srgbClr val="122767"/>
                </a:solidFill>
                <a:latin typeface="Arial"/>
                <a:cs typeface="Arial"/>
              </a:rPr>
              <a:t>текст, </a:t>
            </a:r>
            <a:r>
              <a:rPr sz="2000" spc="-5" dirty="0">
                <a:solidFill>
                  <a:srgbClr val="122767"/>
                </a:solidFill>
                <a:latin typeface="Arial"/>
                <a:cs typeface="Arial"/>
              </a:rPr>
              <a:t>изображение, видео </a:t>
            </a:r>
            <a:r>
              <a:rPr sz="2000" dirty="0">
                <a:solidFill>
                  <a:srgbClr val="122767"/>
                </a:solidFill>
                <a:latin typeface="Arial"/>
                <a:cs typeface="Arial"/>
              </a:rPr>
              <a:t>и  </a:t>
            </a:r>
            <a:r>
              <a:rPr sz="2000" spc="-10" dirty="0">
                <a:solidFill>
                  <a:srgbClr val="122767"/>
                </a:solidFill>
                <a:latin typeface="Arial"/>
                <a:cs typeface="Arial"/>
              </a:rPr>
              <a:t>аудиоклипове) </a:t>
            </a:r>
            <a:r>
              <a:rPr sz="2000" spc="-5" dirty="0">
                <a:solidFill>
                  <a:srgbClr val="122767"/>
                </a:solidFill>
                <a:latin typeface="Arial"/>
                <a:cs typeface="Arial"/>
              </a:rPr>
              <a:t>или </a:t>
            </a:r>
            <a:r>
              <a:rPr sz="2000" spc="-15" dirty="0">
                <a:solidFill>
                  <a:srgbClr val="122767"/>
                </a:solidFill>
                <a:latin typeface="Arial"/>
                <a:cs typeface="Arial"/>
              </a:rPr>
              <a:t>извън </a:t>
            </a:r>
            <a:r>
              <a:rPr sz="2000" spc="-5" dirty="0">
                <a:solidFill>
                  <a:srgbClr val="122767"/>
                </a:solidFill>
                <a:latin typeface="Arial"/>
                <a:cs typeface="Arial"/>
              </a:rPr>
              <a:t>документа (файл,софтуер </a:t>
            </a:r>
            <a:r>
              <a:rPr sz="2000" dirty="0">
                <a:solidFill>
                  <a:srgbClr val="122767"/>
                </a:solidFill>
                <a:latin typeface="Arial"/>
                <a:cs typeface="Arial"/>
              </a:rPr>
              <a:t>и</a:t>
            </a:r>
            <a:r>
              <a:rPr sz="2000" spc="-105" dirty="0">
                <a:solidFill>
                  <a:srgbClr val="122767"/>
                </a:solidFill>
                <a:latin typeface="Arial"/>
                <a:cs typeface="Arial"/>
              </a:rPr>
              <a:t> </a:t>
            </a:r>
            <a:r>
              <a:rPr sz="2000" spc="-5" dirty="0">
                <a:solidFill>
                  <a:srgbClr val="122767"/>
                </a:solidFill>
                <a:latin typeface="Arial"/>
                <a:cs typeface="Arial"/>
              </a:rPr>
              <a:t>др.).</a:t>
            </a:r>
            <a:endParaRPr sz="2000" dirty="0">
              <a:latin typeface="Arial"/>
              <a:cs typeface="Arial"/>
            </a:endParaRPr>
          </a:p>
          <a:p>
            <a:pPr marL="355600" marR="5080" indent="-343535">
              <a:lnSpc>
                <a:spcPct val="100000"/>
              </a:lnSpc>
              <a:spcBef>
                <a:spcPts val="484"/>
              </a:spcBef>
              <a:buClr>
                <a:srgbClr val="174AB1"/>
              </a:buClr>
              <a:buFont typeface="Wingdings"/>
              <a:buChar char=""/>
              <a:tabLst>
                <a:tab pos="356235" algn="l"/>
              </a:tabLst>
            </a:pPr>
            <a:r>
              <a:rPr sz="2000" spc="-5" dirty="0">
                <a:solidFill>
                  <a:srgbClr val="122767"/>
                </a:solidFill>
                <a:latin typeface="Arial"/>
                <a:cs typeface="Arial"/>
              </a:rPr>
              <a:t>Понякога </a:t>
            </a:r>
            <a:r>
              <a:rPr sz="2000" dirty="0">
                <a:solidFill>
                  <a:srgbClr val="122767"/>
                </a:solidFill>
                <a:latin typeface="Arial"/>
                <a:cs typeface="Arial"/>
              </a:rPr>
              <a:t>е </a:t>
            </a:r>
            <a:r>
              <a:rPr sz="2000" spc="-20" dirty="0">
                <a:solidFill>
                  <a:srgbClr val="122767"/>
                </a:solidFill>
                <a:latin typeface="Arial"/>
                <a:cs typeface="Arial"/>
              </a:rPr>
              <a:t>необходимо </a:t>
            </a:r>
            <a:r>
              <a:rPr sz="2000" spc="-5" dirty="0">
                <a:solidFill>
                  <a:srgbClr val="122767"/>
                </a:solidFill>
                <a:latin typeface="Arial"/>
                <a:cs typeface="Arial"/>
              </a:rPr>
              <a:t>да </a:t>
            </a:r>
            <a:r>
              <a:rPr sz="2000" dirty="0">
                <a:solidFill>
                  <a:srgbClr val="122767"/>
                </a:solidFill>
                <a:latin typeface="Arial"/>
                <a:cs typeface="Arial"/>
              </a:rPr>
              <a:t>се </a:t>
            </a:r>
            <a:r>
              <a:rPr sz="2000" spc="-15" dirty="0">
                <a:solidFill>
                  <a:srgbClr val="122767"/>
                </a:solidFill>
                <a:latin typeface="Arial"/>
                <a:cs typeface="Arial"/>
              </a:rPr>
              <a:t>увеличи </a:t>
            </a:r>
            <a:r>
              <a:rPr sz="2000" spc="-40" dirty="0">
                <a:solidFill>
                  <a:srgbClr val="122767"/>
                </a:solidFill>
                <a:latin typeface="Arial"/>
                <a:cs typeface="Arial"/>
              </a:rPr>
              <a:t>образът, </a:t>
            </a:r>
            <a:r>
              <a:rPr sz="2000" spc="-5" dirty="0">
                <a:solidFill>
                  <a:srgbClr val="122767"/>
                </a:solidFill>
                <a:latin typeface="Arial"/>
                <a:cs typeface="Arial"/>
              </a:rPr>
              <a:t>който виждаме </a:t>
            </a:r>
            <a:r>
              <a:rPr sz="2000" dirty="0">
                <a:solidFill>
                  <a:srgbClr val="122767"/>
                </a:solidFill>
                <a:latin typeface="Arial"/>
                <a:cs typeface="Arial"/>
              </a:rPr>
              <a:t>в  </a:t>
            </a:r>
            <a:r>
              <a:rPr sz="2000" spc="-10" dirty="0">
                <a:solidFill>
                  <a:srgbClr val="122767"/>
                </a:solidFill>
                <a:latin typeface="Arial"/>
                <a:cs typeface="Arial"/>
              </a:rPr>
              <a:t>браузъра. </a:t>
            </a:r>
            <a:r>
              <a:rPr sz="2000" dirty="0">
                <a:solidFill>
                  <a:srgbClr val="122767"/>
                </a:solidFill>
                <a:latin typeface="Arial"/>
                <a:cs typeface="Arial"/>
              </a:rPr>
              <a:t>За </a:t>
            </a:r>
            <a:r>
              <a:rPr sz="2000" spc="-30" dirty="0">
                <a:solidFill>
                  <a:srgbClr val="122767"/>
                </a:solidFill>
                <a:latin typeface="Arial"/>
                <a:cs typeface="Arial"/>
              </a:rPr>
              <a:t>целта </a:t>
            </a:r>
            <a:r>
              <a:rPr sz="2000" spc="-5" dirty="0">
                <a:solidFill>
                  <a:srgbClr val="122767"/>
                </a:solidFill>
                <a:latin typeface="Arial"/>
                <a:cs typeface="Arial"/>
              </a:rPr>
              <a:t>може да </a:t>
            </a:r>
            <a:r>
              <a:rPr sz="2000" spc="-10" dirty="0">
                <a:solidFill>
                  <a:srgbClr val="122767"/>
                </a:solidFill>
                <a:latin typeface="Arial"/>
                <a:cs typeface="Arial"/>
              </a:rPr>
              <a:t>използваме</a:t>
            </a:r>
            <a:r>
              <a:rPr sz="2000" spc="-65" dirty="0">
                <a:solidFill>
                  <a:srgbClr val="122767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122767"/>
                </a:solidFill>
                <a:latin typeface="Arial"/>
                <a:cs typeface="Arial"/>
              </a:rPr>
              <a:t>клавишната</a:t>
            </a:r>
            <a:endParaRPr sz="2000" dirty="0">
              <a:latin typeface="Arial"/>
              <a:cs typeface="Arial"/>
            </a:endParaRPr>
          </a:p>
          <a:p>
            <a:pPr marL="355600">
              <a:lnSpc>
                <a:spcPct val="100000"/>
              </a:lnSpc>
            </a:pPr>
            <a:r>
              <a:rPr sz="2000" dirty="0">
                <a:solidFill>
                  <a:srgbClr val="122767"/>
                </a:solidFill>
                <a:latin typeface="Arial"/>
                <a:cs typeface="Arial"/>
              </a:rPr>
              <a:t>комбинация </a:t>
            </a:r>
            <a:r>
              <a:rPr sz="2000" b="1" dirty="0">
                <a:solidFill>
                  <a:srgbClr val="FF0000"/>
                </a:solidFill>
                <a:latin typeface="Arial"/>
                <a:cs typeface="Arial"/>
              </a:rPr>
              <a:t>Ctrl и</a:t>
            </a:r>
            <a:r>
              <a:rPr sz="2000" b="1" spc="-8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FF0000"/>
                </a:solidFill>
                <a:latin typeface="Arial"/>
                <a:cs typeface="Arial"/>
              </a:rPr>
              <a:t>+.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8171688" y="188976"/>
            <a:ext cx="792480" cy="431800"/>
          </a:xfrm>
          <a:custGeom>
            <a:avLst/>
            <a:gdLst/>
            <a:ahLst/>
            <a:cxnLst/>
            <a:rect l="l" t="t" r="r" b="b"/>
            <a:pathLst>
              <a:path w="792479" h="431800">
                <a:moveTo>
                  <a:pt x="396239" y="0"/>
                </a:moveTo>
                <a:lnTo>
                  <a:pt x="337690" y="2337"/>
                </a:lnTo>
                <a:lnTo>
                  <a:pt x="281806" y="9127"/>
                </a:lnTo>
                <a:lnTo>
                  <a:pt x="229202" y="20038"/>
                </a:lnTo>
                <a:lnTo>
                  <a:pt x="180490" y="34734"/>
                </a:lnTo>
                <a:lnTo>
                  <a:pt x="136284" y="52884"/>
                </a:lnTo>
                <a:lnTo>
                  <a:pt x="97196" y="74155"/>
                </a:lnTo>
                <a:lnTo>
                  <a:pt x="63840" y="98212"/>
                </a:lnTo>
                <a:lnTo>
                  <a:pt x="16777" y="153354"/>
                </a:lnTo>
                <a:lnTo>
                  <a:pt x="0" y="215646"/>
                </a:lnTo>
                <a:lnTo>
                  <a:pt x="4296" y="247518"/>
                </a:lnTo>
                <a:lnTo>
                  <a:pt x="36830" y="306569"/>
                </a:lnTo>
                <a:lnTo>
                  <a:pt x="97196" y="357136"/>
                </a:lnTo>
                <a:lnTo>
                  <a:pt x="136284" y="378407"/>
                </a:lnTo>
                <a:lnTo>
                  <a:pt x="180490" y="396557"/>
                </a:lnTo>
                <a:lnTo>
                  <a:pt x="229202" y="411253"/>
                </a:lnTo>
                <a:lnTo>
                  <a:pt x="281806" y="422164"/>
                </a:lnTo>
                <a:lnTo>
                  <a:pt x="337690" y="428954"/>
                </a:lnTo>
                <a:lnTo>
                  <a:pt x="396239" y="431291"/>
                </a:lnTo>
                <a:lnTo>
                  <a:pt x="454789" y="428954"/>
                </a:lnTo>
                <a:lnTo>
                  <a:pt x="510673" y="422164"/>
                </a:lnTo>
                <a:lnTo>
                  <a:pt x="563277" y="411253"/>
                </a:lnTo>
                <a:lnTo>
                  <a:pt x="611989" y="396557"/>
                </a:lnTo>
                <a:lnTo>
                  <a:pt x="656195" y="378407"/>
                </a:lnTo>
                <a:lnTo>
                  <a:pt x="695283" y="357136"/>
                </a:lnTo>
                <a:lnTo>
                  <a:pt x="728639" y="333079"/>
                </a:lnTo>
                <a:lnTo>
                  <a:pt x="775702" y="277937"/>
                </a:lnTo>
                <a:lnTo>
                  <a:pt x="792479" y="215646"/>
                </a:lnTo>
                <a:lnTo>
                  <a:pt x="788183" y="183773"/>
                </a:lnTo>
                <a:lnTo>
                  <a:pt x="755649" y="124722"/>
                </a:lnTo>
                <a:lnTo>
                  <a:pt x="695283" y="74155"/>
                </a:lnTo>
                <a:lnTo>
                  <a:pt x="656195" y="52884"/>
                </a:lnTo>
                <a:lnTo>
                  <a:pt x="611989" y="34734"/>
                </a:lnTo>
                <a:lnTo>
                  <a:pt x="563277" y="20038"/>
                </a:lnTo>
                <a:lnTo>
                  <a:pt x="510673" y="9127"/>
                </a:lnTo>
                <a:lnTo>
                  <a:pt x="454789" y="2337"/>
                </a:lnTo>
                <a:lnTo>
                  <a:pt x="39623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86054" rIns="0" bIns="0" rtlCol="0">
            <a:spAutoFit/>
          </a:bodyPr>
          <a:lstStyle/>
          <a:p>
            <a:pPr marL="5374005">
              <a:lnSpc>
                <a:spcPct val="100000"/>
              </a:lnSpc>
              <a:spcBef>
                <a:spcPts val="135"/>
              </a:spcBef>
            </a:pPr>
            <a:r>
              <a:rPr sz="2000" spc="-455" dirty="0"/>
              <a:t>LO</a:t>
            </a:r>
            <a:r>
              <a:rPr sz="2700" b="0" spc="-682" baseline="10802" dirty="0">
                <a:solidFill>
                  <a:srgbClr val="FCEC1C"/>
                </a:solidFill>
                <a:latin typeface="Arial"/>
                <a:cs typeface="Arial"/>
              </a:rPr>
              <a:t>T</a:t>
            </a:r>
            <a:r>
              <a:rPr sz="3150" b="0" spc="-682" baseline="-11904" dirty="0">
                <a:solidFill>
                  <a:srgbClr val="FCEC1C"/>
                </a:solidFill>
                <a:latin typeface="Arial"/>
                <a:cs typeface="Arial"/>
              </a:rPr>
              <a:t>G</a:t>
            </a:r>
            <a:r>
              <a:rPr sz="2000" spc="-455" dirty="0"/>
              <a:t>GO</a:t>
            </a:r>
            <a:endParaRPr sz="2000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600200" y="2971800"/>
            <a:ext cx="963923" cy="26517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Овал 14"/>
          <p:cNvSpPr/>
          <p:nvPr/>
        </p:nvSpPr>
        <p:spPr>
          <a:xfrm>
            <a:off x="8087393" y="76200"/>
            <a:ext cx="961070" cy="556577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3" name="Текстово поле 3">
            <a:extLst>
              <a:ext uri="{FF2B5EF4-FFF2-40B4-BE49-F238E27FC236}">
                <a16:creationId xmlns:a16="http://schemas.microsoft.com/office/drawing/2014/main" id="{BAE52D14-7FE5-4523-3C70-7D5758489F59}"/>
              </a:ext>
            </a:extLst>
          </p:cNvPr>
          <p:cNvSpPr txBox="1"/>
          <p:nvPr/>
        </p:nvSpPr>
        <p:spPr>
          <a:xfrm>
            <a:off x="2737059" y="6422419"/>
            <a:ext cx="47290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bg-BG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bg-BG" sz="1600" dirty="0"/>
              <a:t>КМИТ, 5 клас, Елена Маврова-Ненкова</a:t>
            </a:r>
          </a:p>
        </p:txBody>
      </p:sp>
      <p:pic>
        <p:nvPicPr>
          <p:cNvPr id="16" name="Picture 15" descr="_em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40" y="5943600"/>
            <a:ext cx="868680" cy="90529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171688" y="188976"/>
            <a:ext cx="792480" cy="431800"/>
          </a:xfrm>
          <a:custGeom>
            <a:avLst/>
            <a:gdLst/>
            <a:ahLst/>
            <a:cxnLst/>
            <a:rect l="l" t="t" r="r" b="b"/>
            <a:pathLst>
              <a:path w="792479" h="431800">
                <a:moveTo>
                  <a:pt x="396239" y="0"/>
                </a:moveTo>
                <a:lnTo>
                  <a:pt x="337690" y="2337"/>
                </a:lnTo>
                <a:lnTo>
                  <a:pt x="281806" y="9127"/>
                </a:lnTo>
                <a:lnTo>
                  <a:pt x="229202" y="20038"/>
                </a:lnTo>
                <a:lnTo>
                  <a:pt x="180490" y="34734"/>
                </a:lnTo>
                <a:lnTo>
                  <a:pt x="136284" y="52884"/>
                </a:lnTo>
                <a:lnTo>
                  <a:pt x="97196" y="74155"/>
                </a:lnTo>
                <a:lnTo>
                  <a:pt x="63840" y="98212"/>
                </a:lnTo>
                <a:lnTo>
                  <a:pt x="16777" y="153354"/>
                </a:lnTo>
                <a:lnTo>
                  <a:pt x="0" y="215646"/>
                </a:lnTo>
                <a:lnTo>
                  <a:pt x="4296" y="247518"/>
                </a:lnTo>
                <a:lnTo>
                  <a:pt x="36830" y="306569"/>
                </a:lnTo>
                <a:lnTo>
                  <a:pt x="97196" y="357136"/>
                </a:lnTo>
                <a:lnTo>
                  <a:pt x="136284" y="378407"/>
                </a:lnTo>
                <a:lnTo>
                  <a:pt x="180490" y="396557"/>
                </a:lnTo>
                <a:lnTo>
                  <a:pt x="229202" y="411253"/>
                </a:lnTo>
                <a:lnTo>
                  <a:pt x="281806" y="422164"/>
                </a:lnTo>
                <a:lnTo>
                  <a:pt x="337690" y="428954"/>
                </a:lnTo>
                <a:lnTo>
                  <a:pt x="396239" y="431291"/>
                </a:lnTo>
                <a:lnTo>
                  <a:pt x="454789" y="428954"/>
                </a:lnTo>
                <a:lnTo>
                  <a:pt x="510673" y="422164"/>
                </a:lnTo>
                <a:lnTo>
                  <a:pt x="563277" y="411253"/>
                </a:lnTo>
                <a:lnTo>
                  <a:pt x="611989" y="396557"/>
                </a:lnTo>
                <a:lnTo>
                  <a:pt x="656195" y="378407"/>
                </a:lnTo>
                <a:lnTo>
                  <a:pt x="695283" y="357136"/>
                </a:lnTo>
                <a:lnTo>
                  <a:pt x="728639" y="333079"/>
                </a:lnTo>
                <a:lnTo>
                  <a:pt x="775702" y="277937"/>
                </a:lnTo>
                <a:lnTo>
                  <a:pt x="792479" y="215646"/>
                </a:lnTo>
                <a:lnTo>
                  <a:pt x="788183" y="183773"/>
                </a:lnTo>
                <a:lnTo>
                  <a:pt x="755649" y="124722"/>
                </a:lnTo>
                <a:lnTo>
                  <a:pt x="695283" y="74155"/>
                </a:lnTo>
                <a:lnTo>
                  <a:pt x="656195" y="52884"/>
                </a:lnTo>
                <a:lnTo>
                  <a:pt x="611989" y="34734"/>
                </a:lnTo>
                <a:lnTo>
                  <a:pt x="563277" y="20038"/>
                </a:lnTo>
                <a:lnTo>
                  <a:pt x="510673" y="9127"/>
                </a:lnTo>
                <a:lnTo>
                  <a:pt x="454789" y="2337"/>
                </a:lnTo>
                <a:lnTo>
                  <a:pt x="39623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2027" y="630650"/>
            <a:ext cx="8957344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algn="r">
              <a:spcBef>
                <a:spcPts val="100"/>
              </a:spcBef>
            </a:pPr>
            <a:r>
              <a:rPr lang="bg-BG" sz="2800" spc="-4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5. </a:t>
            </a:r>
            <a:r>
              <a:rPr sz="2800" spc="-4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ПРАВИЛА </a:t>
            </a:r>
            <a:r>
              <a:rPr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ЗА</a:t>
            </a:r>
            <a:r>
              <a:rPr sz="2800" spc="-7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sz="2800" spc="-195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БЕЗОПАСНА</a:t>
            </a:r>
            <a:r>
              <a:rPr lang="bg-BG" sz="2800" spc="-195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bg-BG" sz="2800" spc="-8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РАБОТА </a:t>
            </a:r>
            <a:r>
              <a:rPr lang="bg-BG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В</a:t>
            </a:r>
            <a:r>
              <a:rPr lang="bg-BG" sz="2800" spc="3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bg-BG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ИНТЕРНЕТ</a:t>
            </a:r>
            <a:endParaRPr sz="2800" baseline="-6944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77231" y="1219200"/>
            <a:ext cx="8786937" cy="5295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95"/>
              </a:spcBef>
              <a:buClr>
                <a:srgbClr val="174AB1"/>
              </a:buClr>
              <a:buFont typeface="Wingdings"/>
              <a:buChar char=""/>
              <a:tabLst>
                <a:tab pos="355600" algn="l"/>
                <a:tab pos="356235" algn="l"/>
              </a:tabLst>
            </a:pPr>
            <a:r>
              <a:rPr sz="2000" spc="-10" dirty="0">
                <a:solidFill>
                  <a:srgbClr val="122767"/>
                </a:solidFill>
                <a:latin typeface="Arial"/>
                <a:cs typeface="Arial"/>
              </a:rPr>
              <a:t>Не давайте лична информация (име, </a:t>
            </a:r>
            <a:r>
              <a:rPr sz="2000" spc="-5" dirty="0">
                <a:solidFill>
                  <a:srgbClr val="122767"/>
                </a:solidFill>
                <a:latin typeface="Arial"/>
                <a:cs typeface="Arial"/>
              </a:rPr>
              <a:t>адрес, </a:t>
            </a:r>
            <a:r>
              <a:rPr sz="2000" spc="-10" dirty="0">
                <a:solidFill>
                  <a:srgbClr val="122767"/>
                </a:solidFill>
                <a:latin typeface="Arial"/>
                <a:cs typeface="Arial"/>
              </a:rPr>
              <a:t>домашен </a:t>
            </a:r>
            <a:r>
              <a:rPr sz="2000" spc="-15" dirty="0">
                <a:solidFill>
                  <a:srgbClr val="122767"/>
                </a:solidFill>
                <a:latin typeface="Arial"/>
                <a:cs typeface="Arial"/>
              </a:rPr>
              <a:t>телефон, училището,</a:t>
            </a:r>
            <a:r>
              <a:rPr sz="2000" spc="365" dirty="0">
                <a:solidFill>
                  <a:srgbClr val="122767"/>
                </a:solidFill>
                <a:latin typeface="Arial"/>
                <a:cs typeface="Arial"/>
              </a:rPr>
              <a:t> </a:t>
            </a:r>
            <a:r>
              <a:rPr sz="2000" spc="-5" dirty="0">
                <a:solidFill>
                  <a:srgbClr val="122767"/>
                </a:solidFill>
                <a:latin typeface="Arial"/>
                <a:cs typeface="Arial"/>
              </a:rPr>
              <a:t>в</a:t>
            </a:r>
            <a:endParaRPr sz="2000" dirty="0">
              <a:latin typeface="Arial"/>
              <a:cs typeface="Arial"/>
            </a:endParaRPr>
          </a:p>
          <a:p>
            <a:pPr marL="355600">
              <a:lnSpc>
                <a:spcPct val="100000"/>
              </a:lnSpc>
            </a:pPr>
            <a:r>
              <a:rPr sz="2000" spc="-15" dirty="0">
                <a:solidFill>
                  <a:srgbClr val="122767"/>
                </a:solidFill>
                <a:latin typeface="Arial"/>
                <a:cs typeface="Arial"/>
              </a:rPr>
              <a:t>което </a:t>
            </a:r>
            <a:r>
              <a:rPr sz="2000" spc="-10" dirty="0">
                <a:solidFill>
                  <a:srgbClr val="122767"/>
                </a:solidFill>
                <a:latin typeface="Arial"/>
                <a:cs typeface="Arial"/>
              </a:rPr>
              <a:t>учите, </a:t>
            </a:r>
            <a:r>
              <a:rPr sz="2000" spc="-15" dirty="0">
                <a:solidFill>
                  <a:srgbClr val="122767"/>
                </a:solidFill>
                <a:latin typeface="Arial"/>
                <a:cs typeface="Arial"/>
              </a:rPr>
              <a:t>месторабота </a:t>
            </a:r>
            <a:r>
              <a:rPr sz="2000" spc="-5" dirty="0">
                <a:solidFill>
                  <a:srgbClr val="122767"/>
                </a:solidFill>
                <a:latin typeface="Arial"/>
                <a:cs typeface="Arial"/>
              </a:rPr>
              <a:t>или </a:t>
            </a:r>
            <a:r>
              <a:rPr sz="2000" spc="-10" dirty="0">
                <a:solidFill>
                  <a:srgbClr val="122767"/>
                </a:solidFill>
                <a:latin typeface="Arial"/>
                <a:cs typeface="Arial"/>
              </a:rPr>
              <a:t>служебен </a:t>
            </a:r>
            <a:r>
              <a:rPr sz="2000" spc="-15" dirty="0">
                <a:solidFill>
                  <a:srgbClr val="122767"/>
                </a:solidFill>
                <a:latin typeface="Arial"/>
                <a:cs typeface="Arial"/>
              </a:rPr>
              <a:t>телефон </a:t>
            </a:r>
            <a:r>
              <a:rPr sz="2000" spc="-10" dirty="0">
                <a:solidFill>
                  <a:srgbClr val="122767"/>
                </a:solidFill>
                <a:latin typeface="Arial"/>
                <a:cs typeface="Arial"/>
              </a:rPr>
              <a:t>на </a:t>
            </a:r>
            <a:r>
              <a:rPr sz="2000" spc="-20" dirty="0">
                <a:solidFill>
                  <a:srgbClr val="122767"/>
                </a:solidFill>
                <a:latin typeface="Arial"/>
                <a:cs typeface="Arial"/>
              </a:rPr>
              <a:t>родителите</a:t>
            </a:r>
            <a:r>
              <a:rPr sz="2000" spc="245" dirty="0">
                <a:solidFill>
                  <a:srgbClr val="122767"/>
                </a:solidFill>
                <a:latin typeface="Arial"/>
                <a:cs typeface="Arial"/>
              </a:rPr>
              <a:t> </a:t>
            </a:r>
            <a:r>
              <a:rPr sz="2000" spc="-5" dirty="0">
                <a:solidFill>
                  <a:srgbClr val="122767"/>
                </a:solidFill>
                <a:latin typeface="Arial"/>
                <a:cs typeface="Arial"/>
              </a:rPr>
              <a:t>си).</a:t>
            </a:r>
            <a:endParaRPr sz="2000" dirty="0">
              <a:latin typeface="Arial"/>
              <a:cs typeface="Arial"/>
            </a:endParaRPr>
          </a:p>
          <a:p>
            <a:pPr marL="355600" indent="-343535">
              <a:lnSpc>
                <a:spcPct val="100000"/>
              </a:lnSpc>
              <a:spcBef>
                <a:spcPts val="385"/>
              </a:spcBef>
              <a:buClr>
                <a:srgbClr val="174AB1"/>
              </a:buClr>
              <a:buFont typeface="Wingdings"/>
              <a:buChar char=""/>
              <a:tabLst>
                <a:tab pos="355600" algn="l"/>
                <a:tab pos="356235" algn="l"/>
              </a:tabLst>
            </a:pPr>
            <a:r>
              <a:rPr sz="2000" spc="-10" dirty="0">
                <a:solidFill>
                  <a:srgbClr val="122767"/>
                </a:solidFill>
                <a:latin typeface="Arial"/>
                <a:cs typeface="Arial"/>
              </a:rPr>
              <a:t>Не изпращайте свои снимки </a:t>
            </a:r>
            <a:r>
              <a:rPr sz="2000" spc="-5" dirty="0">
                <a:solidFill>
                  <a:srgbClr val="122767"/>
                </a:solidFill>
                <a:latin typeface="Arial"/>
                <a:cs typeface="Arial"/>
              </a:rPr>
              <a:t>или </a:t>
            </a:r>
            <a:r>
              <a:rPr sz="2000" spc="-10" dirty="0">
                <a:solidFill>
                  <a:srgbClr val="122767"/>
                </a:solidFill>
                <a:latin typeface="Arial"/>
                <a:cs typeface="Arial"/>
              </a:rPr>
              <a:t>снимки на свои</a:t>
            </a:r>
            <a:r>
              <a:rPr sz="2000" spc="215" dirty="0">
                <a:solidFill>
                  <a:srgbClr val="122767"/>
                </a:solidFill>
                <a:latin typeface="Arial"/>
                <a:cs typeface="Arial"/>
              </a:rPr>
              <a:t> </a:t>
            </a:r>
            <a:r>
              <a:rPr sz="2000" spc="-15" dirty="0">
                <a:solidFill>
                  <a:srgbClr val="122767"/>
                </a:solidFill>
                <a:latin typeface="Arial"/>
                <a:cs typeface="Arial"/>
              </a:rPr>
              <a:t>близки.</a:t>
            </a:r>
            <a:endParaRPr sz="2000" dirty="0">
              <a:latin typeface="Arial"/>
              <a:cs typeface="Arial"/>
            </a:endParaRPr>
          </a:p>
          <a:p>
            <a:pPr marL="355600" indent="-343535">
              <a:lnSpc>
                <a:spcPct val="100000"/>
              </a:lnSpc>
              <a:spcBef>
                <a:spcPts val="385"/>
              </a:spcBef>
              <a:buClr>
                <a:srgbClr val="174AB1"/>
              </a:buClr>
              <a:buFont typeface="Wingdings"/>
              <a:buChar char=""/>
              <a:tabLst>
                <a:tab pos="355600" algn="l"/>
                <a:tab pos="356235" algn="l"/>
              </a:tabLst>
            </a:pPr>
            <a:r>
              <a:rPr sz="2000" spc="-10" dirty="0">
                <a:solidFill>
                  <a:srgbClr val="122767"/>
                </a:solidFill>
                <a:latin typeface="Arial"/>
                <a:cs typeface="Arial"/>
              </a:rPr>
              <a:t>Не приемайте среща </a:t>
            </a:r>
            <a:r>
              <a:rPr sz="2000" spc="-5" dirty="0">
                <a:solidFill>
                  <a:srgbClr val="122767"/>
                </a:solidFill>
                <a:latin typeface="Arial"/>
                <a:cs typeface="Arial"/>
              </a:rPr>
              <a:t>с </a:t>
            </a:r>
            <a:r>
              <a:rPr sz="2000" spc="-10" dirty="0">
                <a:solidFill>
                  <a:srgbClr val="122767"/>
                </a:solidFill>
                <a:latin typeface="Arial"/>
                <a:cs typeface="Arial"/>
              </a:rPr>
              <a:t>някого, </a:t>
            </a:r>
            <a:r>
              <a:rPr sz="2000" spc="-5" dirty="0">
                <a:solidFill>
                  <a:srgbClr val="122767"/>
                </a:solidFill>
                <a:latin typeface="Arial"/>
                <a:cs typeface="Arial"/>
              </a:rPr>
              <a:t>с </a:t>
            </a:r>
            <a:r>
              <a:rPr sz="2000" spc="-20" dirty="0">
                <a:solidFill>
                  <a:srgbClr val="122767"/>
                </a:solidFill>
                <a:latin typeface="Arial"/>
                <a:cs typeface="Arial"/>
              </a:rPr>
              <a:t>когото </a:t>
            </a:r>
            <a:r>
              <a:rPr sz="2000" spc="-10" dirty="0">
                <a:solidFill>
                  <a:srgbClr val="122767"/>
                </a:solidFill>
                <a:latin typeface="Arial"/>
                <a:cs typeface="Arial"/>
              </a:rPr>
              <a:t>сте </a:t>
            </a:r>
            <a:r>
              <a:rPr sz="2000" spc="-5" dirty="0">
                <a:solidFill>
                  <a:srgbClr val="122767"/>
                </a:solidFill>
                <a:latin typeface="Arial"/>
                <a:cs typeface="Arial"/>
              </a:rPr>
              <a:t>се </a:t>
            </a:r>
            <a:r>
              <a:rPr sz="2000" spc="-10" dirty="0">
                <a:solidFill>
                  <a:srgbClr val="122767"/>
                </a:solidFill>
                <a:latin typeface="Arial"/>
                <a:cs typeface="Arial"/>
              </a:rPr>
              <a:t>запознали </a:t>
            </a:r>
            <a:r>
              <a:rPr sz="2000" spc="-5" dirty="0">
                <a:solidFill>
                  <a:srgbClr val="122767"/>
                </a:solidFill>
                <a:latin typeface="Arial"/>
                <a:cs typeface="Arial"/>
              </a:rPr>
              <a:t>в</a:t>
            </a:r>
            <a:r>
              <a:rPr sz="2000" spc="235" dirty="0">
                <a:solidFill>
                  <a:srgbClr val="122767"/>
                </a:solidFill>
                <a:latin typeface="Arial"/>
                <a:cs typeface="Arial"/>
              </a:rPr>
              <a:t> </a:t>
            </a:r>
            <a:r>
              <a:rPr sz="2000" spc="-35" dirty="0">
                <a:solidFill>
                  <a:srgbClr val="122767"/>
                </a:solidFill>
                <a:latin typeface="Arial"/>
                <a:cs typeface="Arial"/>
              </a:rPr>
              <a:t>интернет.</a:t>
            </a:r>
            <a:endParaRPr sz="2000" dirty="0">
              <a:latin typeface="Arial"/>
              <a:cs typeface="Arial"/>
            </a:endParaRPr>
          </a:p>
          <a:p>
            <a:pPr marL="355600" marR="5080" indent="-343535">
              <a:lnSpc>
                <a:spcPct val="100000"/>
              </a:lnSpc>
              <a:spcBef>
                <a:spcPts val="385"/>
              </a:spcBef>
              <a:buClr>
                <a:srgbClr val="174AB1"/>
              </a:buClr>
              <a:buFont typeface="Wingdings"/>
              <a:buChar char=""/>
              <a:tabLst>
                <a:tab pos="355600" algn="l"/>
                <a:tab pos="356235" algn="l"/>
              </a:tabLst>
            </a:pPr>
            <a:r>
              <a:rPr sz="2000" spc="-10" dirty="0">
                <a:solidFill>
                  <a:srgbClr val="122767"/>
                </a:solidFill>
                <a:latin typeface="Arial"/>
                <a:cs typeface="Arial"/>
              </a:rPr>
              <a:t>Не </a:t>
            </a:r>
            <a:r>
              <a:rPr sz="2000" spc="-15" dirty="0">
                <a:solidFill>
                  <a:srgbClr val="122767"/>
                </a:solidFill>
                <a:latin typeface="Arial"/>
                <a:cs typeface="Arial"/>
              </a:rPr>
              <a:t>отговаряйте </a:t>
            </a:r>
            <a:r>
              <a:rPr sz="2000" spc="-10" dirty="0">
                <a:solidFill>
                  <a:srgbClr val="122767"/>
                </a:solidFill>
                <a:latin typeface="Arial"/>
                <a:cs typeface="Arial"/>
              </a:rPr>
              <a:t>на съобщения, които </a:t>
            </a:r>
            <a:r>
              <a:rPr sz="2000" spc="-5" dirty="0">
                <a:solidFill>
                  <a:srgbClr val="122767"/>
                </a:solidFill>
                <a:latin typeface="Arial"/>
                <a:cs typeface="Arial"/>
              </a:rPr>
              <a:t>са </a:t>
            </a:r>
            <a:r>
              <a:rPr sz="2000" spc="-10" dirty="0">
                <a:solidFill>
                  <a:srgbClr val="122767"/>
                </a:solidFill>
                <a:latin typeface="Arial"/>
                <a:cs typeface="Arial"/>
              </a:rPr>
              <a:t>обидни, заплашващи </a:t>
            </a:r>
            <a:r>
              <a:rPr sz="2000" spc="-5" dirty="0">
                <a:solidFill>
                  <a:srgbClr val="122767"/>
                </a:solidFill>
                <a:latin typeface="Arial"/>
                <a:cs typeface="Arial"/>
              </a:rPr>
              <a:t>или </a:t>
            </a:r>
            <a:r>
              <a:rPr sz="2000" spc="-10" dirty="0">
                <a:solidFill>
                  <a:srgbClr val="122767"/>
                </a:solidFill>
                <a:latin typeface="Arial"/>
                <a:cs typeface="Arial"/>
              </a:rPr>
              <a:t>неприлични.  Информирайте </a:t>
            </a:r>
            <a:r>
              <a:rPr sz="2000" spc="-15" dirty="0">
                <a:solidFill>
                  <a:srgbClr val="122767"/>
                </a:solidFill>
                <a:latin typeface="Arial"/>
                <a:cs typeface="Arial"/>
              </a:rPr>
              <a:t>родителите </a:t>
            </a:r>
            <a:r>
              <a:rPr sz="2000" spc="-5" dirty="0">
                <a:solidFill>
                  <a:srgbClr val="122767"/>
                </a:solidFill>
                <a:latin typeface="Arial"/>
                <a:cs typeface="Arial"/>
              </a:rPr>
              <a:t>си за </a:t>
            </a:r>
            <a:r>
              <a:rPr sz="2000" spc="-10" dirty="0">
                <a:solidFill>
                  <a:srgbClr val="122767"/>
                </a:solidFill>
                <a:latin typeface="Arial"/>
                <a:cs typeface="Arial"/>
              </a:rPr>
              <a:t>такива</a:t>
            </a:r>
            <a:r>
              <a:rPr sz="2000" spc="125" dirty="0">
                <a:solidFill>
                  <a:srgbClr val="122767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122767"/>
                </a:solidFill>
                <a:latin typeface="Arial"/>
                <a:cs typeface="Arial"/>
              </a:rPr>
              <a:t>съобщения.</a:t>
            </a:r>
            <a:endParaRPr sz="2000" dirty="0">
              <a:latin typeface="Arial"/>
              <a:cs typeface="Arial"/>
            </a:endParaRPr>
          </a:p>
          <a:p>
            <a:pPr marL="355600" marR="347980" indent="-343535">
              <a:lnSpc>
                <a:spcPct val="100000"/>
              </a:lnSpc>
              <a:spcBef>
                <a:spcPts val="385"/>
              </a:spcBef>
              <a:buClr>
                <a:srgbClr val="174AB1"/>
              </a:buClr>
              <a:buFont typeface="Wingdings"/>
              <a:buChar char=""/>
              <a:tabLst>
                <a:tab pos="355600" algn="l"/>
                <a:tab pos="356235" algn="l"/>
              </a:tabLst>
            </a:pPr>
            <a:r>
              <a:rPr sz="2000" spc="-10" dirty="0">
                <a:solidFill>
                  <a:srgbClr val="122767"/>
                </a:solidFill>
                <a:latin typeface="Arial"/>
                <a:cs typeface="Arial"/>
              </a:rPr>
              <a:t>Не </a:t>
            </a:r>
            <a:r>
              <a:rPr sz="2000" spc="-15" dirty="0">
                <a:solidFill>
                  <a:srgbClr val="122767"/>
                </a:solidFill>
                <a:latin typeface="Arial"/>
                <a:cs typeface="Arial"/>
              </a:rPr>
              <a:t>отваряйте </a:t>
            </a:r>
            <a:r>
              <a:rPr sz="2000" spc="-10" dirty="0">
                <a:solidFill>
                  <a:srgbClr val="122767"/>
                </a:solidFill>
                <a:latin typeface="Arial"/>
                <a:cs typeface="Arial"/>
              </a:rPr>
              <a:t>електронна поща, </a:t>
            </a:r>
            <a:r>
              <a:rPr sz="2000" spc="-15" dirty="0">
                <a:solidFill>
                  <a:srgbClr val="122767"/>
                </a:solidFill>
                <a:latin typeface="Arial"/>
                <a:cs typeface="Arial"/>
              </a:rPr>
              <a:t>получена </a:t>
            </a:r>
            <a:r>
              <a:rPr sz="2000" spc="-25" dirty="0">
                <a:solidFill>
                  <a:srgbClr val="122767"/>
                </a:solidFill>
                <a:latin typeface="Arial"/>
                <a:cs typeface="Arial"/>
              </a:rPr>
              <a:t>от </a:t>
            </a:r>
            <a:r>
              <a:rPr sz="2000" spc="-15" dirty="0">
                <a:solidFill>
                  <a:srgbClr val="122767"/>
                </a:solidFill>
                <a:latin typeface="Arial"/>
                <a:cs typeface="Arial"/>
              </a:rPr>
              <a:t>непознат </a:t>
            </a:r>
            <a:r>
              <a:rPr sz="2000" spc="-20" dirty="0">
                <a:solidFill>
                  <a:srgbClr val="122767"/>
                </a:solidFill>
                <a:latin typeface="Arial"/>
                <a:cs typeface="Arial"/>
              </a:rPr>
              <a:t>подател. </a:t>
            </a:r>
            <a:r>
              <a:rPr sz="2000" spc="-50" dirty="0">
                <a:solidFill>
                  <a:srgbClr val="122767"/>
                </a:solidFill>
                <a:latin typeface="Arial"/>
                <a:cs typeface="Arial"/>
              </a:rPr>
              <a:t>Тя </a:t>
            </a:r>
            <a:r>
              <a:rPr sz="2000" spc="-10" dirty="0">
                <a:solidFill>
                  <a:srgbClr val="122767"/>
                </a:solidFill>
                <a:latin typeface="Arial"/>
                <a:cs typeface="Arial"/>
              </a:rPr>
              <a:t>може </a:t>
            </a:r>
            <a:r>
              <a:rPr sz="2000" spc="-5" dirty="0">
                <a:solidFill>
                  <a:srgbClr val="122767"/>
                </a:solidFill>
                <a:latin typeface="Arial"/>
                <a:cs typeface="Arial"/>
              </a:rPr>
              <a:t>да  </a:t>
            </a:r>
            <a:r>
              <a:rPr sz="2000" spc="-10" dirty="0">
                <a:solidFill>
                  <a:srgbClr val="122767"/>
                </a:solidFill>
                <a:latin typeface="Arial"/>
                <a:cs typeface="Arial"/>
              </a:rPr>
              <a:t>съдържа </a:t>
            </a:r>
            <a:r>
              <a:rPr sz="2000" spc="-15" dirty="0">
                <a:solidFill>
                  <a:srgbClr val="122767"/>
                </a:solidFill>
                <a:latin typeface="Arial"/>
                <a:cs typeface="Arial"/>
              </a:rPr>
              <a:t>вирус </a:t>
            </a:r>
            <a:r>
              <a:rPr sz="2000" spc="-5" dirty="0">
                <a:solidFill>
                  <a:srgbClr val="122767"/>
                </a:solidFill>
                <a:latin typeface="Arial"/>
                <a:cs typeface="Arial"/>
              </a:rPr>
              <a:t>или </a:t>
            </a:r>
            <a:r>
              <a:rPr sz="2000" spc="-15" dirty="0">
                <a:solidFill>
                  <a:srgbClr val="122767"/>
                </a:solidFill>
                <a:latin typeface="Arial"/>
                <a:cs typeface="Arial"/>
              </a:rPr>
              <a:t>друга </a:t>
            </a:r>
            <a:r>
              <a:rPr sz="2000" spc="-5" dirty="0">
                <a:solidFill>
                  <a:srgbClr val="122767"/>
                </a:solidFill>
                <a:latin typeface="Arial"/>
                <a:cs typeface="Arial"/>
              </a:rPr>
              <a:t>програма, </a:t>
            </a:r>
            <a:r>
              <a:rPr sz="2000" spc="-10" dirty="0">
                <a:solidFill>
                  <a:srgbClr val="122767"/>
                </a:solidFill>
                <a:latin typeface="Arial"/>
                <a:cs typeface="Arial"/>
              </a:rPr>
              <a:t>която </a:t>
            </a:r>
            <a:r>
              <a:rPr sz="2000" spc="-5" dirty="0">
                <a:solidFill>
                  <a:srgbClr val="122767"/>
                </a:solidFill>
                <a:latin typeface="Arial"/>
                <a:cs typeface="Arial"/>
              </a:rPr>
              <a:t>да </a:t>
            </a:r>
            <a:r>
              <a:rPr sz="2000" spc="-15" dirty="0">
                <a:solidFill>
                  <a:srgbClr val="122767"/>
                </a:solidFill>
                <a:latin typeface="Arial"/>
                <a:cs typeface="Arial"/>
              </a:rPr>
              <a:t>увреди</a:t>
            </a:r>
            <a:r>
              <a:rPr sz="2000" spc="220" dirty="0">
                <a:solidFill>
                  <a:srgbClr val="122767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122767"/>
                </a:solidFill>
                <a:latin typeface="Arial"/>
                <a:cs typeface="Arial"/>
              </a:rPr>
              <a:t>компютъра.</a:t>
            </a:r>
            <a:endParaRPr sz="2000" dirty="0">
              <a:latin typeface="Arial"/>
              <a:cs typeface="Arial"/>
            </a:endParaRPr>
          </a:p>
          <a:p>
            <a:pPr marL="355600" marR="390525" indent="-343535">
              <a:lnSpc>
                <a:spcPct val="100000"/>
              </a:lnSpc>
              <a:spcBef>
                <a:spcPts val="385"/>
              </a:spcBef>
              <a:buClr>
                <a:srgbClr val="174AB1"/>
              </a:buClr>
              <a:buFont typeface="Wingdings"/>
              <a:buChar char=""/>
              <a:tabLst>
                <a:tab pos="355600" algn="l"/>
                <a:tab pos="356235" algn="l"/>
              </a:tabLst>
            </a:pPr>
            <a:r>
              <a:rPr sz="2000" spc="-10" dirty="0">
                <a:solidFill>
                  <a:srgbClr val="122767"/>
                </a:solidFill>
                <a:latin typeface="Arial"/>
                <a:cs typeface="Arial"/>
              </a:rPr>
              <a:t>Не </a:t>
            </a:r>
            <a:r>
              <a:rPr sz="2000" spc="-5" dirty="0">
                <a:solidFill>
                  <a:srgbClr val="122767"/>
                </a:solidFill>
                <a:latin typeface="Arial"/>
                <a:cs typeface="Arial"/>
              </a:rPr>
              <a:t>се </a:t>
            </a:r>
            <a:r>
              <a:rPr sz="2000" spc="-10" dirty="0">
                <a:solidFill>
                  <a:srgbClr val="122767"/>
                </a:solidFill>
                <a:latin typeface="Arial"/>
                <a:cs typeface="Arial"/>
              </a:rPr>
              <a:t>представяйте </a:t>
            </a:r>
            <a:r>
              <a:rPr sz="2000" spc="-5" dirty="0">
                <a:solidFill>
                  <a:srgbClr val="122767"/>
                </a:solidFill>
                <a:latin typeface="Arial"/>
                <a:cs typeface="Arial"/>
              </a:rPr>
              <a:t>за </a:t>
            </a:r>
            <a:r>
              <a:rPr sz="2000" spc="-50" dirty="0">
                <a:solidFill>
                  <a:srgbClr val="122767"/>
                </a:solidFill>
                <a:latin typeface="Arial"/>
                <a:cs typeface="Arial"/>
              </a:rPr>
              <a:t>друг, </a:t>
            </a:r>
            <a:r>
              <a:rPr sz="2000" spc="-10" dirty="0">
                <a:solidFill>
                  <a:srgbClr val="122767"/>
                </a:solidFill>
                <a:latin typeface="Arial"/>
                <a:cs typeface="Arial"/>
              </a:rPr>
              <a:t>но имайте предвид, </a:t>
            </a:r>
            <a:r>
              <a:rPr sz="2000" spc="-5" dirty="0">
                <a:solidFill>
                  <a:srgbClr val="122767"/>
                </a:solidFill>
                <a:latin typeface="Arial"/>
                <a:cs typeface="Arial"/>
              </a:rPr>
              <a:t>че </a:t>
            </a:r>
            <a:r>
              <a:rPr sz="2000" spc="-15" dirty="0">
                <a:solidFill>
                  <a:srgbClr val="122767"/>
                </a:solidFill>
                <a:latin typeface="Arial"/>
                <a:cs typeface="Arial"/>
              </a:rPr>
              <a:t>отсреща </a:t>
            </a:r>
            <a:r>
              <a:rPr sz="2000" spc="-10" dirty="0">
                <a:solidFill>
                  <a:srgbClr val="122767"/>
                </a:solidFill>
                <a:latin typeface="Arial"/>
                <a:cs typeface="Arial"/>
              </a:rPr>
              <a:t>може </a:t>
            </a:r>
            <a:r>
              <a:rPr sz="2000" spc="-5" dirty="0">
                <a:solidFill>
                  <a:srgbClr val="122767"/>
                </a:solidFill>
                <a:latin typeface="Arial"/>
                <a:cs typeface="Arial"/>
              </a:rPr>
              <a:t>да пише  </a:t>
            </a:r>
            <a:r>
              <a:rPr sz="2000" spc="-10" dirty="0">
                <a:solidFill>
                  <a:srgbClr val="122767"/>
                </a:solidFill>
                <a:latin typeface="Arial"/>
                <a:cs typeface="Arial"/>
              </a:rPr>
              <a:t>човек, който </a:t>
            </a:r>
            <a:r>
              <a:rPr sz="2000" spc="-5" dirty="0">
                <a:solidFill>
                  <a:srgbClr val="122767"/>
                </a:solidFill>
                <a:latin typeface="Arial"/>
                <a:cs typeface="Arial"/>
              </a:rPr>
              <a:t>се е </a:t>
            </a:r>
            <a:r>
              <a:rPr sz="2000" spc="-10" dirty="0">
                <a:solidFill>
                  <a:srgbClr val="122767"/>
                </a:solidFill>
                <a:latin typeface="Arial"/>
                <a:cs typeface="Arial"/>
              </a:rPr>
              <a:t>представил </a:t>
            </a:r>
            <a:r>
              <a:rPr sz="2000" spc="-5" dirty="0">
                <a:solidFill>
                  <a:srgbClr val="122767"/>
                </a:solidFill>
                <a:latin typeface="Arial"/>
                <a:cs typeface="Arial"/>
              </a:rPr>
              <a:t>за</a:t>
            </a:r>
            <a:r>
              <a:rPr sz="2000" spc="95" dirty="0">
                <a:solidFill>
                  <a:srgbClr val="122767"/>
                </a:solidFill>
                <a:latin typeface="Arial"/>
                <a:cs typeface="Arial"/>
              </a:rPr>
              <a:t> </a:t>
            </a:r>
            <a:r>
              <a:rPr sz="2000" spc="-50" dirty="0">
                <a:solidFill>
                  <a:srgbClr val="122767"/>
                </a:solidFill>
                <a:latin typeface="Arial"/>
                <a:cs typeface="Arial"/>
              </a:rPr>
              <a:t>друг.</a:t>
            </a:r>
            <a:endParaRPr sz="2000" dirty="0">
              <a:latin typeface="Arial"/>
              <a:cs typeface="Arial"/>
            </a:endParaRPr>
          </a:p>
          <a:p>
            <a:pPr marL="355600" indent="-343535">
              <a:lnSpc>
                <a:spcPct val="100000"/>
              </a:lnSpc>
              <a:spcBef>
                <a:spcPts val="384"/>
              </a:spcBef>
              <a:buClr>
                <a:srgbClr val="174AB1"/>
              </a:buClr>
              <a:buFont typeface="Wingdings"/>
              <a:buChar char=""/>
              <a:tabLst>
                <a:tab pos="355600" algn="l"/>
                <a:tab pos="356235" algn="l"/>
              </a:tabLst>
            </a:pPr>
            <a:r>
              <a:rPr sz="2000" spc="-20" dirty="0">
                <a:solidFill>
                  <a:srgbClr val="122767"/>
                </a:solidFill>
                <a:latin typeface="Arial"/>
                <a:cs typeface="Arial"/>
              </a:rPr>
              <a:t>Бъдете </a:t>
            </a:r>
            <a:r>
              <a:rPr sz="2000" spc="-5" dirty="0">
                <a:solidFill>
                  <a:srgbClr val="122767"/>
                </a:solidFill>
                <a:latin typeface="Arial"/>
                <a:cs typeface="Arial"/>
              </a:rPr>
              <a:t>вежливи и </a:t>
            </a:r>
            <a:r>
              <a:rPr sz="2000" spc="-10" dirty="0">
                <a:solidFill>
                  <a:srgbClr val="122767"/>
                </a:solidFill>
                <a:latin typeface="Arial"/>
                <a:cs typeface="Arial"/>
              </a:rPr>
              <a:t>уважавайте </a:t>
            </a:r>
            <a:r>
              <a:rPr sz="2000" spc="-15" dirty="0">
                <a:solidFill>
                  <a:srgbClr val="122767"/>
                </a:solidFill>
                <a:latin typeface="Arial"/>
                <a:cs typeface="Arial"/>
              </a:rPr>
              <a:t>правата </a:t>
            </a:r>
            <a:r>
              <a:rPr sz="2000" spc="-10" dirty="0">
                <a:solidFill>
                  <a:srgbClr val="122767"/>
                </a:solidFill>
                <a:latin typeface="Arial"/>
                <a:cs typeface="Arial"/>
              </a:rPr>
              <a:t>на</a:t>
            </a:r>
            <a:r>
              <a:rPr sz="2000" spc="95" dirty="0">
                <a:solidFill>
                  <a:srgbClr val="122767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122767"/>
                </a:solidFill>
                <a:latin typeface="Arial"/>
                <a:cs typeface="Arial"/>
              </a:rPr>
              <a:t>другите.</a:t>
            </a:r>
            <a:endParaRPr sz="2000" dirty="0">
              <a:latin typeface="Arial"/>
              <a:cs typeface="Arial"/>
            </a:endParaRPr>
          </a:p>
          <a:p>
            <a:pPr marL="355600" marR="67310" indent="-343535">
              <a:lnSpc>
                <a:spcPct val="100000"/>
              </a:lnSpc>
              <a:spcBef>
                <a:spcPts val="385"/>
              </a:spcBef>
              <a:buClr>
                <a:srgbClr val="174AB1"/>
              </a:buClr>
              <a:buFont typeface="Wingdings"/>
              <a:buChar char=""/>
              <a:tabLst>
                <a:tab pos="355600" algn="l"/>
                <a:tab pos="356235" algn="l"/>
              </a:tabLst>
            </a:pPr>
            <a:r>
              <a:rPr sz="2000" spc="-10" dirty="0">
                <a:solidFill>
                  <a:srgbClr val="122767"/>
                </a:solidFill>
                <a:latin typeface="Arial"/>
                <a:cs typeface="Arial"/>
              </a:rPr>
              <a:t>Не сваляйте </a:t>
            </a:r>
            <a:r>
              <a:rPr sz="2000" spc="-5" dirty="0">
                <a:solidFill>
                  <a:srgbClr val="122767"/>
                </a:solidFill>
                <a:latin typeface="Arial"/>
                <a:cs typeface="Arial"/>
              </a:rPr>
              <a:t>или </a:t>
            </a:r>
            <a:r>
              <a:rPr sz="2000" spc="-10" dirty="0">
                <a:solidFill>
                  <a:srgbClr val="122767"/>
                </a:solidFill>
                <a:latin typeface="Arial"/>
                <a:cs typeface="Arial"/>
              </a:rPr>
              <a:t>не инсталирайте </a:t>
            </a:r>
            <a:r>
              <a:rPr sz="2000" spc="-5" dirty="0">
                <a:solidFill>
                  <a:srgbClr val="122767"/>
                </a:solidFill>
                <a:latin typeface="Arial"/>
                <a:cs typeface="Arial"/>
              </a:rPr>
              <a:t>програма </a:t>
            </a:r>
            <a:r>
              <a:rPr sz="2000" spc="-25" dirty="0">
                <a:solidFill>
                  <a:srgbClr val="122767"/>
                </a:solidFill>
                <a:latin typeface="Arial"/>
                <a:cs typeface="Arial"/>
              </a:rPr>
              <a:t>от </a:t>
            </a:r>
            <a:r>
              <a:rPr sz="2000" spc="-15" dirty="0">
                <a:solidFill>
                  <a:srgbClr val="122767"/>
                </a:solidFill>
                <a:latin typeface="Arial"/>
                <a:cs typeface="Arial"/>
              </a:rPr>
              <a:t>интернет </a:t>
            </a:r>
            <a:r>
              <a:rPr sz="2000" spc="-25" dirty="0">
                <a:solidFill>
                  <a:srgbClr val="122767"/>
                </a:solidFill>
                <a:latin typeface="Arial"/>
                <a:cs typeface="Arial"/>
              </a:rPr>
              <a:t>без </a:t>
            </a:r>
            <a:r>
              <a:rPr sz="2000" spc="-15" dirty="0">
                <a:solidFill>
                  <a:srgbClr val="122767"/>
                </a:solidFill>
                <a:latin typeface="Arial"/>
                <a:cs typeface="Arial"/>
              </a:rPr>
              <a:t>знанието </a:t>
            </a:r>
            <a:r>
              <a:rPr sz="2000" spc="-10" dirty="0">
                <a:solidFill>
                  <a:srgbClr val="122767"/>
                </a:solidFill>
                <a:latin typeface="Arial"/>
                <a:cs typeface="Arial"/>
              </a:rPr>
              <a:t>на  </a:t>
            </a:r>
            <a:r>
              <a:rPr sz="2000" spc="-15" dirty="0">
                <a:solidFill>
                  <a:srgbClr val="122767"/>
                </a:solidFill>
                <a:latin typeface="Arial"/>
                <a:cs typeface="Arial"/>
              </a:rPr>
              <a:t>родителите </a:t>
            </a:r>
            <a:r>
              <a:rPr sz="2000" spc="-5" dirty="0">
                <a:solidFill>
                  <a:srgbClr val="122767"/>
                </a:solidFill>
                <a:latin typeface="Arial"/>
                <a:cs typeface="Arial"/>
              </a:rPr>
              <a:t>си, </a:t>
            </a:r>
            <a:r>
              <a:rPr sz="2000" spc="-20" dirty="0">
                <a:solidFill>
                  <a:srgbClr val="122767"/>
                </a:solidFill>
                <a:latin typeface="Arial"/>
                <a:cs typeface="Arial"/>
              </a:rPr>
              <a:t>защото </a:t>
            </a:r>
            <a:r>
              <a:rPr sz="2000" spc="-5" dirty="0">
                <a:solidFill>
                  <a:srgbClr val="122767"/>
                </a:solidFill>
                <a:latin typeface="Arial"/>
                <a:cs typeface="Arial"/>
              </a:rPr>
              <a:t>някой </a:t>
            </a:r>
            <a:r>
              <a:rPr sz="2000" spc="-10" dirty="0">
                <a:solidFill>
                  <a:srgbClr val="122767"/>
                </a:solidFill>
                <a:latin typeface="Arial"/>
                <a:cs typeface="Arial"/>
              </a:rPr>
              <a:t>може </a:t>
            </a:r>
            <a:r>
              <a:rPr sz="2000" spc="-5" dirty="0">
                <a:solidFill>
                  <a:srgbClr val="122767"/>
                </a:solidFill>
                <a:latin typeface="Arial"/>
                <a:cs typeface="Arial"/>
              </a:rPr>
              <a:t>да </a:t>
            </a:r>
            <a:r>
              <a:rPr sz="2000" spc="-10" dirty="0">
                <a:solidFill>
                  <a:srgbClr val="122767"/>
                </a:solidFill>
                <a:latin typeface="Arial"/>
                <a:cs typeface="Arial"/>
              </a:rPr>
              <a:t>повреди компютъра </a:t>
            </a:r>
            <a:r>
              <a:rPr sz="2000" spc="-5" dirty="0">
                <a:solidFill>
                  <a:srgbClr val="122767"/>
                </a:solidFill>
                <a:latin typeface="Arial"/>
                <a:cs typeface="Arial"/>
              </a:rPr>
              <a:t>или да достигне до  </a:t>
            </a:r>
            <a:r>
              <a:rPr sz="2000" spc="-10" dirty="0">
                <a:solidFill>
                  <a:srgbClr val="122767"/>
                </a:solidFill>
                <a:latin typeface="Arial"/>
                <a:cs typeface="Arial"/>
              </a:rPr>
              <a:t>данни </a:t>
            </a:r>
            <a:r>
              <a:rPr sz="2000" spc="-5" dirty="0">
                <a:solidFill>
                  <a:srgbClr val="122767"/>
                </a:solidFill>
                <a:latin typeface="Arial"/>
                <a:cs typeface="Arial"/>
              </a:rPr>
              <a:t>за </a:t>
            </a:r>
            <a:r>
              <a:rPr sz="2000" spc="-10" dirty="0">
                <a:solidFill>
                  <a:srgbClr val="122767"/>
                </a:solidFill>
                <a:latin typeface="Arial"/>
                <a:cs typeface="Arial"/>
              </a:rPr>
              <a:t>вас </a:t>
            </a:r>
            <a:r>
              <a:rPr sz="2000" spc="-5" dirty="0">
                <a:solidFill>
                  <a:srgbClr val="122767"/>
                </a:solidFill>
                <a:latin typeface="Arial"/>
                <a:cs typeface="Arial"/>
              </a:rPr>
              <a:t>или </a:t>
            </a:r>
            <a:r>
              <a:rPr sz="2000" spc="-15" dirty="0">
                <a:solidFill>
                  <a:srgbClr val="122767"/>
                </a:solidFill>
                <a:latin typeface="Arial"/>
                <a:cs typeface="Arial"/>
              </a:rPr>
              <a:t>семейството</a:t>
            </a:r>
            <a:r>
              <a:rPr sz="2000" spc="100" dirty="0">
                <a:solidFill>
                  <a:srgbClr val="122767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122767"/>
                </a:solidFill>
                <a:latin typeface="Arial"/>
                <a:cs typeface="Arial"/>
              </a:rPr>
              <a:t>ви.</a:t>
            </a:r>
            <a:endParaRPr sz="2000" dirty="0">
              <a:latin typeface="Arial"/>
              <a:cs typeface="Arial"/>
            </a:endParaRPr>
          </a:p>
        </p:txBody>
      </p:sp>
      <p:pic>
        <p:nvPicPr>
          <p:cNvPr id="6" name="Picture 5" descr="_e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5943600"/>
            <a:ext cx="868680" cy="90529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838200"/>
            <a:ext cx="8686800" cy="5339258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sp>
        <p:nvSpPr>
          <p:cNvPr id="2" name="Текстово поле 3">
            <a:extLst>
              <a:ext uri="{FF2B5EF4-FFF2-40B4-BE49-F238E27FC236}">
                <a16:creationId xmlns:a16="http://schemas.microsoft.com/office/drawing/2014/main" id="{7180E73B-0DA8-46A7-F8B9-4A795C54B260}"/>
              </a:ext>
            </a:extLst>
          </p:cNvPr>
          <p:cNvSpPr txBox="1"/>
          <p:nvPr/>
        </p:nvSpPr>
        <p:spPr>
          <a:xfrm>
            <a:off x="2895600" y="6519446"/>
            <a:ext cx="47290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bg-BG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bg-BG" sz="1600" dirty="0"/>
              <a:t>КМИТ, 5 клас, Елена Маврова-Ненкова</a:t>
            </a:r>
          </a:p>
        </p:txBody>
      </p:sp>
      <p:pic>
        <p:nvPicPr>
          <p:cNvPr id="1027" name="Picture 1026" descr="_em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40" y="5943600"/>
            <a:ext cx="868680" cy="905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40172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197388"/>
            <a:ext cx="8640959" cy="6308669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sp>
        <p:nvSpPr>
          <p:cNvPr id="4" name="Правоъгълник 3"/>
          <p:cNvSpPr/>
          <p:nvPr/>
        </p:nvSpPr>
        <p:spPr>
          <a:xfrm>
            <a:off x="1331640" y="3212976"/>
            <a:ext cx="7200800" cy="3168352"/>
          </a:xfrm>
          <a:prstGeom prst="rect">
            <a:avLst/>
          </a:prstGeom>
          <a:noFill/>
          <a:ln w="381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6" name="Правоъгълник 5"/>
          <p:cNvSpPr/>
          <p:nvPr/>
        </p:nvSpPr>
        <p:spPr>
          <a:xfrm>
            <a:off x="2430398" y="332656"/>
            <a:ext cx="4392488" cy="707886"/>
          </a:xfrm>
          <a:prstGeom prst="rect">
            <a:avLst/>
          </a:prstGeom>
          <a:solidFill>
            <a:schemeClr val="bg1"/>
          </a:solidFill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bg-BG" sz="4000" b="1" spc="300" dirty="0">
                <a:ln w="11430" cmpd="sng">
                  <a:solidFill>
                    <a:schemeClr val="accent1">
                      <a:tint val="10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1">
                        <a:tint val="83000"/>
                        <a:shade val="100000"/>
                        <a:satMod val="200000"/>
                      </a:schemeClr>
                    </a:gs>
                    <a:gs pos="75000">
                      <a:schemeClr val="accent1">
                        <a:tint val="100000"/>
                        <a:shade val="50000"/>
                        <a:satMod val="150000"/>
                      </a:schemeClr>
                    </a:gs>
                  </a:gsLst>
                  <a:lin ang="5400000"/>
                </a:gradFill>
                <a:effectLst>
                  <a:glow rad="45500">
                    <a:schemeClr val="accent1">
                      <a:satMod val="220000"/>
                      <a:alpha val="35000"/>
                    </a:schemeClr>
                  </a:glow>
                </a:effectLst>
                <a:latin typeface="Franklin Gothic Heavy" panose="020B0903020102020204" pitchFamily="34" charset="0"/>
              </a:rPr>
              <a:t>Правило 1</a:t>
            </a:r>
            <a:endParaRPr lang="bg-BG" sz="4000" b="1" cap="none" spc="300" dirty="0">
              <a:ln w="11430" cmpd="sng">
                <a:solidFill>
                  <a:schemeClr val="accent1">
                    <a:tint val="10000"/>
                  </a:schemeClr>
                </a:solidFill>
                <a:prstDash val="solid"/>
                <a:miter lim="800000"/>
              </a:ln>
              <a:gradFill>
                <a:gsLst>
                  <a:gs pos="10000">
                    <a:schemeClr val="accent1">
                      <a:tint val="83000"/>
                      <a:shade val="100000"/>
                      <a:satMod val="200000"/>
                    </a:schemeClr>
                  </a:gs>
                  <a:gs pos="75000">
                    <a:schemeClr val="accent1">
                      <a:tint val="100000"/>
                      <a:shade val="50000"/>
                      <a:satMod val="150000"/>
                    </a:schemeClr>
                  </a:gs>
                </a:gsLst>
                <a:lin ang="5400000"/>
              </a:gradFill>
              <a:effectLst>
                <a:glow rad="45500">
                  <a:schemeClr val="accent1">
                    <a:satMod val="220000"/>
                    <a:alpha val="35000"/>
                  </a:schemeClr>
                </a:glow>
              </a:effectLst>
              <a:latin typeface="Franklin Gothic Heavy" panose="020B0903020102020204" pitchFamily="34" charset="0"/>
            </a:endParaRPr>
          </a:p>
        </p:txBody>
      </p:sp>
      <p:pic>
        <p:nvPicPr>
          <p:cNvPr id="2051" name="Picture 2050" descr="_em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40" y="5943600"/>
            <a:ext cx="868680" cy="905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64345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135352"/>
            <a:ext cx="8568952" cy="6234721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sp>
        <p:nvSpPr>
          <p:cNvPr id="5" name="Правоъгълник 4"/>
          <p:cNvSpPr/>
          <p:nvPr/>
        </p:nvSpPr>
        <p:spPr>
          <a:xfrm>
            <a:off x="1259632" y="3068960"/>
            <a:ext cx="7344816" cy="3168352"/>
          </a:xfrm>
          <a:prstGeom prst="rect">
            <a:avLst/>
          </a:prstGeom>
          <a:noFill/>
          <a:ln w="381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6" name="Правоъгълник 5"/>
          <p:cNvSpPr/>
          <p:nvPr/>
        </p:nvSpPr>
        <p:spPr>
          <a:xfrm>
            <a:off x="2555776" y="332656"/>
            <a:ext cx="4392488" cy="707886"/>
          </a:xfrm>
          <a:prstGeom prst="rect">
            <a:avLst/>
          </a:prstGeom>
          <a:solidFill>
            <a:schemeClr val="bg1"/>
          </a:solidFill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bg-BG" sz="4000" b="1" spc="300" dirty="0">
                <a:ln w="11430" cmpd="sng">
                  <a:solidFill>
                    <a:schemeClr val="accent1">
                      <a:tint val="10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1">
                        <a:tint val="83000"/>
                        <a:shade val="100000"/>
                        <a:satMod val="200000"/>
                      </a:schemeClr>
                    </a:gs>
                    <a:gs pos="75000">
                      <a:schemeClr val="accent1">
                        <a:tint val="100000"/>
                        <a:shade val="50000"/>
                        <a:satMod val="150000"/>
                      </a:schemeClr>
                    </a:gs>
                  </a:gsLst>
                  <a:lin ang="5400000"/>
                </a:gradFill>
                <a:effectLst>
                  <a:glow rad="45500">
                    <a:schemeClr val="accent1">
                      <a:satMod val="220000"/>
                      <a:alpha val="35000"/>
                    </a:schemeClr>
                  </a:glow>
                </a:effectLst>
                <a:latin typeface="Franklin Gothic Heavy" panose="020B0903020102020204" pitchFamily="34" charset="0"/>
              </a:rPr>
              <a:t>Правило 2</a:t>
            </a:r>
            <a:endParaRPr lang="bg-BG" sz="4000" b="1" cap="none" spc="300" dirty="0">
              <a:ln w="11430" cmpd="sng">
                <a:solidFill>
                  <a:schemeClr val="accent1">
                    <a:tint val="10000"/>
                  </a:schemeClr>
                </a:solidFill>
                <a:prstDash val="solid"/>
                <a:miter lim="800000"/>
              </a:ln>
              <a:gradFill>
                <a:gsLst>
                  <a:gs pos="10000">
                    <a:schemeClr val="accent1">
                      <a:tint val="83000"/>
                      <a:shade val="100000"/>
                      <a:satMod val="200000"/>
                    </a:schemeClr>
                  </a:gs>
                  <a:gs pos="75000">
                    <a:schemeClr val="accent1">
                      <a:tint val="100000"/>
                      <a:shade val="50000"/>
                      <a:satMod val="150000"/>
                    </a:schemeClr>
                  </a:gs>
                </a:gsLst>
                <a:lin ang="5400000"/>
              </a:gradFill>
              <a:effectLst>
                <a:glow rad="45500">
                  <a:schemeClr val="accent1">
                    <a:satMod val="220000"/>
                    <a:alpha val="35000"/>
                  </a:schemeClr>
                </a:glow>
              </a:effectLst>
              <a:latin typeface="Franklin Gothic Heavy" panose="020B0903020102020204" pitchFamily="34" charset="0"/>
            </a:endParaRPr>
          </a:p>
        </p:txBody>
      </p:sp>
      <p:pic>
        <p:nvPicPr>
          <p:cNvPr id="3075" name="Picture 3074" descr="_em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40" y="5943600"/>
            <a:ext cx="868680" cy="905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15048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301633"/>
            <a:ext cx="8568952" cy="6308656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sp>
        <p:nvSpPr>
          <p:cNvPr id="4" name="Правоъгълник 3"/>
          <p:cNvSpPr/>
          <p:nvPr/>
        </p:nvSpPr>
        <p:spPr>
          <a:xfrm>
            <a:off x="2411760" y="313625"/>
            <a:ext cx="4392488" cy="707886"/>
          </a:xfrm>
          <a:prstGeom prst="rect">
            <a:avLst/>
          </a:prstGeom>
          <a:solidFill>
            <a:schemeClr val="bg1"/>
          </a:solidFill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bg-BG" sz="4000" b="1" spc="300" dirty="0">
                <a:ln w="11430" cmpd="sng">
                  <a:solidFill>
                    <a:schemeClr val="accent1">
                      <a:tint val="10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1">
                        <a:tint val="83000"/>
                        <a:shade val="100000"/>
                        <a:satMod val="200000"/>
                      </a:schemeClr>
                    </a:gs>
                    <a:gs pos="75000">
                      <a:schemeClr val="accent1">
                        <a:tint val="100000"/>
                        <a:shade val="50000"/>
                        <a:satMod val="150000"/>
                      </a:schemeClr>
                    </a:gs>
                  </a:gsLst>
                  <a:lin ang="5400000"/>
                </a:gradFill>
                <a:effectLst>
                  <a:glow rad="45500">
                    <a:schemeClr val="accent1">
                      <a:satMod val="220000"/>
                      <a:alpha val="35000"/>
                    </a:schemeClr>
                  </a:glow>
                </a:effectLst>
                <a:latin typeface="Franklin Gothic Heavy" panose="020B0903020102020204" pitchFamily="34" charset="0"/>
              </a:rPr>
              <a:t>Правило 3</a:t>
            </a:r>
            <a:endParaRPr lang="bg-BG" sz="4000" b="1" cap="none" spc="300" dirty="0">
              <a:ln w="11430" cmpd="sng">
                <a:solidFill>
                  <a:schemeClr val="accent1">
                    <a:tint val="10000"/>
                  </a:schemeClr>
                </a:solidFill>
                <a:prstDash val="solid"/>
                <a:miter lim="800000"/>
              </a:ln>
              <a:gradFill>
                <a:gsLst>
                  <a:gs pos="10000">
                    <a:schemeClr val="accent1">
                      <a:tint val="83000"/>
                      <a:shade val="100000"/>
                      <a:satMod val="200000"/>
                    </a:schemeClr>
                  </a:gs>
                  <a:gs pos="75000">
                    <a:schemeClr val="accent1">
                      <a:tint val="100000"/>
                      <a:shade val="50000"/>
                      <a:satMod val="150000"/>
                    </a:schemeClr>
                  </a:gs>
                </a:gsLst>
                <a:lin ang="5400000"/>
              </a:gradFill>
              <a:effectLst>
                <a:glow rad="45500">
                  <a:schemeClr val="accent1">
                    <a:satMod val="220000"/>
                    <a:alpha val="35000"/>
                  </a:schemeClr>
                </a:glow>
              </a:effectLst>
              <a:latin typeface="Franklin Gothic Heavy" panose="020B0903020102020204" pitchFamily="34" charset="0"/>
            </a:endParaRPr>
          </a:p>
        </p:txBody>
      </p:sp>
      <p:sp>
        <p:nvSpPr>
          <p:cNvPr id="9" name="Правоъгълник 8"/>
          <p:cNvSpPr/>
          <p:nvPr/>
        </p:nvSpPr>
        <p:spPr>
          <a:xfrm>
            <a:off x="1115616" y="2564904"/>
            <a:ext cx="7200800" cy="3960440"/>
          </a:xfrm>
          <a:prstGeom prst="rect">
            <a:avLst/>
          </a:prstGeom>
          <a:noFill/>
          <a:ln w="381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pic>
        <p:nvPicPr>
          <p:cNvPr id="4100" name="Picture 4099" descr="_em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40" y="5943600"/>
            <a:ext cx="868680" cy="905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61477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176084"/>
            <a:ext cx="8640960" cy="6550858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sp>
        <p:nvSpPr>
          <p:cNvPr id="5" name="Правоъгълник 4"/>
          <p:cNvSpPr/>
          <p:nvPr/>
        </p:nvSpPr>
        <p:spPr>
          <a:xfrm>
            <a:off x="2411760" y="184909"/>
            <a:ext cx="4392488" cy="707886"/>
          </a:xfrm>
          <a:prstGeom prst="rect">
            <a:avLst/>
          </a:prstGeom>
          <a:solidFill>
            <a:schemeClr val="bg1"/>
          </a:solidFill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bg-BG" sz="4000" b="1" spc="300" dirty="0">
                <a:ln w="11430" cmpd="sng">
                  <a:solidFill>
                    <a:schemeClr val="accent1">
                      <a:tint val="10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1">
                        <a:tint val="83000"/>
                        <a:shade val="100000"/>
                        <a:satMod val="200000"/>
                      </a:schemeClr>
                    </a:gs>
                    <a:gs pos="75000">
                      <a:schemeClr val="accent1">
                        <a:tint val="100000"/>
                        <a:shade val="50000"/>
                        <a:satMod val="150000"/>
                      </a:schemeClr>
                    </a:gs>
                  </a:gsLst>
                  <a:lin ang="5400000"/>
                </a:gradFill>
                <a:effectLst>
                  <a:glow rad="45500">
                    <a:schemeClr val="accent1">
                      <a:satMod val="220000"/>
                      <a:alpha val="35000"/>
                    </a:schemeClr>
                  </a:glow>
                </a:effectLst>
                <a:latin typeface="Franklin Gothic Heavy" panose="020B0903020102020204" pitchFamily="34" charset="0"/>
              </a:rPr>
              <a:t>Правило 4</a:t>
            </a:r>
            <a:endParaRPr lang="bg-BG" sz="4000" b="1" cap="none" spc="300" dirty="0">
              <a:ln w="11430" cmpd="sng">
                <a:solidFill>
                  <a:schemeClr val="accent1">
                    <a:tint val="10000"/>
                  </a:schemeClr>
                </a:solidFill>
                <a:prstDash val="solid"/>
                <a:miter lim="800000"/>
              </a:ln>
              <a:gradFill>
                <a:gsLst>
                  <a:gs pos="10000">
                    <a:schemeClr val="accent1">
                      <a:tint val="83000"/>
                      <a:shade val="100000"/>
                      <a:satMod val="200000"/>
                    </a:schemeClr>
                  </a:gs>
                  <a:gs pos="75000">
                    <a:schemeClr val="accent1">
                      <a:tint val="100000"/>
                      <a:shade val="50000"/>
                      <a:satMod val="150000"/>
                    </a:schemeClr>
                  </a:gs>
                </a:gsLst>
                <a:lin ang="5400000"/>
              </a:gradFill>
              <a:effectLst>
                <a:glow rad="45500">
                  <a:schemeClr val="accent1">
                    <a:satMod val="220000"/>
                    <a:alpha val="35000"/>
                  </a:schemeClr>
                </a:glow>
              </a:effectLst>
              <a:latin typeface="Franklin Gothic Heavy" panose="020B0903020102020204" pitchFamily="34" charset="0"/>
            </a:endParaRPr>
          </a:p>
        </p:txBody>
      </p:sp>
      <p:sp>
        <p:nvSpPr>
          <p:cNvPr id="6" name="Правоъгълник 5"/>
          <p:cNvSpPr/>
          <p:nvPr/>
        </p:nvSpPr>
        <p:spPr>
          <a:xfrm>
            <a:off x="1043608" y="3068960"/>
            <a:ext cx="7560840" cy="3528392"/>
          </a:xfrm>
          <a:prstGeom prst="rect">
            <a:avLst/>
          </a:prstGeom>
          <a:noFill/>
          <a:ln w="381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pic>
        <p:nvPicPr>
          <p:cNvPr id="5123" name="Picture 5122" descr="_em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40" y="5943600"/>
            <a:ext cx="868680" cy="905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13716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2483" y="332655"/>
            <a:ext cx="8487989" cy="6274321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sp>
        <p:nvSpPr>
          <p:cNvPr id="5" name="Правоъгълник 4"/>
          <p:cNvSpPr/>
          <p:nvPr/>
        </p:nvSpPr>
        <p:spPr>
          <a:xfrm>
            <a:off x="2411760" y="404664"/>
            <a:ext cx="4392488" cy="707886"/>
          </a:xfrm>
          <a:prstGeom prst="rect">
            <a:avLst/>
          </a:prstGeom>
          <a:solidFill>
            <a:schemeClr val="bg1"/>
          </a:solidFill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bg-BG" sz="4000" b="1" spc="300" dirty="0">
                <a:ln w="11430" cmpd="sng">
                  <a:solidFill>
                    <a:schemeClr val="accent1">
                      <a:tint val="10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1">
                        <a:tint val="83000"/>
                        <a:shade val="100000"/>
                        <a:satMod val="200000"/>
                      </a:schemeClr>
                    </a:gs>
                    <a:gs pos="75000">
                      <a:schemeClr val="accent1">
                        <a:tint val="100000"/>
                        <a:shade val="50000"/>
                        <a:satMod val="150000"/>
                      </a:schemeClr>
                    </a:gs>
                  </a:gsLst>
                  <a:lin ang="5400000"/>
                </a:gradFill>
                <a:effectLst>
                  <a:glow rad="45500">
                    <a:schemeClr val="accent1">
                      <a:satMod val="220000"/>
                      <a:alpha val="35000"/>
                    </a:schemeClr>
                  </a:glow>
                </a:effectLst>
                <a:latin typeface="Franklin Gothic Heavy" panose="020B0903020102020204" pitchFamily="34" charset="0"/>
              </a:rPr>
              <a:t>Правило 5</a:t>
            </a:r>
            <a:endParaRPr lang="bg-BG" sz="4000" b="1" cap="none" spc="300" dirty="0">
              <a:ln w="11430" cmpd="sng">
                <a:solidFill>
                  <a:schemeClr val="accent1">
                    <a:tint val="10000"/>
                  </a:schemeClr>
                </a:solidFill>
                <a:prstDash val="solid"/>
                <a:miter lim="800000"/>
              </a:ln>
              <a:gradFill>
                <a:gsLst>
                  <a:gs pos="10000">
                    <a:schemeClr val="accent1">
                      <a:tint val="83000"/>
                      <a:shade val="100000"/>
                      <a:satMod val="200000"/>
                    </a:schemeClr>
                  </a:gs>
                  <a:gs pos="75000">
                    <a:schemeClr val="accent1">
                      <a:tint val="100000"/>
                      <a:shade val="50000"/>
                      <a:satMod val="150000"/>
                    </a:schemeClr>
                  </a:gs>
                </a:gsLst>
                <a:lin ang="5400000"/>
              </a:gradFill>
              <a:effectLst>
                <a:glow rad="45500">
                  <a:schemeClr val="accent1">
                    <a:satMod val="220000"/>
                    <a:alpha val="35000"/>
                  </a:schemeClr>
                </a:glow>
              </a:effectLst>
              <a:latin typeface="Franklin Gothic Heavy" panose="020B0903020102020204" pitchFamily="34" charset="0"/>
            </a:endParaRPr>
          </a:p>
        </p:txBody>
      </p:sp>
      <p:sp>
        <p:nvSpPr>
          <p:cNvPr id="6" name="Правоъгълник 5"/>
          <p:cNvSpPr/>
          <p:nvPr/>
        </p:nvSpPr>
        <p:spPr>
          <a:xfrm>
            <a:off x="1187624" y="3284984"/>
            <a:ext cx="7344816" cy="3240360"/>
          </a:xfrm>
          <a:prstGeom prst="rect">
            <a:avLst/>
          </a:prstGeom>
          <a:noFill/>
          <a:ln w="381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pic>
        <p:nvPicPr>
          <p:cNvPr id="6147" name="Picture 6146" descr="_em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40" y="5943600"/>
            <a:ext cx="868680" cy="905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55545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291460"/>
            <a:ext cx="8496943" cy="6275080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sp>
        <p:nvSpPr>
          <p:cNvPr id="5" name="Правоъгълник 4"/>
          <p:cNvSpPr/>
          <p:nvPr/>
        </p:nvSpPr>
        <p:spPr>
          <a:xfrm>
            <a:off x="1259631" y="2852935"/>
            <a:ext cx="7200801" cy="3600401"/>
          </a:xfrm>
          <a:prstGeom prst="rect">
            <a:avLst/>
          </a:prstGeom>
          <a:noFill/>
          <a:ln w="381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6" name="Правоъгълник 5"/>
          <p:cNvSpPr/>
          <p:nvPr/>
        </p:nvSpPr>
        <p:spPr>
          <a:xfrm>
            <a:off x="2267744" y="408850"/>
            <a:ext cx="4392488" cy="707886"/>
          </a:xfrm>
          <a:prstGeom prst="rect">
            <a:avLst/>
          </a:prstGeom>
          <a:solidFill>
            <a:schemeClr val="bg1"/>
          </a:solidFill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bg-BG" sz="4000" b="1" spc="300" dirty="0">
                <a:ln w="11430" cmpd="sng">
                  <a:solidFill>
                    <a:schemeClr val="accent1">
                      <a:tint val="10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1">
                        <a:tint val="83000"/>
                        <a:shade val="100000"/>
                        <a:satMod val="200000"/>
                      </a:schemeClr>
                    </a:gs>
                    <a:gs pos="75000">
                      <a:schemeClr val="accent1">
                        <a:tint val="100000"/>
                        <a:shade val="50000"/>
                        <a:satMod val="150000"/>
                      </a:schemeClr>
                    </a:gs>
                  </a:gsLst>
                  <a:lin ang="5400000"/>
                </a:gradFill>
                <a:effectLst>
                  <a:glow rad="45500">
                    <a:schemeClr val="accent1">
                      <a:satMod val="220000"/>
                      <a:alpha val="35000"/>
                    </a:schemeClr>
                  </a:glow>
                </a:effectLst>
                <a:latin typeface="Franklin Gothic Heavy" panose="020B0903020102020204" pitchFamily="34" charset="0"/>
              </a:rPr>
              <a:t>Правило 6</a:t>
            </a:r>
            <a:endParaRPr lang="bg-BG" sz="4000" b="1" cap="none" spc="300" dirty="0">
              <a:ln w="11430" cmpd="sng">
                <a:solidFill>
                  <a:schemeClr val="accent1">
                    <a:tint val="10000"/>
                  </a:schemeClr>
                </a:solidFill>
                <a:prstDash val="solid"/>
                <a:miter lim="800000"/>
              </a:ln>
              <a:gradFill>
                <a:gsLst>
                  <a:gs pos="10000">
                    <a:schemeClr val="accent1">
                      <a:tint val="83000"/>
                      <a:shade val="100000"/>
                      <a:satMod val="200000"/>
                    </a:schemeClr>
                  </a:gs>
                  <a:gs pos="75000">
                    <a:schemeClr val="accent1">
                      <a:tint val="100000"/>
                      <a:shade val="50000"/>
                      <a:satMod val="150000"/>
                    </a:schemeClr>
                  </a:gs>
                </a:gsLst>
                <a:lin ang="5400000"/>
              </a:gradFill>
              <a:effectLst>
                <a:glow rad="45500">
                  <a:schemeClr val="accent1">
                    <a:satMod val="220000"/>
                    <a:alpha val="35000"/>
                  </a:schemeClr>
                </a:glow>
              </a:effectLst>
              <a:latin typeface="Franklin Gothic Heavy" panose="020B0903020102020204" pitchFamily="34" charset="0"/>
            </a:endParaRPr>
          </a:p>
        </p:txBody>
      </p:sp>
      <p:pic>
        <p:nvPicPr>
          <p:cNvPr id="7171" name="Picture 7170" descr="_em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40" y="5943600"/>
            <a:ext cx="868680" cy="905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20890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4800" y="584403"/>
            <a:ext cx="883920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500245">
              <a:lnSpc>
                <a:spcPct val="100000"/>
              </a:lnSpc>
              <a:spcBef>
                <a:spcPts val="105"/>
              </a:spcBef>
            </a:pPr>
            <a:r>
              <a:rPr b="0" spc="-20" dirty="0">
                <a:latin typeface="Arial"/>
                <a:cs typeface="Arial"/>
              </a:rPr>
              <a:t>ВАЖНО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239977"/>
            <a:ext cx="7800340" cy="44170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75920" indent="-363855">
              <a:lnSpc>
                <a:spcPct val="100000"/>
              </a:lnSpc>
              <a:spcBef>
                <a:spcPts val="105"/>
              </a:spcBef>
              <a:buClr>
                <a:srgbClr val="174AB1"/>
              </a:buClr>
              <a:buSzPct val="96875"/>
              <a:buFont typeface="Wingdings"/>
              <a:buChar char=""/>
              <a:tabLst>
                <a:tab pos="376555" algn="l"/>
              </a:tabLst>
            </a:pPr>
            <a:r>
              <a:rPr sz="3200" b="1" spc="-10" dirty="0">
                <a:solidFill>
                  <a:srgbClr val="122767"/>
                </a:solidFill>
                <a:latin typeface="Arial"/>
                <a:cs typeface="Arial"/>
              </a:rPr>
              <a:t>Ако попаднете </a:t>
            </a:r>
            <a:r>
              <a:rPr sz="3200" b="1" spc="-5" dirty="0">
                <a:solidFill>
                  <a:srgbClr val="122767"/>
                </a:solidFill>
                <a:latin typeface="Arial"/>
                <a:cs typeface="Arial"/>
              </a:rPr>
              <a:t>на</a:t>
            </a:r>
            <a:r>
              <a:rPr sz="3200" b="1" spc="-45" dirty="0">
                <a:solidFill>
                  <a:srgbClr val="122767"/>
                </a:solidFill>
                <a:latin typeface="Arial"/>
                <a:cs typeface="Arial"/>
              </a:rPr>
              <a:t> </a:t>
            </a:r>
            <a:r>
              <a:rPr sz="3200" b="1" spc="-15" dirty="0">
                <a:solidFill>
                  <a:srgbClr val="122767"/>
                </a:solidFill>
                <a:latin typeface="Arial"/>
                <a:cs typeface="Arial"/>
              </a:rPr>
              <a:t>информация,</a:t>
            </a:r>
            <a:endParaRPr sz="3200">
              <a:latin typeface="Arial"/>
              <a:cs typeface="Arial"/>
            </a:endParaRPr>
          </a:p>
          <a:p>
            <a:pPr marL="355600" marR="5080">
              <a:lnSpc>
                <a:spcPct val="100000"/>
              </a:lnSpc>
              <a:spcBef>
                <a:spcPts val="5"/>
              </a:spcBef>
            </a:pPr>
            <a:r>
              <a:rPr sz="3200" b="1" spc="-15" dirty="0">
                <a:solidFill>
                  <a:srgbClr val="122767"/>
                </a:solidFill>
                <a:latin typeface="Arial"/>
                <a:cs typeface="Arial"/>
              </a:rPr>
              <a:t>изображения </a:t>
            </a:r>
            <a:r>
              <a:rPr sz="3200" b="1" dirty="0">
                <a:solidFill>
                  <a:srgbClr val="122767"/>
                </a:solidFill>
                <a:latin typeface="Arial"/>
                <a:cs typeface="Arial"/>
              </a:rPr>
              <a:t>или </a:t>
            </a:r>
            <a:r>
              <a:rPr sz="3200" b="1" spc="-5" dirty="0">
                <a:solidFill>
                  <a:srgbClr val="122767"/>
                </a:solidFill>
                <a:latin typeface="Arial"/>
                <a:cs typeface="Arial"/>
              </a:rPr>
              <a:t>видео </a:t>
            </a:r>
            <a:r>
              <a:rPr sz="3200" b="1" dirty="0">
                <a:solidFill>
                  <a:srgbClr val="122767"/>
                </a:solidFill>
                <a:latin typeface="Arial"/>
                <a:cs typeface="Arial"/>
              </a:rPr>
              <a:t>в </a:t>
            </a:r>
            <a:r>
              <a:rPr sz="3200" b="1" spc="-5" dirty="0">
                <a:solidFill>
                  <a:srgbClr val="122767"/>
                </a:solidFill>
                <a:latin typeface="Arial"/>
                <a:cs typeface="Arial"/>
              </a:rPr>
              <a:t>Мрежата,  </a:t>
            </a:r>
            <a:r>
              <a:rPr sz="3200" b="1" spc="-15" dirty="0">
                <a:solidFill>
                  <a:srgbClr val="122767"/>
                </a:solidFill>
                <a:latin typeface="Arial"/>
                <a:cs typeface="Arial"/>
              </a:rPr>
              <a:t>които </a:t>
            </a:r>
            <a:r>
              <a:rPr sz="3200" b="1" dirty="0">
                <a:solidFill>
                  <a:srgbClr val="122767"/>
                </a:solidFill>
                <a:latin typeface="Arial"/>
                <a:cs typeface="Arial"/>
              </a:rPr>
              <a:t>не ви </a:t>
            </a:r>
            <a:r>
              <a:rPr sz="3200" b="1" spc="-15" dirty="0">
                <a:solidFill>
                  <a:srgbClr val="122767"/>
                </a:solidFill>
                <a:latin typeface="Arial"/>
                <a:cs typeface="Arial"/>
              </a:rPr>
              <a:t>харесват </a:t>
            </a:r>
            <a:r>
              <a:rPr sz="3200" b="1" dirty="0">
                <a:solidFill>
                  <a:srgbClr val="122767"/>
                </a:solidFill>
                <a:latin typeface="Arial"/>
                <a:cs typeface="Arial"/>
              </a:rPr>
              <a:t>или ви плашат  по някакъв </a:t>
            </a:r>
            <a:r>
              <a:rPr sz="3200" b="1" spc="-15" dirty="0">
                <a:solidFill>
                  <a:srgbClr val="122767"/>
                </a:solidFill>
                <a:latin typeface="Arial"/>
                <a:cs typeface="Arial"/>
              </a:rPr>
              <a:t>начин, </a:t>
            </a:r>
            <a:r>
              <a:rPr sz="3200" b="1" spc="-25" dirty="0">
                <a:solidFill>
                  <a:srgbClr val="122767"/>
                </a:solidFill>
                <a:latin typeface="Arial"/>
                <a:cs typeface="Arial"/>
              </a:rPr>
              <a:t>може </a:t>
            </a:r>
            <a:r>
              <a:rPr sz="3200" b="1" dirty="0">
                <a:solidFill>
                  <a:srgbClr val="122767"/>
                </a:solidFill>
                <a:latin typeface="Arial"/>
                <a:cs typeface="Arial"/>
              </a:rPr>
              <a:t>да</a:t>
            </a:r>
            <a:r>
              <a:rPr sz="3200" b="1" spc="-100" dirty="0">
                <a:solidFill>
                  <a:srgbClr val="122767"/>
                </a:solidFill>
                <a:latin typeface="Arial"/>
                <a:cs typeface="Arial"/>
              </a:rPr>
              <a:t> </a:t>
            </a:r>
            <a:r>
              <a:rPr sz="3200" b="1" spc="-15" dirty="0">
                <a:solidFill>
                  <a:srgbClr val="122767"/>
                </a:solidFill>
                <a:latin typeface="Arial"/>
                <a:cs typeface="Arial"/>
              </a:rPr>
              <a:t>подадете  </a:t>
            </a:r>
            <a:r>
              <a:rPr sz="3200" b="1" spc="-5" dirty="0">
                <a:solidFill>
                  <a:srgbClr val="122767"/>
                </a:solidFill>
                <a:latin typeface="Arial"/>
                <a:cs typeface="Arial"/>
              </a:rPr>
              <a:t>сигнал </a:t>
            </a:r>
            <a:r>
              <a:rPr sz="3200" b="1" dirty="0">
                <a:solidFill>
                  <a:srgbClr val="122767"/>
                </a:solidFill>
                <a:latin typeface="Arial"/>
                <a:cs typeface="Arial"/>
              </a:rPr>
              <a:t>в </a:t>
            </a:r>
            <a:r>
              <a:rPr sz="3200" b="1" spc="-5" dirty="0">
                <a:solidFill>
                  <a:srgbClr val="122767"/>
                </a:solidFill>
                <a:latin typeface="Arial"/>
                <a:cs typeface="Arial"/>
              </a:rPr>
              <a:t>Агенцията </a:t>
            </a:r>
            <a:r>
              <a:rPr sz="3200" b="1" spc="-20" dirty="0">
                <a:solidFill>
                  <a:srgbClr val="122767"/>
                </a:solidFill>
                <a:latin typeface="Arial"/>
                <a:cs typeface="Arial"/>
              </a:rPr>
              <a:t>за </a:t>
            </a:r>
            <a:r>
              <a:rPr sz="3200" b="1" spc="-10" dirty="0">
                <a:solidFill>
                  <a:srgbClr val="122767"/>
                </a:solidFill>
                <a:latin typeface="Arial"/>
                <a:cs typeface="Arial"/>
              </a:rPr>
              <a:t>закрила</a:t>
            </a:r>
            <a:r>
              <a:rPr sz="3200" b="1" spc="-80" dirty="0">
                <a:solidFill>
                  <a:srgbClr val="122767"/>
                </a:solidFill>
                <a:latin typeface="Arial"/>
                <a:cs typeface="Arial"/>
              </a:rPr>
              <a:t> </a:t>
            </a:r>
            <a:r>
              <a:rPr sz="3200" b="1" dirty="0">
                <a:solidFill>
                  <a:srgbClr val="122767"/>
                </a:solidFill>
                <a:latin typeface="Arial"/>
                <a:cs typeface="Arial"/>
              </a:rPr>
              <a:t>на</a:t>
            </a:r>
            <a:endParaRPr sz="3200">
              <a:latin typeface="Arial"/>
              <a:cs typeface="Arial"/>
            </a:endParaRPr>
          </a:p>
          <a:p>
            <a:pPr marL="355600" marR="71120">
              <a:lnSpc>
                <a:spcPct val="100000"/>
              </a:lnSpc>
            </a:pPr>
            <a:r>
              <a:rPr sz="3200" b="1" spc="-20" dirty="0">
                <a:solidFill>
                  <a:srgbClr val="122767"/>
                </a:solidFill>
                <a:latin typeface="Arial"/>
                <a:cs typeface="Arial"/>
              </a:rPr>
              <a:t>детето </a:t>
            </a:r>
            <a:r>
              <a:rPr sz="3200" b="1" dirty="0">
                <a:solidFill>
                  <a:srgbClr val="122767"/>
                </a:solidFill>
                <a:latin typeface="Arial"/>
                <a:cs typeface="Arial"/>
              </a:rPr>
              <a:t>на тел. </a:t>
            </a:r>
            <a:r>
              <a:rPr sz="3200" b="1" spc="-5" dirty="0">
                <a:solidFill>
                  <a:srgbClr val="122767"/>
                </a:solidFill>
                <a:latin typeface="Arial"/>
                <a:cs typeface="Arial"/>
              </a:rPr>
              <a:t>02/933 90 50,  Националната </a:t>
            </a:r>
            <a:r>
              <a:rPr sz="3200" b="1" spc="-10" dirty="0">
                <a:solidFill>
                  <a:srgbClr val="122767"/>
                </a:solidFill>
                <a:latin typeface="Arial"/>
                <a:cs typeface="Arial"/>
              </a:rPr>
              <a:t>телефонна </a:t>
            </a:r>
            <a:r>
              <a:rPr sz="3200" b="1" spc="-5" dirty="0">
                <a:solidFill>
                  <a:srgbClr val="122767"/>
                </a:solidFill>
                <a:latin typeface="Arial"/>
                <a:cs typeface="Arial"/>
              </a:rPr>
              <a:t>линия </a:t>
            </a:r>
            <a:r>
              <a:rPr sz="3200" b="1" spc="-10" dirty="0">
                <a:solidFill>
                  <a:srgbClr val="122767"/>
                </a:solidFill>
                <a:latin typeface="Arial"/>
                <a:cs typeface="Arial"/>
              </a:rPr>
              <a:t>080  </a:t>
            </a:r>
            <a:r>
              <a:rPr sz="3200" b="1" spc="-5" dirty="0">
                <a:solidFill>
                  <a:srgbClr val="122767"/>
                </a:solidFill>
                <a:latin typeface="Arial"/>
                <a:cs typeface="Arial"/>
              </a:rPr>
              <a:t>019 </a:t>
            </a:r>
            <a:r>
              <a:rPr sz="3200" b="1" spc="-10" dirty="0">
                <a:solidFill>
                  <a:srgbClr val="122767"/>
                </a:solidFill>
                <a:latin typeface="Arial"/>
                <a:cs typeface="Arial"/>
              </a:rPr>
              <a:t>100, </a:t>
            </a:r>
            <a:r>
              <a:rPr sz="3200" b="1" dirty="0">
                <a:solidFill>
                  <a:srgbClr val="122767"/>
                </a:solidFill>
                <a:latin typeface="Arial"/>
                <a:cs typeface="Arial"/>
              </a:rPr>
              <a:t>на тел. </a:t>
            </a:r>
            <a:r>
              <a:rPr sz="3200" b="1" spc="-65" dirty="0">
                <a:solidFill>
                  <a:srgbClr val="122767"/>
                </a:solidFill>
                <a:latin typeface="Arial"/>
                <a:cs typeface="Arial"/>
              </a:rPr>
              <a:t>112 </a:t>
            </a:r>
            <a:r>
              <a:rPr sz="3200" b="1" dirty="0">
                <a:solidFill>
                  <a:srgbClr val="122767"/>
                </a:solidFill>
                <a:latin typeface="Arial"/>
                <a:cs typeface="Arial"/>
              </a:rPr>
              <a:t>или на </a:t>
            </a:r>
            <a:r>
              <a:rPr sz="3200" b="1" spc="-15" dirty="0">
                <a:solidFill>
                  <a:srgbClr val="122767"/>
                </a:solidFill>
                <a:latin typeface="Arial"/>
                <a:cs typeface="Arial"/>
              </a:rPr>
              <a:t>адрес:  </a:t>
            </a:r>
            <a:r>
              <a:rPr sz="3200" b="1" spc="-20" dirty="0">
                <a:solidFill>
                  <a:srgbClr val="122767"/>
                </a:solidFill>
                <a:latin typeface="Arial"/>
                <a:cs typeface="Arial"/>
              </a:rPr>
              <a:t>web112.net.</a:t>
            </a:r>
            <a:endParaRPr sz="32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171688" y="188976"/>
            <a:ext cx="792480" cy="431800"/>
          </a:xfrm>
          <a:custGeom>
            <a:avLst/>
            <a:gdLst/>
            <a:ahLst/>
            <a:cxnLst/>
            <a:rect l="l" t="t" r="r" b="b"/>
            <a:pathLst>
              <a:path w="792479" h="431800">
                <a:moveTo>
                  <a:pt x="396239" y="0"/>
                </a:moveTo>
                <a:lnTo>
                  <a:pt x="337690" y="2337"/>
                </a:lnTo>
                <a:lnTo>
                  <a:pt x="281806" y="9127"/>
                </a:lnTo>
                <a:lnTo>
                  <a:pt x="229202" y="20038"/>
                </a:lnTo>
                <a:lnTo>
                  <a:pt x="180490" y="34734"/>
                </a:lnTo>
                <a:lnTo>
                  <a:pt x="136284" y="52884"/>
                </a:lnTo>
                <a:lnTo>
                  <a:pt x="97196" y="74155"/>
                </a:lnTo>
                <a:lnTo>
                  <a:pt x="63840" y="98212"/>
                </a:lnTo>
                <a:lnTo>
                  <a:pt x="16777" y="153354"/>
                </a:lnTo>
                <a:lnTo>
                  <a:pt x="0" y="215646"/>
                </a:lnTo>
                <a:lnTo>
                  <a:pt x="4296" y="247518"/>
                </a:lnTo>
                <a:lnTo>
                  <a:pt x="36830" y="306569"/>
                </a:lnTo>
                <a:lnTo>
                  <a:pt x="97196" y="357136"/>
                </a:lnTo>
                <a:lnTo>
                  <a:pt x="136284" y="378407"/>
                </a:lnTo>
                <a:lnTo>
                  <a:pt x="180490" y="396557"/>
                </a:lnTo>
                <a:lnTo>
                  <a:pt x="229202" y="411253"/>
                </a:lnTo>
                <a:lnTo>
                  <a:pt x="281806" y="422164"/>
                </a:lnTo>
                <a:lnTo>
                  <a:pt x="337690" y="428954"/>
                </a:lnTo>
                <a:lnTo>
                  <a:pt x="396239" y="431291"/>
                </a:lnTo>
                <a:lnTo>
                  <a:pt x="454789" y="428954"/>
                </a:lnTo>
                <a:lnTo>
                  <a:pt x="510673" y="422164"/>
                </a:lnTo>
                <a:lnTo>
                  <a:pt x="563277" y="411253"/>
                </a:lnTo>
                <a:lnTo>
                  <a:pt x="611989" y="396557"/>
                </a:lnTo>
                <a:lnTo>
                  <a:pt x="656195" y="378407"/>
                </a:lnTo>
                <a:lnTo>
                  <a:pt x="695283" y="357136"/>
                </a:lnTo>
                <a:lnTo>
                  <a:pt x="728639" y="333079"/>
                </a:lnTo>
                <a:lnTo>
                  <a:pt x="775702" y="277937"/>
                </a:lnTo>
                <a:lnTo>
                  <a:pt x="792479" y="215646"/>
                </a:lnTo>
                <a:lnTo>
                  <a:pt x="788183" y="183773"/>
                </a:lnTo>
                <a:lnTo>
                  <a:pt x="755649" y="124722"/>
                </a:lnTo>
                <a:lnTo>
                  <a:pt x="695283" y="74155"/>
                </a:lnTo>
                <a:lnTo>
                  <a:pt x="656195" y="52884"/>
                </a:lnTo>
                <a:lnTo>
                  <a:pt x="611989" y="34734"/>
                </a:lnTo>
                <a:lnTo>
                  <a:pt x="563277" y="20038"/>
                </a:lnTo>
                <a:lnTo>
                  <a:pt x="510673" y="9127"/>
                </a:lnTo>
                <a:lnTo>
                  <a:pt x="454789" y="2337"/>
                </a:lnTo>
                <a:lnTo>
                  <a:pt x="39623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8186039" y="265937"/>
            <a:ext cx="826135" cy="3511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2000" b="1" spc="-455" dirty="0">
                <a:solidFill>
                  <a:srgbClr val="FFFFFF"/>
                </a:solidFill>
                <a:latin typeface="Arial"/>
                <a:cs typeface="Arial"/>
              </a:rPr>
              <a:t>LO</a:t>
            </a:r>
            <a:r>
              <a:rPr sz="2700" spc="-682" baseline="10802" dirty="0">
                <a:solidFill>
                  <a:srgbClr val="FCEC1C"/>
                </a:solidFill>
                <a:latin typeface="Arial"/>
                <a:cs typeface="Arial"/>
              </a:rPr>
              <a:t>T</a:t>
            </a:r>
            <a:r>
              <a:rPr sz="3150" spc="-682" baseline="-11904" dirty="0">
                <a:solidFill>
                  <a:srgbClr val="FCEC1C"/>
                </a:solidFill>
                <a:latin typeface="Arial"/>
                <a:cs typeface="Arial"/>
              </a:rPr>
              <a:t>G</a:t>
            </a:r>
            <a:r>
              <a:rPr sz="2000" b="1" spc="-455" dirty="0">
                <a:solidFill>
                  <a:srgbClr val="FFFFFF"/>
                </a:solidFill>
                <a:latin typeface="Arial"/>
                <a:cs typeface="Arial"/>
              </a:rPr>
              <a:t>GO</a:t>
            </a:r>
            <a:endParaRPr sz="2000">
              <a:latin typeface="Arial"/>
              <a:cs typeface="Arial"/>
            </a:endParaRPr>
          </a:p>
        </p:txBody>
      </p:sp>
      <p:pic>
        <p:nvPicPr>
          <p:cNvPr id="6" name="Picture 5" descr="_e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5943600"/>
            <a:ext cx="868680" cy="905291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-1" y="1508758"/>
            <a:ext cx="9143999" cy="534923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6562343"/>
            <a:ext cx="9144000" cy="29565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61" y="6544056"/>
            <a:ext cx="9144000" cy="20320"/>
          </a:xfrm>
          <a:custGeom>
            <a:avLst/>
            <a:gdLst/>
            <a:ahLst/>
            <a:cxnLst/>
            <a:rect l="l" t="t" r="r" b="b"/>
            <a:pathLst>
              <a:path w="9144000" h="20320">
                <a:moveTo>
                  <a:pt x="0" y="19812"/>
                </a:moveTo>
                <a:lnTo>
                  <a:pt x="9144000" y="19812"/>
                </a:lnTo>
                <a:lnTo>
                  <a:pt x="9144000" y="0"/>
                </a:lnTo>
                <a:lnTo>
                  <a:pt x="0" y="0"/>
                </a:lnTo>
                <a:lnTo>
                  <a:pt x="0" y="198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810000" y="293624"/>
            <a:ext cx="5486400" cy="31793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>
              <a:lnSpc>
                <a:spcPct val="12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0D1D4D"/>
                </a:solidFill>
                <a:latin typeface="Arial"/>
                <a:cs typeface="Arial"/>
              </a:rPr>
              <a:t>bookmark </a:t>
            </a:r>
            <a:r>
              <a:rPr sz="2400" dirty="0">
                <a:solidFill>
                  <a:srgbClr val="0D1D4D"/>
                </a:solidFill>
                <a:latin typeface="Arial"/>
                <a:cs typeface="Arial"/>
              </a:rPr>
              <a:t>– </a:t>
            </a:r>
            <a:r>
              <a:rPr sz="2400" spc="-15" dirty="0">
                <a:solidFill>
                  <a:srgbClr val="0D1D4D"/>
                </a:solidFill>
                <a:latin typeface="Arial"/>
                <a:cs typeface="Arial"/>
              </a:rPr>
              <a:t>отметка, </a:t>
            </a:r>
            <a:r>
              <a:rPr sz="2400" dirty="0" err="1">
                <a:solidFill>
                  <a:srgbClr val="0D1D4D"/>
                </a:solidFill>
                <a:latin typeface="Arial"/>
                <a:cs typeface="Arial"/>
              </a:rPr>
              <a:t>маркер</a:t>
            </a:r>
            <a:r>
              <a:rPr sz="2400" dirty="0">
                <a:solidFill>
                  <a:srgbClr val="0D1D4D"/>
                </a:solidFill>
                <a:latin typeface="Arial"/>
                <a:cs typeface="Arial"/>
              </a:rPr>
              <a:t>  </a:t>
            </a:r>
            <a:endParaRPr lang="bg-BG" sz="2400" dirty="0">
              <a:solidFill>
                <a:srgbClr val="0D1D4D"/>
              </a:solidFill>
              <a:latin typeface="Arial"/>
              <a:cs typeface="Arial"/>
            </a:endParaRPr>
          </a:p>
          <a:p>
            <a:pPr marL="12065" marR="5080">
              <a:lnSpc>
                <a:spcPct val="120000"/>
              </a:lnSpc>
              <a:spcBef>
                <a:spcPts val="100"/>
              </a:spcBef>
            </a:pPr>
            <a:r>
              <a:rPr sz="2400" b="1" dirty="0">
                <a:solidFill>
                  <a:srgbClr val="0D1D4D"/>
                </a:solidFill>
                <a:latin typeface="Arial"/>
                <a:cs typeface="Arial"/>
              </a:rPr>
              <a:t>browser </a:t>
            </a:r>
            <a:r>
              <a:rPr sz="2400" dirty="0">
                <a:solidFill>
                  <a:srgbClr val="0D1D4D"/>
                </a:solidFill>
                <a:latin typeface="Arial"/>
                <a:cs typeface="Arial"/>
              </a:rPr>
              <a:t>– </a:t>
            </a:r>
            <a:r>
              <a:rPr sz="2400" spc="-10" dirty="0" err="1">
                <a:solidFill>
                  <a:srgbClr val="0D1D4D"/>
                </a:solidFill>
                <a:latin typeface="Arial"/>
                <a:cs typeface="Arial"/>
              </a:rPr>
              <a:t>браузър</a:t>
            </a:r>
            <a:r>
              <a:rPr sz="2400" spc="-10" dirty="0">
                <a:solidFill>
                  <a:srgbClr val="0D1D4D"/>
                </a:solidFill>
                <a:latin typeface="Arial"/>
                <a:cs typeface="Arial"/>
              </a:rPr>
              <a:t>  </a:t>
            </a:r>
            <a:endParaRPr lang="bg-BG" sz="2400" spc="-10" dirty="0">
              <a:solidFill>
                <a:srgbClr val="0D1D4D"/>
              </a:solidFill>
              <a:latin typeface="Arial"/>
              <a:cs typeface="Arial"/>
            </a:endParaRPr>
          </a:p>
          <a:p>
            <a:pPr marL="12065" marR="5080">
              <a:lnSpc>
                <a:spcPct val="12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0D1D4D"/>
                </a:solidFill>
                <a:latin typeface="Arial"/>
                <a:cs typeface="Arial"/>
              </a:rPr>
              <a:t>hyperlink </a:t>
            </a:r>
            <a:r>
              <a:rPr sz="2400" dirty="0">
                <a:solidFill>
                  <a:srgbClr val="0D1D4D"/>
                </a:solidFill>
                <a:latin typeface="Arial"/>
                <a:cs typeface="Arial"/>
              </a:rPr>
              <a:t>–</a:t>
            </a:r>
            <a:r>
              <a:rPr sz="2400" spc="-10" dirty="0">
                <a:solidFill>
                  <a:srgbClr val="0D1D4D"/>
                </a:solidFill>
                <a:latin typeface="Arial"/>
                <a:cs typeface="Arial"/>
              </a:rPr>
              <a:t> </a:t>
            </a:r>
            <a:r>
              <a:rPr sz="2400" spc="-15" dirty="0" err="1">
                <a:solidFill>
                  <a:srgbClr val="0D1D4D"/>
                </a:solidFill>
                <a:latin typeface="Arial"/>
                <a:cs typeface="Arial"/>
              </a:rPr>
              <a:t>хиперлинк</a:t>
            </a:r>
            <a:r>
              <a:rPr sz="2400" spc="-15" dirty="0">
                <a:solidFill>
                  <a:srgbClr val="0D1D4D"/>
                </a:solidFill>
                <a:latin typeface="Arial"/>
                <a:cs typeface="Arial"/>
              </a:rPr>
              <a:t>,</a:t>
            </a:r>
            <a:r>
              <a:rPr lang="bg-BG" sz="2400" spc="-15" dirty="0">
                <a:solidFill>
                  <a:srgbClr val="0D1D4D"/>
                </a:solidFill>
                <a:latin typeface="Arial"/>
                <a:cs typeface="Arial"/>
              </a:rPr>
              <a:t> </a:t>
            </a:r>
            <a:r>
              <a:rPr sz="2400" dirty="0" err="1">
                <a:solidFill>
                  <a:srgbClr val="0D1D4D"/>
                </a:solidFill>
                <a:latin typeface="Arial"/>
                <a:cs typeface="Arial"/>
              </a:rPr>
              <a:t>хипервръзка</a:t>
            </a:r>
            <a:r>
              <a:rPr sz="2400" dirty="0">
                <a:solidFill>
                  <a:srgbClr val="0D1D4D"/>
                </a:solidFill>
                <a:latin typeface="Arial"/>
                <a:cs typeface="Arial"/>
              </a:rPr>
              <a:t>  </a:t>
            </a:r>
            <a:r>
              <a:rPr sz="2400" b="1" dirty="0">
                <a:solidFill>
                  <a:srgbClr val="0D1D4D"/>
                </a:solidFill>
                <a:latin typeface="Arial"/>
                <a:cs typeface="Arial"/>
              </a:rPr>
              <a:t>internet </a:t>
            </a:r>
            <a:r>
              <a:rPr sz="2400" dirty="0">
                <a:solidFill>
                  <a:srgbClr val="0D1D4D"/>
                </a:solidFill>
                <a:latin typeface="Arial"/>
                <a:cs typeface="Arial"/>
              </a:rPr>
              <a:t>–</a:t>
            </a:r>
            <a:r>
              <a:rPr sz="2400" spc="-90" dirty="0">
                <a:solidFill>
                  <a:srgbClr val="0D1D4D"/>
                </a:solidFill>
                <a:latin typeface="Arial"/>
                <a:cs typeface="Arial"/>
              </a:rPr>
              <a:t> </a:t>
            </a:r>
            <a:r>
              <a:rPr sz="2400" spc="-20" dirty="0" err="1">
                <a:solidFill>
                  <a:srgbClr val="0D1D4D"/>
                </a:solidFill>
                <a:latin typeface="Arial"/>
                <a:cs typeface="Arial"/>
              </a:rPr>
              <a:t>интернет</a:t>
            </a:r>
            <a:r>
              <a:rPr sz="2400" spc="-20" dirty="0">
                <a:solidFill>
                  <a:srgbClr val="0D1D4D"/>
                </a:solidFill>
                <a:latin typeface="Arial"/>
                <a:cs typeface="Arial"/>
              </a:rPr>
              <a:t>  </a:t>
            </a:r>
            <a:endParaRPr lang="bg-BG" sz="2400" spc="-20" dirty="0">
              <a:solidFill>
                <a:srgbClr val="0D1D4D"/>
              </a:solidFill>
              <a:latin typeface="Arial"/>
              <a:cs typeface="Arial"/>
            </a:endParaRPr>
          </a:p>
          <a:p>
            <a:pPr marL="12065" marR="5080">
              <a:lnSpc>
                <a:spcPct val="120000"/>
              </a:lnSpc>
              <a:spcBef>
                <a:spcPts val="100"/>
              </a:spcBef>
            </a:pPr>
            <a:r>
              <a:rPr sz="2400" b="1" dirty="0">
                <a:solidFill>
                  <a:srgbClr val="0D1D4D"/>
                </a:solidFill>
                <a:latin typeface="Arial"/>
                <a:cs typeface="Arial"/>
              </a:rPr>
              <a:t>network </a:t>
            </a:r>
            <a:r>
              <a:rPr sz="2400" dirty="0">
                <a:solidFill>
                  <a:srgbClr val="0D1D4D"/>
                </a:solidFill>
                <a:latin typeface="Arial"/>
                <a:cs typeface="Arial"/>
              </a:rPr>
              <a:t>– </a:t>
            </a:r>
            <a:r>
              <a:rPr sz="2400" spc="-5" dirty="0" err="1">
                <a:solidFill>
                  <a:srgbClr val="0D1D4D"/>
                </a:solidFill>
                <a:latin typeface="Arial"/>
                <a:cs typeface="Arial"/>
              </a:rPr>
              <a:t>мрежа</a:t>
            </a:r>
            <a:r>
              <a:rPr sz="2400" spc="-5" dirty="0">
                <a:solidFill>
                  <a:srgbClr val="0D1D4D"/>
                </a:solidFill>
                <a:latin typeface="Arial"/>
                <a:cs typeface="Arial"/>
              </a:rPr>
              <a:t>  </a:t>
            </a:r>
            <a:endParaRPr lang="bg-BG" sz="2400" spc="-5" dirty="0">
              <a:solidFill>
                <a:srgbClr val="0D1D4D"/>
              </a:solidFill>
              <a:latin typeface="Arial"/>
              <a:cs typeface="Arial"/>
            </a:endParaRPr>
          </a:p>
          <a:p>
            <a:pPr marL="12065" marR="5080">
              <a:lnSpc>
                <a:spcPct val="12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0D1D4D"/>
                </a:solidFill>
                <a:latin typeface="Arial"/>
                <a:cs typeface="Arial"/>
              </a:rPr>
              <a:t>refresh </a:t>
            </a:r>
            <a:r>
              <a:rPr sz="2400" dirty="0">
                <a:solidFill>
                  <a:srgbClr val="0D1D4D"/>
                </a:solidFill>
                <a:latin typeface="Arial"/>
                <a:cs typeface="Arial"/>
              </a:rPr>
              <a:t>– </a:t>
            </a:r>
            <a:r>
              <a:rPr sz="2400" spc="-10" dirty="0" err="1">
                <a:solidFill>
                  <a:srgbClr val="0D1D4D"/>
                </a:solidFill>
                <a:latin typeface="Arial"/>
                <a:cs typeface="Arial"/>
              </a:rPr>
              <a:t>опресни</a:t>
            </a:r>
            <a:r>
              <a:rPr sz="2400" spc="-10" dirty="0">
                <a:solidFill>
                  <a:srgbClr val="0D1D4D"/>
                </a:solidFill>
                <a:latin typeface="Arial"/>
                <a:cs typeface="Arial"/>
              </a:rPr>
              <a:t>  </a:t>
            </a:r>
            <a:endParaRPr lang="bg-BG" sz="2400" spc="-10" dirty="0">
              <a:solidFill>
                <a:srgbClr val="0D1D4D"/>
              </a:solidFill>
              <a:latin typeface="Arial"/>
              <a:cs typeface="Arial"/>
            </a:endParaRPr>
          </a:p>
          <a:p>
            <a:pPr marL="12065" marR="5080">
              <a:lnSpc>
                <a:spcPct val="120000"/>
              </a:lnSpc>
              <a:spcBef>
                <a:spcPts val="100"/>
              </a:spcBef>
            </a:pPr>
            <a:r>
              <a:rPr sz="2400" b="1" spc="5" dirty="0">
                <a:solidFill>
                  <a:srgbClr val="0D1D4D"/>
                </a:solidFill>
                <a:latin typeface="Arial"/>
                <a:cs typeface="Arial"/>
              </a:rPr>
              <a:t>web </a:t>
            </a:r>
            <a:r>
              <a:rPr sz="2400" b="1" spc="-5" dirty="0">
                <a:solidFill>
                  <a:srgbClr val="0D1D4D"/>
                </a:solidFill>
                <a:latin typeface="Arial"/>
                <a:cs typeface="Arial"/>
              </a:rPr>
              <a:t>site </a:t>
            </a:r>
            <a:r>
              <a:rPr sz="2400" dirty="0">
                <a:solidFill>
                  <a:srgbClr val="0D1D4D"/>
                </a:solidFill>
                <a:latin typeface="Arial"/>
                <a:cs typeface="Arial"/>
              </a:rPr>
              <a:t>– </a:t>
            </a:r>
            <a:r>
              <a:rPr sz="2400" spc="-20" dirty="0">
                <a:solidFill>
                  <a:srgbClr val="0D1D4D"/>
                </a:solidFill>
                <a:latin typeface="Arial"/>
                <a:cs typeface="Arial"/>
              </a:rPr>
              <a:t>уеб</a:t>
            </a:r>
            <a:r>
              <a:rPr sz="2400" spc="-120" dirty="0">
                <a:solidFill>
                  <a:srgbClr val="0D1D4D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D1D4D"/>
                </a:solidFill>
                <a:latin typeface="Arial"/>
                <a:cs typeface="Arial"/>
              </a:rPr>
              <a:t>сайт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143000" y="674914"/>
            <a:ext cx="1979674" cy="176326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" name="Picture 9" descr="_em_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2440" y="5943600"/>
            <a:ext cx="868680" cy="90529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174AB1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50</TotalTime>
  <Words>796</Words>
  <Application>Microsoft Office PowerPoint</Application>
  <PresentationFormat>Презентация на цял екран (4:3)</PresentationFormat>
  <Paragraphs>102</Paragraphs>
  <Slides>18</Slides>
  <Notes>0</Notes>
  <HiddenSlides>0</HiddenSlides>
  <MMClips>0</MMClips>
  <ScaleCrop>false</ScaleCrop>
  <HeadingPairs>
    <vt:vector size="6" baseType="variant">
      <vt:variant>
        <vt:lpstr>Използвани шрифтове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Заглавия на слайдовете</vt:lpstr>
      </vt:variant>
      <vt:variant>
        <vt:i4>18</vt:i4>
      </vt:variant>
    </vt:vector>
  </HeadingPairs>
  <TitlesOfParts>
    <vt:vector size="24" baseType="lpstr">
      <vt:lpstr>Arial</vt:lpstr>
      <vt:lpstr>Calibri</vt:lpstr>
      <vt:lpstr>Franklin Gothic Heavy</vt:lpstr>
      <vt:lpstr>Times New Roman</vt:lpstr>
      <vt:lpstr>Wingdings</vt:lpstr>
      <vt:lpstr>Office Theme</vt:lpstr>
      <vt:lpstr>Презентация на PowerPoint</vt:lpstr>
      <vt:lpstr>Ще научим какво е: </vt:lpstr>
      <vt:lpstr>LOTGGO</vt:lpstr>
      <vt:lpstr>ЩО Е ИНТЕРНЕТ?</vt:lpstr>
      <vt:lpstr>LOTGGO</vt:lpstr>
      <vt:lpstr>3. ПРОГРАМИ ЗА ЗАРЕЖДАНЕ И</vt:lpstr>
      <vt:lpstr>LOTGGO</vt:lpstr>
      <vt:lpstr>LOTGGO</vt:lpstr>
      <vt:lpstr>5. ПРАВИЛА ЗА БЕЗОПАСНА РАБОТА В ИНТЕРНЕТ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ВАЖНО</vt:lpstr>
      <vt:lpstr>Презентация на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ИЗПОЛЗВАНЕ НА ИНТЕРНЕТ В ЕЖЕДНЕВИЕТО</dc:title>
  <dc:creator>Елена Маврова-Ненкова</dc:creator>
  <cp:lastModifiedBy>Elena Nenkova</cp:lastModifiedBy>
  <cp:revision>7</cp:revision>
  <dcterms:created xsi:type="dcterms:W3CDTF">2019-10-21T16:58:13Z</dcterms:created>
  <dcterms:modified xsi:type="dcterms:W3CDTF">2026-07-22T06:17:21Z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2016-10-31T00:00:00Z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2019-10-21T00:00:00Z</vt:filetime>
  </property>
</Properties>
</file>