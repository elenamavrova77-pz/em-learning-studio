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5" r:id="rId9"/>
    <p:sldId id="266" r:id="rId10"/>
    <p:sldId id="264" r:id="rId11"/>
    <p:sldId id="263" r:id="rId12"/>
    <p:sldId id="267" r:id="rId13"/>
    <p:sldId id="268" r:id="rId14"/>
    <p:sldId id="269" r:id="rId15"/>
    <p:sldId id="270" r:id="rId16"/>
    <p:sldId id="271" r:id="rId17"/>
    <p:sldId id="274" r:id="rId18"/>
    <p:sldId id="273" r:id="rId19"/>
    <p:sldId id="272" r:id="rId20"/>
    <p:sldId id="275" r:id="rId21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84" autoAdjust="0"/>
  </p:normalViewPr>
  <p:slideViewPr>
    <p:cSldViewPr>
      <p:cViewPr varScale="1">
        <p:scale>
          <a:sx n="78" d="100"/>
          <a:sy n="78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784A4-29D7-4CEE-8C2E-9565119D0F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7BD02-1524-4F9A-9344-B69EBF18046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51547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76078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79867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4829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41062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7755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05081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73412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4724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36812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167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01433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A3075-E73D-4882-82FF-43C4FDEBE1C2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39BDB-E607-4790-B1BE-8F5BE7EFE296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3411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emf"/><Relationship Id="rId3" Type="http://schemas.openxmlformats.org/officeDocument/2006/relationships/image" Target="../media/image2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3" Type="http://schemas.openxmlformats.org/officeDocument/2006/relationships/image" Target="../media/image6.emf"/><Relationship Id="rId4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3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emf"/><Relationship Id="rId4" Type="http://schemas.openxmlformats.org/officeDocument/2006/relationships/image" Target="../media/image16.png"/><Relationship Id="rId5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emf"/><Relationship Id="rId4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Relationship Id="rId3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0" y="4539"/>
            <a:ext cx="912545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2915816" y="2708920"/>
            <a:ext cx="6029827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4000" b="1" dirty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Електронни таблици.</a:t>
            </a:r>
          </a:p>
          <a:p>
            <a:pPr algn="ctr"/>
            <a:r>
              <a:rPr lang="bg-BG" sz="4000" b="1" dirty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Предназначение и </a:t>
            </a:r>
          </a:p>
          <a:p>
            <a:pPr algn="ctr"/>
            <a:r>
              <a:rPr lang="bg-BG" sz="4000" b="1" dirty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основни елементи.</a:t>
            </a:r>
          </a:p>
          <a:p>
            <a:pPr algn="ctr"/>
            <a:r>
              <a:rPr lang="bg-BG" sz="4000" b="1" dirty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Експериментиране с данни.</a:t>
            </a: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2915816" y="429607"/>
            <a:ext cx="59046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Раздел</a:t>
            </a:r>
          </a:p>
          <a:p>
            <a:pPr algn="ctr"/>
            <a:r>
              <a:rPr lang="bg-BG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Обработка на таблични данни</a:t>
            </a:r>
          </a:p>
        </p:txBody>
      </p:sp>
      <p:sp>
        <p:nvSpPr>
          <p:cNvPr id="2" name="Текстово поле 1"/>
          <p:cNvSpPr txBox="1"/>
          <p:nvPr/>
        </p:nvSpPr>
        <p:spPr>
          <a:xfrm>
            <a:off x="2915816" y="6450454"/>
            <a:ext cx="4824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/>
              <a:t>КМИТ, 5 клас, Маврова</a:t>
            </a:r>
          </a:p>
        </p:txBody>
      </p:sp>
      <p:sp>
        <p:nvSpPr>
          <p:cNvPr id="3" name="Правоъгълник 2"/>
          <p:cNvSpPr/>
          <p:nvPr/>
        </p:nvSpPr>
        <p:spPr>
          <a:xfrm>
            <a:off x="1475656" y="1916832"/>
            <a:ext cx="115212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028" name="Picture 1027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65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07504" y="1988840"/>
            <a:ext cx="8856984" cy="4525963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bg-BG" dirty="0"/>
              <a:t>Разполагате със 150 лв. и с тях трябва да организирате тържество по случай рождения си ден. </a:t>
            </a:r>
          </a:p>
          <a:p>
            <a:pPr marL="0" indent="0" algn="ctr">
              <a:buNone/>
            </a:pPr>
            <a:r>
              <a:rPr lang="bg-BG" dirty="0"/>
              <a:t>За да забавлявате гостите си сте предвидили различни изненади за тях. </a:t>
            </a:r>
          </a:p>
          <a:p>
            <a:pPr marL="0" indent="0" algn="ctr">
              <a:buNone/>
            </a:pPr>
            <a:r>
              <a:rPr lang="bg-BG" dirty="0"/>
              <a:t>За целта искате да видите и да изчислите дали ще ви стигнат парите, с които разполагате и дали ще ви останат за следващия празник.</a:t>
            </a:r>
          </a:p>
          <a:p>
            <a:pPr marL="0" indent="0" algn="ctr">
              <a:buNone/>
            </a:pPr>
            <a:r>
              <a:rPr lang="bg-BG" dirty="0"/>
              <a:t>Направили сте следната таблица, в която сте описали разходите за партито: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32656"/>
            <a:ext cx="7920880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205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34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20688"/>
            <a:ext cx="7848872" cy="3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Контейнер за съдържание 4"/>
          <p:cNvSpPr>
            <a:spLocks noGrp="1"/>
          </p:cNvSpPr>
          <p:nvPr>
            <p:ph idx="1"/>
          </p:nvPr>
        </p:nvSpPr>
        <p:spPr>
          <a:xfrm>
            <a:off x="683568" y="4869160"/>
            <a:ext cx="8229600" cy="1800200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bg-BG" dirty="0"/>
              <a:t>Може ли да представим разходите и без таблица? </a:t>
            </a:r>
          </a:p>
          <a:p>
            <a:pPr marL="0" indent="0" algn="ctr">
              <a:buNone/>
            </a:pPr>
            <a:r>
              <a:rPr lang="bg-BG" dirty="0"/>
              <a:t>Какво е предимството на табличното представянето?</a:t>
            </a:r>
          </a:p>
          <a:p>
            <a:pPr marL="0" indent="0" algn="ctr">
              <a:buNone/>
            </a:pPr>
            <a:r>
              <a:rPr lang="bg-BG" dirty="0"/>
              <a:t>Какви данни има в таблицата – числови или текстови?</a:t>
            </a:r>
          </a:p>
          <a:p>
            <a:pPr marL="0" indent="0" algn="ctr">
              <a:buNone/>
            </a:pPr>
            <a:r>
              <a:rPr lang="bg-BG" dirty="0"/>
              <a:t>Колко реда и колко колони  съдържа таблицата?</a:t>
            </a:r>
          </a:p>
        </p:txBody>
      </p:sp>
      <p:pic>
        <p:nvPicPr>
          <p:cNvPr id="3075" name="Picture 3074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70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3200" dirty="0"/>
              <a:t>Още един пример за предимството на табличното представяне на данни: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768"/>
            <a:ext cx="9144000" cy="5517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4098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33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940966"/>
          </a:xfrm>
        </p:spPr>
        <p:txBody>
          <a:bodyPr/>
          <a:lstStyle/>
          <a:p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Електронна таблица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95536" y="1124745"/>
            <a:ext cx="8229600" cy="3168352"/>
          </a:xfrm>
        </p:spPr>
        <p:txBody>
          <a:bodyPr/>
          <a:lstStyle/>
          <a:p>
            <a:pPr marL="0" indent="0" algn="ctr">
              <a:buNone/>
            </a:pPr>
            <a:r>
              <a:rPr lang="bg-BG" dirty="0"/>
              <a:t>Електронната таблица е компютърна програма, която позволява да се обработват данни в табличен вид.</a:t>
            </a:r>
          </a:p>
          <a:p>
            <a:pPr marL="0" indent="0" algn="ctr">
              <a:buNone/>
            </a:pPr>
            <a:r>
              <a:rPr lang="bg-BG" dirty="0"/>
              <a:t>В нея информацията е разположена в мрежа от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редове и колони</a:t>
            </a:r>
            <a:r>
              <a:rPr lang="bg-BG" dirty="0"/>
              <a:t>, които се пресичат и образуват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клетки</a:t>
            </a:r>
            <a:r>
              <a:rPr lang="bg-BG" dirty="0"/>
              <a:t>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509120"/>
            <a:ext cx="3713163" cy="2114550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179512" y="4653136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bg-BG" sz="3200" dirty="0"/>
              <a:t>Такава п</a:t>
            </a:r>
            <a:r>
              <a:rPr lang="ru-RU" sz="3200" dirty="0" err="1"/>
              <a:t>рограма</a:t>
            </a:r>
            <a:r>
              <a:rPr lang="ru-RU" sz="3200" dirty="0"/>
              <a:t> за обработка на </a:t>
            </a:r>
            <a:r>
              <a:rPr lang="ru-RU" sz="3200" dirty="0" err="1"/>
              <a:t>таблични</a:t>
            </a:r>
            <a:r>
              <a:rPr lang="ru-RU" sz="3200" dirty="0"/>
              <a:t> </a:t>
            </a:r>
            <a:r>
              <a:rPr lang="ru-RU" sz="3200" dirty="0" err="1"/>
              <a:t>данни</a:t>
            </a:r>
            <a:r>
              <a:rPr lang="ru-RU" sz="3200" dirty="0"/>
              <a:t> е </a:t>
            </a:r>
            <a:r>
              <a:rPr lang="en-US" sz="3200" b="1" dirty="0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Microsoft </a:t>
            </a:r>
            <a:r>
              <a:rPr lang="ru-RU" sz="3200" b="1" dirty="0" err="1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</a:t>
            </a:r>
            <a:r>
              <a:rPr lang="ru-RU" sz="3200" b="1" dirty="0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bg-BG" sz="3200" b="1" dirty="0">
              <a:solidFill>
                <a:srgbClr val="007A3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3906915"/>
            <a:ext cx="1326034" cy="1334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5123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63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Стартиране на програмата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</a:t>
            </a:r>
            <a:endParaRPr lang="bg-BG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958" y="1330672"/>
            <a:ext cx="4385529" cy="552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Контейнер за съдържание 3"/>
          <p:cNvSpPr>
            <a:spLocks noGrp="1"/>
          </p:cNvSpPr>
          <p:nvPr>
            <p:ph idx="1"/>
          </p:nvPr>
        </p:nvSpPr>
        <p:spPr>
          <a:xfrm>
            <a:off x="251520" y="1556792"/>
            <a:ext cx="4176464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bg-BG" dirty="0"/>
              <a:t>От меню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Старт</a:t>
            </a:r>
            <a:r>
              <a:rPr lang="bg-BG" dirty="0">
                <a:sym typeface="Wingdings" panose="05000000000000000000" pitchFamily="2" charset="2"/>
              </a:rPr>
              <a:t> </a:t>
            </a:r>
          </a:p>
          <a:p>
            <a:pPr marL="0" indent="0">
              <a:buNone/>
            </a:pP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Всички програми</a:t>
            </a:r>
            <a:r>
              <a:rPr lang="bg-BG" dirty="0">
                <a:sym typeface="Wingdings" panose="05000000000000000000" pitchFamily="2" charset="2"/>
              </a:rPr>
              <a:t>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Microsoft Office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Microsoft Excel</a:t>
            </a:r>
          </a:p>
          <a:p>
            <a:pPr marL="0" indent="0">
              <a:buNone/>
            </a:pPr>
            <a:endParaRPr lang="en-US" b="1" dirty="0">
              <a:solidFill>
                <a:srgbClr val="007A3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bg-BG" dirty="0">
                <a:sym typeface="Wingdings" panose="05000000000000000000" pitchFamily="2" charset="2"/>
              </a:rPr>
              <a:t>Файловете, създадени с програмата </a:t>
            </a:r>
            <a:r>
              <a:rPr lang="en-US" dirty="0">
                <a:sym typeface="Wingdings" panose="05000000000000000000" pitchFamily="2" charset="2"/>
              </a:rPr>
              <a:t>Excel</a:t>
            </a:r>
            <a:r>
              <a:rPr lang="bg-BG" dirty="0">
                <a:sym typeface="Wingdings" panose="05000000000000000000" pitchFamily="2" charset="2"/>
              </a:rPr>
              <a:t> имат разширение 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.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xlsx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bg-BG" dirty="0">
                <a:sym typeface="Wingdings" panose="05000000000000000000" pitchFamily="2" charset="2"/>
              </a:rPr>
              <a:t>или</a:t>
            </a:r>
            <a:r>
              <a:rPr lang="bg-BG" b="1" dirty="0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.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xls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bg-BG" dirty="0">
                <a:sym typeface="Wingdings" panose="05000000000000000000" pitchFamily="2" charset="2"/>
              </a:rPr>
              <a:t>Например:</a:t>
            </a:r>
            <a:r>
              <a:rPr lang="bg-BG" b="1" dirty="0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party.xlsx</a:t>
            </a:r>
            <a:endParaRPr lang="bg-BG" b="1" dirty="0">
              <a:solidFill>
                <a:srgbClr val="007A3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5196434" y="2132856"/>
            <a:ext cx="2255885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Овал 7"/>
          <p:cNvSpPr/>
          <p:nvPr/>
        </p:nvSpPr>
        <p:spPr>
          <a:xfrm>
            <a:off x="5263746" y="2924944"/>
            <a:ext cx="3015952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Овал 8"/>
          <p:cNvSpPr/>
          <p:nvPr/>
        </p:nvSpPr>
        <p:spPr>
          <a:xfrm>
            <a:off x="4572000" y="6525344"/>
            <a:ext cx="64807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6148" name="Picture 6147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95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Autofit/>
          </a:bodyPr>
          <a:lstStyle/>
          <a:p>
            <a: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Програмен прозорец. </a:t>
            </a:r>
            <a:b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Основни елементи.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0768"/>
            <a:ext cx="8928992" cy="5450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7172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00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9218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8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7" y="0"/>
            <a:ext cx="91147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427542"/>
            <a:ext cx="2454027" cy="309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10246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63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782960"/>
          </a:xfrm>
        </p:spPr>
        <p:txBody>
          <a:bodyPr>
            <a:normAutofit/>
          </a:bodyPr>
          <a:lstStyle/>
          <a:p>
            <a:pPr algn="l"/>
            <a:r>
              <a:rPr lang="bg-BG" altLang="bg-BG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Книга и</a:t>
            </a:r>
            <a:r>
              <a:rPr lang="en-US" altLang="bg-BG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bg-BG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работни листове</a:t>
            </a:r>
            <a:endParaRPr lang="bg-BG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052736"/>
            <a:ext cx="8856984" cy="561662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bg-BG" altLang="bg-BG" dirty="0"/>
              <a:t>Файла в </a:t>
            </a:r>
            <a:r>
              <a:rPr lang="en-US" altLang="bg-BG" dirty="0"/>
              <a:t>MS Excel </a:t>
            </a:r>
            <a:r>
              <a:rPr lang="bg-BG" altLang="bg-BG" dirty="0"/>
              <a:t>се нарича </a:t>
            </a:r>
            <a:r>
              <a:rPr lang="bg-BG" alt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Книга </a:t>
            </a:r>
            <a:r>
              <a:rPr lang="bg-BG" altLang="bg-BG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bg-BG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Book</a:t>
            </a:r>
            <a:r>
              <a:rPr lang="bg-BG" altLang="bg-BG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altLang="bg-BG" dirty="0">
                <a:solidFill>
                  <a:srgbClr val="002060"/>
                </a:solidFill>
              </a:rPr>
              <a:t>;</a:t>
            </a:r>
            <a:endParaRPr lang="bg-BG" altLang="bg-BG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bg-BG" altLang="bg-BG" dirty="0"/>
              <a:t>Таблиците се наричат </a:t>
            </a:r>
            <a:r>
              <a:rPr lang="bg-BG" alt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Работни листове </a:t>
            </a:r>
            <a:r>
              <a:rPr lang="bg-BG" altLang="bg-BG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(Лист) (</a:t>
            </a:r>
            <a:r>
              <a:rPr lang="en-US" altLang="bg-BG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Worksheet</a:t>
            </a:r>
            <a:r>
              <a:rPr lang="bg-BG" altLang="bg-BG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altLang="bg-BG" dirty="0">
                <a:solidFill>
                  <a:srgbClr val="002060"/>
                </a:solidFill>
              </a:rPr>
              <a:t>;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alt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Преминаването от един работен лист в друг </a:t>
            </a:r>
            <a:r>
              <a:rPr lang="bg-BG" altLang="bg-BG" dirty="0"/>
              <a:t>става като кликнете върху името му.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alt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Вмъкване на нов работен лист</a:t>
            </a:r>
          </a:p>
          <a:p>
            <a:pPr marL="0" indent="0">
              <a:buNone/>
            </a:pPr>
            <a:r>
              <a:rPr lang="bg-BG" altLang="bg-BG" dirty="0"/>
              <a:t>    Десен бутон върху името на работния лист </a:t>
            </a:r>
            <a:r>
              <a:rPr lang="bg-BG" altLang="bg-BG" dirty="0">
                <a:sym typeface="Wingdings" panose="05000000000000000000" pitchFamily="2" charset="2"/>
              </a:rPr>
              <a:t>    </a:t>
            </a:r>
          </a:p>
          <a:p>
            <a:pPr marL="0" indent="0">
              <a:buNone/>
            </a:pPr>
            <a:r>
              <a:rPr lang="bg-BG" alt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   </a:t>
            </a:r>
            <a:r>
              <a:rPr lang="bg-BG" alt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Вмъкни</a:t>
            </a:r>
            <a:r>
              <a:rPr lang="bg-BG" altLang="bg-BG" dirty="0"/>
              <a:t>/</a:t>
            </a:r>
            <a:r>
              <a:rPr lang="en-US" altLang="bg-BG" dirty="0"/>
              <a:t>Insert </a:t>
            </a:r>
            <a:r>
              <a:rPr lang="bg-BG" altLang="bg-BG" dirty="0">
                <a:sym typeface="Wingdings" panose="05000000000000000000" pitchFamily="2" charset="2"/>
              </a:rPr>
              <a:t></a:t>
            </a:r>
            <a:r>
              <a:rPr lang="en-US" altLang="bg-BG" dirty="0"/>
              <a:t> </a:t>
            </a:r>
            <a:r>
              <a:rPr lang="bg-BG" alt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Работен лист</a:t>
            </a:r>
            <a:r>
              <a:rPr lang="bg-BG" altLang="bg-BG" dirty="0"/>
              <a:t>/</a:t>
            </a:r>
            <a:r>
              <a:rPr lang="en-US" altLang="bg-BG" dirty="0"/>
              <a:t>Worksheet</a:t>
            </a:r>
            <a:endParaRPr lang="bg-BG" altLang="bg-BG" dirty="0"/>
          </a:p>
          <a:p>
            <a:pPr>
              <a:buFont typeface="Wingdings" panose="05000000000000000000" pitchFamily="2" charset="2"/>
              <a:buChar char="ü"/>
            </a:pPr>
            <a:r>
              <a:rPr lang="bg-BG" alt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Изтриване на работен лист</a:t>
            </a:r>
          </a:p>
          <a:p>
            <a:pPr marL="0" indent="0">
              <a:buNone/>
            </a:pPr>
            <a:r>
              <a:rPr lang="bg-BG" altLang="bg-BG" dirty="0"/>
              <a:t>    Десен бутон върху името на работния лист </a:t>
            </a:r>
            <a:r>
              <a:rPr lang="bg-BG" altLang="bg-BG" dirty="0">
                <a:sym typeface="Wingdings" panose="05000000000000000000" pitchFamily="2" charset="2"/>
              </a:rPr>
              <a:t>   </a:t>
            </a:r>
          </a:p>
          <a:p>
            <a:pPr marL="0" indent="0">
              <a:buNone/>
            </a:pPr>
            <a:r>
              <a:rPr lang="bg-BG" altLang="bg-BG" dirty="0"/>
              <a:t>    </a:t>
            </a:r>
            <a:r>
              <a:rPr lang="bg-BG" alt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Изтрий</a:t>
            </a:r>
            <a:r>
              <a:rPr lang="bg-BG" altLang="bg-BG" dirty="0"/>
              <a:t>/</a:t>
            </a:r>
            <a:r>
              <a:rPr lang="en-US" altLang="bg-BG" dirty="0"/>
              <a:t>Delete.</a:t>
            </a:r>
            <a:endParaRPr lang="bg-BG" altLang="bg-BG" dirty="0"/>
          </a:p>
          <a:p>
            <a:pPr>
              <a:buFont typeface="Wingdings" panose="05000000000000000000" pitchFamily="2" charset="2"/>
              <a:buChar char="ü"/>
            </a:pPr>
            <a:r>
              <a:rPr lang="bg-BG" alt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Преименуване на работен лист</a:t>
            </a:r>
          </a:p>
          <a:p>
            <a:pPr marL="0" indent="0">
              <a:buNone/>
            </a:pPr>
            <a:r>
              <a:rPr lang="bg-BG" altLang="bg-BG" dirty="0"/>
              <a:t>    Десен бутон върху името на работния лист </a:t>
            </a:r>
            <a:r>
              <a:rPr lang="bg-BG" altLang="bg-BG" dirty="0">
                <a:sym typeface="Wingdings" panose="05000000000000000000" pitchFamily="2" charset="2"/>
              </a:rPr>
              <a:t></a:t>
            </a:r>
          </a:p>
          <a:p>
            <a:pPr marL="0" indent="0">
              <a:buNone/>
            </a:pPr>
            <a:r>
              <a:rPr lang="bg-BG" altLang="bg-BG" dirty="0">
                <a:sym typeface="Wingdings" panose="05000000000000000000" pitchFamily="2" charset="2"/>
              </a:rPr>
              <a:t>    </a:t>
            </a:r>
            <a:r>
              <a:rPr lang="bg-BG" alt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Преименувай</a:t>
            </a:r>
            <a:r>
              <a:rPr lang="bg-BG" altLang="bg-BG" dirty="0">
                <a:sym typeface="Wingdings" panose="05000000000000000000" pitchFamily="2" charset="2"/>
              </a:rPr>
              <a:t>/</a:t>
            </a:r>
            <a:r>
              <a:rPr lang="en-US" altLang="bg-BG" dirty="0">
                <a:sym typeface="Wingdings" panose="05000000000000000000" pitchFamily="2" charset="2"/>
              </a:rPr>
              <a:t>Rename</a:t>
            </a:r>
            <a:endParaRPr lang="bg-BG" altLang="bg-BG" dirty="0"/>
          </a:p>
        </p:txBody>
      </p:sp>
      <p:pic>
        <p:nvPicPr>
          <p:cNvPr id="6" name="Picture 5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68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лавие 1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bg-BG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Елементи на таблицата</a:t>
            </a:r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58076" y="1909291"/>
            <a:ext cx="4282160" cy="309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авоъгълник 4"/>
          <p:cNvSpPr/>
          <p:nvPr/>
        </p:nvSpPr>
        <p:spPr>
          <a:xfrm>
            <a:off x="2689359" y="2901961"/>
            <a:ext cx="4258905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7" name="Съединител &quot;права стрелка&quot; 6"/>
          <p:cNvCxnSpPr/>
          <p:nvPr/>
        </p:nvCxnSpPr>
        <p:spPr>
          <a:xfrm>
            <a:off x="2025436" y="3050525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Текстово поле 7"/>
          <p:cNvSpPr txBox="1"/>
          <p:nvPr/>
        </p:nvSpPr>
        <p:spPr>
          <a:xfrm>
            <a:off x="48575" y="2861311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dirty="0"/>
              <a:t>ред</a:t>
            </a:r>
          </a:p>
        </p:txBody>
      </p:sp>
      <p:sp>
        <p:nvSpPr>
          <p:cNvPr id="9" name="Правоъгълник 8"/>
          <p:cNvSpPr/>
          <p:nvPr/>
        </p:nvSpPr>
        <p:spPr>
          <a:xfrm>
            <a:off x="5688124" y="2142148"/>
            <a:ext cx="1260140" cy="263202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1" name="Съединител &quot;права стрелка&quot; 10"/>
          <p:cNvCxnSpPr/>
          <p:nvPr/>
        </p:nvCxnSpPr>
        <p:spPr>
          <a:xfrm>
            <a:off x="6350215" y="14847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Текстово поле 11"/>
          <p:cNvSpPr txBox="1"/>
          <p:nvPr/>
        </p:nvSpPr>
        <p:spPr>
          <a:xfrm>
            <a:off x="5803362" y="111545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колона</a:t>
            </a:r>
          </a:p>
        </p:txBody>
      </p:sp>
      <p:sp>
        <p:nvSpPr>
          <p:cNvPr id="13" name="Правоъгълник 12"/>
          <p:cNvSpPr/>
          <p:nvPr/>
        </p:nvSpPr>
        <p:spPr>
          <a:xfrm>
            <a:off x="5688124" y="2901961"/>
            <a:ext cx="1260140" cy="288032"/>
          </a:xfrm>
          <a:prstGeom prst="rect">
            <a:avLst/>
          </a:prstGeom>
          <a:noFill/>
          <a:ln w="635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5" name="Съединител &quot;права стрелка&quot; 14"/>
          <p:cNvCxnSpPr/>
          <p:nvPr/>
        </p:nvCxnSpPr>
        <p:spPr>
          <a:xfrm flipH="1" flipV="1">
            <a:off x="6660232" y="3022638"/>
            <a:ext cx="1224136" cy="72008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Текстово поле 15"/>
          <p:cNvSpPr txBox="1"/>
          <p:nvPr/>
        </p:nvSpPr>
        <p:spPr>
          <a:xfrm>
            <a:off x="7304921" y="3742718"/>
            <a:ext cx="1587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клетка 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774169"/>
            <a:ext cx="5872700" cy="30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Текстово поле 18"/>
          <p:cNvSpPr txBox="1"/>
          <p:nvPr/>
        </p:nvSpPr>
        <p:spPr>
          <a:xfrm>
            <a:off x="3059832" y="544522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работен лист</a:t>
            </a:r>
          </a:p>
        </p:txBody>
      </p:sp>
      <p:cxnSp>
        <p:nvCxnSpPr>
          <p:cNvPr id="21" name="Съединител &quot;права стрелка&quot; 20"/>
          <p:cNvCxnSpPr/>
          <p:nvPr/>
        </p:nvCxnSpPr>
        <p:spPr>
          <a:xfrm flipV="1">
            <a:off x="4427984" y="4926213"/>
            <a:ext cx="648072" cy="5190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Текстово поле 21"/>
          <p:cNvSpPr txBox="1"/>
          <p:nvPr/>
        </p:nvSpPr>
        <p:spPr>
          <a:xfrm>
            <a:off x="747842" y="3742718"/>
            <a:ext cx="1795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активна клетка</a:t>
            </a:r>
          </a:p>
        </p:txBody>
      </p:sp>
      <p:cxnSp>
        <p:nvCxnSpPr>
          <p:cNvPr id="24" name="Съединител &quot;права стрелка&quot; 23"/>
          <p:cNvCxnSpPr/>
          <p:nvPr/>
        </p:nvCxnSpPr>
        <p:spPr>
          <a:xfrm flipV="1">
            <a:off x="2479545" y="3558052"/>
            <a:ext cx="1516391" cy="3693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Правоъгълник 26"/>
          <p:cNvSpPr/>
          <p:nvPr/>
        </p:nvSpPr>
        <p:spPr>
          <a:xfrm>
            <a:off x="2689359" y="1844824"/>
            <a:ext cx="1594609" cy="297324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8" name="Текстово поле 27"/>
          <p:cNvSpPr txBox="1"/>
          <p:nvPr/>
        </p:nvSpPr>
        <p:spPr>
          <a:xfrm>
            <a:off x="1259632" y="1403484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адрес на клетка</a:t>
            </a:r>
          </a:p>
        </p:txBody>
      </p:sp>
      <p:cxnSp>
        <p:nvCxnSpPr>
          <p:cNvPr id="30" name="Съединител &quot;права стрелка&quot; 29"/>
          <p:cNvCxnSpPr/>
          <p:nvPr/>
        </p:nvCxnSpPr>
        <p:spPr>
          <a:xfrm>
            <a:off x="2479545" y="1772816"/>
            <a:ext cx="580287" cy="220670"/>
          </a:xfrm>
          <a:prstGeom prst="straightConnector1">
            <a:avLst/>
          </a:prstGeom>
          <a:ln w="25400">
            <a:solidFill>
              <a:srgbClr val="007A3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ово поле 22"/>
          <p:cNvSpPr txBox="1"/>
          <p:nvPr/>
        </p:nvSpPr>
        <p:spPr>
          <a:xfrm>
            <a:off x="2313468" y="6450454"/>
            <a:ext cx="4824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/>
              <a:t>КМИТ, 5 клас, Маврова</a:t>
            </a:r>
          </a:p>
        </p:txBody>
      </p:sp>
      <p:pic>
        <p:nvPicPr>
          <p:cNvPr id="8197" name="Picture 8196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52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467544" y="476672"/>
            <a:ext cx="8280920" cy="6192688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bg-BG" sz="3300" dirty="0"/>
              <a:t>Всяка електронна таблица се състои от: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Редове</a:t>
            </a:r>
            <a:r>
              <a:rPr lang="bg-BG" dirty="0"/>
              <a:t> – именуват се с арабски цифри - от 1 до 65 536  /</a:t>
            </a:r>
            <a:r>
              <a:rPr lang="bg-B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1,2,3,4, и т.н</a:t>
            </a:r>
            <a:r>
              <a:rPr lang="bg-BG" b="1" dirty="0">
                <a:solidFill>
                  <a:srgbClr val="002060"/>
                </a:solidFill>
              </a:rPr>
              <a:t>.</a:t>
            </a:r>
            <a:r>
              <a:rPr lang="bg-BG" dirty="0">
                <a:solidFill>
                  <a:srgbClr val="002060"/>
                </a:solidFill>
              </a:rPr>
              <a:t>/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Колони </a:t>
            </a:r>
            <a:r>
              <a:rPr lang="bg-BG" dirty="0"/>
              <a:t>– именуват се с главни латински букви и комбинации от главни латински букви – 256 на брой /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B, C, D,…., AB, AZ, </a:t>
            </a:r>
            <a:r>
              <a:rPr lang="bg-B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…,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CD, </a:t>
            </a:r>
            <a:r>
              <a:rPr lang="bg-B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…,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ZG, ZX, </a:t>
            </a:r>
            <a:r>
              <a:rPr lang="bg-B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т.н.</a:t>
            </a:r>
            <a:r>
              <a:rPr lang="bg-BG" dirty="0"/>
              <a:t>/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Клетка</a:t>
            </a:r>
            <a:r>
              <a:rPr lang="bg-BG" dirty="0"/>
              <a:t> – получава се при пресичането на ред и колона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dirty="0"/>
              <a:t> Всяка клетка се намира на колона с определена   </a:t>
            </a:r>
          </a:p>
          <a:p>
            <a:pPr marL="0" indent="0">
              <a:buNone/>
            </a:pPr>
            <a:r>
              <a:rPr lang="bg-BG" dirty="0"/>
              <a:t>     буква и ред с определен номер. По този начин се </a:t>
            </a:r>
          </a:p>
          <a:p>
            <a:pPr marL="0" indent="0">
              <a:buNone/>
            </a:pPr>
            <a:r>
              <a:rPr lang="bg-BG" dirty="0"/>
              <a:t>     образува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адреса на клетката.</a:t>
            </a:r>
            <a:endParaRPr lang="bg-BG" dirty="0"/>
          </a:p>
          <a:p>
            <a:pPr marL="0" indent="0">
              <a:buNone/>
            </a:pPr>
            <a:r>
              <a:rPr lang="bg-BG" dirty="0"/>
              <a:t>     Например: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A1, B4, C6, ZX56</a:t>
            </a:r>
            <a:r>
              <a:rPr lang="en-US" dirty="0"/>
              <a:t>,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</a:t>
            </a:r>
            <a:r>
              <a:rPr lang="bg-BG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bg-BG" dirty="0"/>
              <a:t> т.е.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адресът на клетката се образува от името на </a:t>
            </a:r>
          </a:p>
          <a:p>
            <a:pPr marL="0" indent="0">
              <a:buNone/>
            </a:pP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колоната и номера на реда.</a:t>
            </a:r>
          </a:p>
        </p:txBody>
      </p:sp>
      <p:pic>
        <p:nvPicPr>
          <p:cNvPr id="4" name="Picture 3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37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588"/>
            <a:ext cx="9144000" cy="686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Текстово поле 3"/>
          <p:cNvSpPr txBox="1"/>
          <p:nvPr/>
        </p:nvSpPr>
        <p:spPr>
          <a:xfrm>
            <a:off x="519603" y="-5016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Експериментиране с данни в електронна таблица</a:t>
            </a: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637589" y="1340768"/>
            <a:ext cx="79009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Въвеждането на текст </a:t>
            </a:r>
            <a:r>
              <a:rPr lang="bg-BG" sz="2800" dirty="0"/>
              <a:t>става в полето за формули или директно в клетката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5" y="2060848"/>
            <a:ext cx="3318984" cy="2069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Текстово поле 5"/>
          <p:cNvSpPr txBox="1"/>
          <p:nvPr/>
        </p:nvSpPr>
        <p:spPr>
          <a:xfrm>
            <a:off x="637588" y="2294875"/>
            <a:ext cx="51585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Редактирането на въведен текст </a:t>
            </a:r>
            <a:r>
              <a:rPr lang="bg-BG" sz="2800" dirty="0"/>
              <a:t>става чрез двукратно кликване върху клетката или в реда за формули</a:t>
            </a:r>
          </a:p>
        </p:txBody>
      </p:sp>
      <p:cxnSp>
        <p:nvCxnSpPr>
          <p:cNvPr id="8" name="Съединител &quot;права стрелка&quot; 7"/>
          <p:cNvCxnSpPr/>
          <p:nvPr/>
        </p:nvCxnSpPr>
        <p:spPr>
          <a:xfrm>
            <a:off x="7236296" y="1817821"/>
            <a:ext cx="1080120" cy="4770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Съединител &quot;права стрелка&quot; 9"/>
          <p:cNvCxnSpPr/>
          <p:nvPr/>
        </p:nvCxnSpPr>
        <p:spPr>
          <a:xfrm>
            <a:off x="4450726" y="2093105"/>
            <a:ext cx="3004901" cy="1330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Текстово поле 21"/>
          <p:cNvSpPr txBox="1"/>
          <p:nvPr/>
        </p:nvSpPr>
        <p:spPr>
          <a:xfrm>
            <a:off x="637587" y="4021752"/>
            <a:ext cx="47265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/>
              <a:t>Ако при въвеждането се виждат знаци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###</a:t>
            </a:r>
            <a:r>
              <a:rPr lang="bg-BG" sz="2800" dirty="0"/>
              <a:t>, то трябва да се разшири колоната. </a:t>
            </a:r>
          </a:p>
          <a:p>
            <a:r>
              <a:rPr lang="bg-BG" sz="2400" dirty="0"/>
              <a:t>За да разширим колоната кликваме между имената на две колона и с натиснат ляв бутон на мишката влачим на ляво.</a:t>
            </a:r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5" y="4404146"/>
            <a:ext cx="3318984" cy="1977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Съединител &quot;права стрелка&quot; 23"/>
          <p:cNvCxnSpPr/>
          <p:nvPr/>
        </p:nvCxnSpPr>
        <p:spPr>
          <a:xfrm flipH="1">
            <a:off x="8404802" y="4416401"/>
            <a:ext cx="484107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ъединител &quot;права стрелка&quot; 30"/>
          <p:cNvCxnSpPr/>
          <p:nvPr/>
        </p:nvCxnSpPr>
        <p:spPr>
          <a:xfrm>
            <a:off x="8651990" y="4228652"/>
            <a:ext cx="0" cy="505317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4" name="Picture 12293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65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13315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288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Autofit/>
          </a:bodyPr>
          <a:lstStyle/>
          <a:p>
            <a: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Съхраняване и затваряне на документ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611560" y="1412776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да запишем документ за първи път</a:t>
            </a:r>
            <a:r>
              <a:rPr lang="bg-BG" dirty="0"/>
              <a:t>:</a:t>
            </a:r>
          </a:p>
          <a:p>
            <a:pPr marL="0" indent="0">
              <a:buNone/>
            </a:pP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Файл</a:t>
            </a:r>
            <a:r>
              <a:rPr lang="bg-BG" dirty="0"/>
              <a:t>/</a:t>
            </a:r>
            <a:r>
              <a:rPr lang="en-US" dirty="0"/>
              <a:t>File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Запиши като…</a:t>
            </a:r>
            <a:r>
              <a:rPr lang="bg-BG" dirty="0">
                <a:sym typeface="Wingdings" panose="05000000000000000000" pitchFamily="2" charset="2"/>
              </a:rPr>
              <a:t>/</a:t>
            </a:r>
            <a:r>
              <a:rPr lang="en-US" dirty="0">
                <a:sym typeface="Wingdings" panose="05000000000000000000" pitchFamily="2" charset="2"/>
              </a:rPr>
              <a:t>Save us…</a:t>
            </a:r>
            <a:endParaRPr lang="bg-BG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За да запишем документ след редактиране</a:t>
            </a:r>
            <a:r>
              <a:rPr lang="bg-BG" dirty="0">
                <a:sym typeface="Wingdings" panose="05000000000000000000" pitchFamily="2" charset="2"/>
              </a:rPr>
              <a:t>:</a:t>
            </a:r>
          </a:p>
          <a:p>
            <a:pPr marL="0" indent="0">
              <a:buNone/>
            </a:pP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Файл</a:t>
            </a:r>
            <a:r>
              <a:rPr lang="bg-BG" dirty="0"/>
              <a:t>/</a:t>
            </a:r>
            <a:r>
              <a:rPr lang="en-US" dirty="0"/>
              <a:t>File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bg-BG" b="1" dirty="0">
                <a:solidFill>
                  <a:srgbClr val="FF0000"/>
                </a:solidFill>
                <a:sym typeface="Wingdings" panose="05000000000000000000" pitchFamily="2" charset="2"/>
              </a:rPr>
              <a:t>Запиши</a:t>
            </a:r>
            <a:r>
              <a:rPr lang="bg-BG" dirty="0">
                <a:sym typeface="Wingdings" panose="05000000000000000000" pitchFamily="2" charset="2"/>
              </a:rPr>
              <a:t>/</a:t>
            </a:r>
            <a:r>
              <a:rPr lang="en-US" dirty="0">
                <a:sym typeface="Wingdings" panose="05000000000000000000" pitchFamily="2" charset="2"/>
              </a:rPr>
              <a:t>Save</a:t>
            </a:r>
            <a:endParaRPr lang="bg-BG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Затваряне на документ</a:t>
            </a:r>
            <a:r>
              <a:rPr lang="bg-BG" dirty="0">
                <a:sym typeface="Wingdings" panose="05000000000000000000" pitchFamily="2" charset="2"/>
              </a:rPr>
              <a:t>:</a:t>
            </a:r>
          </a:p>
          <a:p>
            <a:pPr marL="0" indent="0">
              <a:buNone/>
            </a:pP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Файл</a:t>
            </a:r>
            <a:r>
              <a:rPr lang="bg-BG" dirty="0"/>
              <a:t>/</a:t>
            </a:r>
            <a:r>
              <a:rPr lang="en-US" dirty="0"/>
              <a:t>File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 Затвори</a:t>
            </a:r>
            <a:r>
              <a:rPr lang="bg-BG" dirty="0">
                <a:sym typeface="Wingdings" panose="05000000000000000000" pitchFamily="2" charset="2"/>
              </a:rPr>
              <a:t>/</a:t>
            </a:r>
            <a:r>
              <a:rPr lang="en-US" dirty="0">
                <a:sym typeface="Wingdings" panose="05000000000000000000" pitchFamily="2" charset="2"/>
              </a:rPr>
              <a:t>Close</a:t>
            </a:r>
            <a:endParaRPr lang="bg-BG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bg-BG" dirty="0">
                <a:sym typeface="Wingdings" panose="05000000000000000000" pitchFamily="2" charset="2"/>
              </a:rPr>
              <a:t>Бутон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Затвори</a:t>
            </a:r>
            <a:r>
              <a:rPr lang="bg-BG" dirty="0">
                <a:sym typeface="Wingdings" panose="05000000000000000000" pitchFamily="2" charset="2"/>
              </a:rPr>
              <a:t>/</a:t>
            </a:r>
            <a:r>
              <a:rPr lang="en-US" dirty="0">
                <a:sym typeface="Wingdings" panose="05000000000000000000" pitchFamily="2" charset="2"/>
              </a:rPr>
              <a:t>Close</a:t>
            </a:r>
            <a:endParaRPr lang="bg-BG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bg-BG" dirty="0">
                <a:sym typeface="Wingdings" panose="05000000000000000000" pitchFamily="2" charset="2"/>
              </a:rPr>
              <a:t>Изход от програма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Файл</a:t>
            </a:r>
            <a:r>
              <a:rPr lang="bg-BG" dirty="0"/>
              <a:t>/</a:t>
            </a:r>
            <a:r>
              <a:rPr lang="en-US" dirty="0"/>
              <a:t>File </a:t>
            </a:r>
            <a:r>
              <a:rPr lang="bg-BG" dirty="0">
                <a:sym typeface="Wingdings" panose="05000000000000000000" pitchFamily="2" charset="2"/>
              </a:rPr>
              <a:t>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Изход</a:t>
            </a:r>
            <a:r>
              <a:rPr lang="bg-BG" dirty="0">
                <a:sym typeface="Wingdings" panose="05000000000000000000" pitchFamily="2" charset="2"/>
              </a:rPr>
              <a:t>/</a:t>
            </a:r>
            <a:r>
              <a:rPr lang="en-US" dirty="0">
                <a:sym typeface="Wingdings" panose="05000000000000000000" pitchFamily="2" charset="2"/>
              </a:rPr>
              <a:t>Exit</a:t>
            </a:r>
            <a:endParaRPr lang="bg-BG" dirty="0">
              <a:sym typeface="Wingdings" panose="05000000000000000000" pitchFamily="2" charset="2"/>
            </a:endParaRP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257" y="4690748"/>
            <a:ext cx="662932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14339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56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652934"/>
          </a:xfrm>
        </p:spPr>
        <p:txBody>
          <a:bodyPr>
            <a:normAutofit fontScale="90000"/>
          </a:bodyPr>
          <a:lstStyle/>
          <a:p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Практически задачи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251520" y="1484784"/>
            <a:ext cx="8892480" cy="547260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bg-BG" dirty="0"/>
              <a:t>Отворете файла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party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xlsx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dirty="0"/>
              <a:t>Маркирайте и оцветете в дадения цвят основни структурни елементи от таблицата, които имат следните адреси: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bg-BG" dirty="0"/>
              <a:t>а) </a:t>
            </a:r>
            <a:r>
              <a:rPr lang="en-US" dirty="0"/>
              <a:t>B1 </a:t>
            </a:r>
            <a:r>
              <a:rPr lang="bg-BG" dirty="0"/>
              <a:t>със син цвят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bg-BG" dirty="0"/>
              <a:t>б) от </a:t>
            </a:r>
            <a:r>
              <a:rPr lang="en-US" dirty="0"/>
              <a:t>C3</a:t>
            </a:r>
            <a:r>
              <a:rPr lang="bg-BG" dirty="0"/>
              <a:t> до </a:t>
            </a:r>
            <a:r>
              <a:rPr lang="en-US" dirty="0"/>
              <a:t>C8</a:t>
            </a:r>
            <a:r>
              <a:rPr lang="bg-BG" dirty="0"/>
              <a:t> - с жълт цвят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bg-BG" dirty="0"/>
              <a:t>в) от А7 до Е7 – с червен цвят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bg-BG" dirty="0"/>
              <a:t>г) от В2 до В8 – със светло зелен цвят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bg-BG" dirty="0"/>
              <a:t>д) от </a:t>
            </a:r>
            <a:r>
              <a:rPr lang="en-US" dirty="0"/>
              <a:t>D7 </a:t>
            </a:r>
            <a:r>
              <a:rPr lang="bg-BG" dirty="0"/>
              <a:t>до </a:t>
            </a:r>
            <a:r>
              <a:rPr lang="en-US" dirty="0"/>
              <a:t> E7 – </a:t>
            </a:r>
            <a:r>
              <a:rPr lang="bg-BG" dirty="0"/>
              <a:t>с тъмно зелен цвят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bg-BG" dirty="0"/>
              <a:t>За запълване с цвят на клетка използваме същия инструмент както в програмата </a:t>
            </a:r>
            <a:r>
              <a:rPr lang="en-US" dirty="0"/>
              <a:t>Paint </a:t>
            </a:r>
            <a:endParaRPr lang="bg-BG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119" y="6237312"/>
            <a:ext cx="720080" cy="530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Текстово поле 3"/>
          <p:cNvSpPr txBox="1"/>
          <p:nvPr/>
        </p:nvSpPr>
        <p:spPr>
          <a:xfrm>
            <a:off x="3707904" y="908720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ЗАДАЧА 1</a:t>
            </a:r>
          </a:p>
        </p:txBody>
      </p:sp>
      <p:pic>
        <p:nvPicPr>
          <p:cNvPr id="15363" name="Picture 15362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99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95536" y="476672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bg-BG" dirty="0"/>
              <a:t>3. Редактирайте таблицата с разходите така, че общата сума да не надвишават осигурения ви бюджет за партито /150 лв./</a:t>
            </a:r>
          </a:p>
          <a:p>
            <a:pPr marL="0" indent="0">
              <a:buNone/>
            </a:pPr>
            <a:r>
              <a:rPr lang="bg-BG" dirty="0"/>
              <a:t>Променяме сумата само в колона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Единична цена </a:t>
            </a:r>
            <a:r>
              <a:rPr lang="bg-BG" dirty="0"/>
              <a:t>и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Количество</a:t>
            </a:r>
            <a:r>
              <a:rPr lang="bg-BG" dirty="0"/>
              <a:t>, а сумите в колоните 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Крайна сума </a:t>
            </a:r>
            <a:r>
              <a:rPr lang="bg-BG" dirty="0"/>
              <a:t>и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Общо</a:t>
            </a:r>
            <a:r>
              <a:rPr lang="bg-BG" dirty="0"/>
              <a:t> автоматично се променят. В тях има въведени формули.</a:t>
            </a:r>
          </a:p>
          <a:p>
            <a:pPr marL="0" indent="0">
              <a:buNone/>
            </a:pPr>
            <a:r>
              <a:rPr lang="bg-BG" dirty="0"/>
              <a:t>4. Съхранете таблицата с името </a:t>
            </a:r>
            <a:r>
              <a:rPr lang="en-US" b="1" dirty="0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party</a:t>
            </a:r>
            <a:r>
              <a:rPr lang="bg-BG" b="1" dirty="0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_Вашето </a:t>
            </a:r>
            <a:r>
              <a:rPr lang="bg-BG" b="1" dirty="0" err="1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име_Клас</a:t>
            </a:r>
            <a:r>
              <a:rPr lang="bg-BG" b="1" dirty="0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b="1" dirty="0" err="1">
                <a:solidFill>
                  <a:srgbClr val="007A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xlsx</a:t>
            </a:r>
            <a:endParaRPr lang="bg-BG" b="1" dirty="0">
              <a:solidFill>
                <a:srgbClr val="007A3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bg-BG" dirty="0"/>
          </a:p>
        </p:txBody>
      </p:sp>
      <p:sp>
        <p:nvSpPr>
          <p:cNvPr id="4" name="Текстово поле 3"/>
          <p:cNvSpPr txBox="1"/>
          <p:nvPr/>
        </p:nvSpPr>
        <p:spPr>
          <a:xfrm>
            <a:off x="2267744" y="6530604"/>
            <a:ext cx="4824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/>
              <a:t>КМИТ, 5 клас, Маврова</a:t>
            </a:r>
          </a:p>
        </p:txBody>
      </p:sp>
      <p:pic>
        <p:nvPicPr>
          <p:cNvPr id="5" name="Picture 4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91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2385"/>
            <a:ext cx="8229600" cy="652934"/>
          </a:xfrm>
        </p:spPr>
        <p:txBody>
          <a:bodyPr>
            <a:normAutofit fontScale="90000"/>
          </a:bodyPr>
          <a:lstStyle/>
          <a:p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Практически задачи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61764" y="1290272"/>
            <a:ext cx="8892480" cy="547260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bg-BG" dirty="0"/>
              <a:t>Отворете файла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xlsx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14350" indent="-514350">
              <a:buFont typeface="+mj-lt"/>
              <a:buAutoNum type="arabicPeriod"/>
            </a:pPr>
            <a:r>
              <a:rPr lang="bg-BG" dirty="0"/>
              <a:t>В работния лист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Успех</a:t>
            </a:r>
            <a:r>
              <a:rPr lang="bg-BG" dirty="0"/>
              <a:t> въведете имената на предметите, които изучавате и редактирайте оценките, като въведете вашите, за да получите средния си успех.</a:t>
            </a:r>
          </a:p>
          <a:p>
            <a:pPr marL="0" indent="0" algn="ctr">
              <a:buNone/>
            </a:pPr>
            <a:r>
              <a:rPr lang="bg-BG" dirty="0"/>
              <a:t>Въвеждаме оценките си като използваме малкия блок на клавиатурата в дясно. За десетична запетая използваме клавиш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</a:t>
            </a:r>
            <a:r>
              <a:rPr 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dirty="0"/>
              <a:t>от нея.</a:t>
            </a: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3707904" y="764704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ЗАДАЧА 2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804" y="5445224"/>
            <a:ext cx="6248400" cy="12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авоъгълник 4"/>
          <p:cNvSpPr/>
          <p:nvPr/>
        </p:nvSpPr>
        <p:spPr>
          <a:xfrm>
            <a:off x="7020272" y="6453336"/>
            <a:ext cx="360040" cy="2539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6388" name="Picture 16387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64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23528" y="548680"/>
            <a:ext cx="8229600" cy="5400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bg-BG" dirty="0"/>
              <a:t>3. Превключете към работен лист Дати.</a:t>
            </a:r>
            <a:endParaRPr lang="en-US" dirty="0"/>
          </a:p>
          <a:p>
            <a:pPr marL="0" indent="0">
              <a:buNone/>
            </a:pPr>
            <a:endParaRPr lang="bg-BG" dirty="0"/>
          </a:p>
          <a:p>
            <a:pPr marL="0" indent="0">
              <a:buNone/>
            </a:pPr>
            <a:r>
              <a:rPr lang="bg-BG" dirty="0"/>
              <a:t>4. Въведете датата, месеца и годината на раждане за всеки един от вашите роднини, за да се определи автоматично: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dirty="0"/>
              <a:t>На колко дена е всеки един от тях;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dirty="0"/>
              <a:t>Кой е най-младият;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bg-BG" dirty="0"/>
              <a:t>Кой е най-възрастният.</a:t>
            </a:r>
          </a:p>
          <a:p>
            <a:pPr>
              <a:buFont typeface="Wingdings" panose="05000000000000000000" pitchFamily="2" charset="2"/>
              <a:buChar char="ü"/>
            </a:pPr>
            <a:endParaRPr lang="bg-BG" dirty="0"/>
          </a:p>
          <a:p>
            <a:pPr marL="0" indent="0">
              <a:buNone/>
            </a:pPr>
            <a:r>
              <a:rPr lang="bg-BG" dirty="0"/>
              <a:t>5. Съхранете таблицата под името </a:t>
            </a:r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data_</a:t>
            </a:r>
            <a:r>
              <a:rPr lang="bg-BG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Вашето </a:t>
            </a:r>
            <a:r>
              <a:rPr lang="bg-BG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име_Клас</a:t>
            </a:r>
            <a:r>
              <a:rPr lang="bg-BG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xlsx</a:t>
            </a:r>
            <a:endParaRPr lang="bg-BG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2339752" y="6530604"/>
            <a:ext cx="4824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/>
              <a:t>КМИТ, 5 клас, Маврова</a:t>
            </a:r>
          </a:p>
        </p:txBody>
      </p:sp>
      <p:pic>
        <p:nvPicPr>
          <p:cNvPr id="5" name="Picture 4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68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64704"/>
            <a:ext cx="2844824" cy="213087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227875" y="2276872"/>
            <a:ext cx="8688276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4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След направените упражнения </a:t>
            </a:r>
          </a:p>
          <a:p>
            <a:pPr algn="ctr"/>
            <a:r>
              <a:rPr lang="bg-BG" sz="4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убедихте ли се </a:t>
            </a:r>
          </a:p>
          <a:p>
            <a:pPr algn="ctr"/>
            <a:r>
              <a:rPr lang="bg-BG" sz="4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колко много възможности има</a:t>
            </a:r>
          </a:p>
          <a:p>
            <a:pPr algn="ctr"/>
            <a:r>
              <a:rPr lang="bg-BG" sz="4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програмата </a:t>
            </a:r>
            <a:r>
              <a:rPr lang="en-US" sz="4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Excel?</a:t>
            </a:r>
            <a:r>
              <a:rPr lang="bg-BG" sz="4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bg-BG" sz="48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Текстово поле 4"/>
          <p:cNvSpPr txBox="1"/>
          <p:nvPr/>
        </p:nvSpPr>
        <p:spPr>
          <a:xfrm>
            <a:off x="2627784" y="6444690"/>
            <a:ext cx="4824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400" dirty="0"/>
              <a:t>КМИТ, 5 клас, Маврова</a:t>
            </a:r>
          </a:p>
        </p:txBody>
      </p:sp>
      <p:pic>
        <p:nvPicPr>
          <p:cNvPr id="17411" name="Picture 1741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5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935</Words>
  <Application>Microsoft Office PowerPoint</Application>
  <PresentationFormat>Презентация на цял екран (4:3)</PresentationFormat>
  <Paragraphs>109</Paragraphs>
  <Slides>20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20</vt:i4>
      </vt:variant>
    </vt:vector>
  </HeadingPairs>
  <TitlesOfParts>
    <vt:vector size="24" baseType="lpstr">
      <vt:lpstr>Arial</vt:lpstr>
      <vt:lpstr>Calibri</vt:lpstr>
      <vt:lpstr>Wingdings</vt:lpstr>
      <vt:lpstr>Office тема</vt:lpstr>
      <vt:lpstr>Презентация на PowerPoint</vt:lpstr>
      <vt:lpstr>Презентация на PowerPoint</vt:lpstr>
      <vt:lpstr>Презентация на PowerPoint</vt:lpstr>
      <vt:lpstr>Още един пример за предимството на табличното представяне на данни:</vt:lpstr>
      <vt:lpstr>1. Електронна таблица</vt:lpstr>
      <vt:lpstr>2. Стартиране на програмата Excel</vt:lpstr>
      <vt:lpstr>3. Програмен прозорец.  Основни елементи.</vt:lpstr>
      <vt:lpstr>Презентация на PowerPoint</vt:lpstr>
      <vt:lpstr>Презентация на PowerPoint</vt:lpstr>
      <vt:lpstr>- Книга и работни листове</vt:lpstr>
      <vt:lpstr>- Елементи на таблицата</vt:lpstr>
      <vt:lpstr>Презентация на PowerPoint</vt:lpstr>
      <vt:lpstr>Презентация на PowerPoint</vt:lpstr>
      <vt:lpstr>Презентация на PowerPoint</vt:lpstr>
      <vt:lpstr>5. Съхраняване и затваряне на документ</vt:lpstr>
      <vt:lpstr>Практически задачи</vt:lpstr>
      <vt:lpstr>Презентация на PowerPoint</vt:lpstr>
      <vt:lpstr>Практически задачи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Маврова</dc:creator>
  <cp:lastModifiedBy>Elena Nenkova</cp:lastModifiedBy>
  <cp:revision>25</cp:revision>
  <dcterms:created xsi:type="dcterms:W3CDTF">2020-04-17T07:59:15Z</dcterms:created>
  <dcterms:modified xsi:type="dcterms:W3CDTF">2026-07-22T14:48:20Z</dcterms:modified>
</cp:coreProperties>
</file>