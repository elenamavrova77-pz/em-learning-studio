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4.svg" ContentType="image/svg+xml"/>
  <Override PartName="/ppt/media/image1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embeddedFontLst>
    <p:embeddedFont>
      <p:font typeface="Inter Bold" panose="020B0604020202020204" charset="0"/>
      <p:regular r:id="rId13"/>
    </p:embeddedFont>
    <p:embeddedFont>
      <p:font typeface="Inter Light" panose="020B0604020202020204" charset="0"/>
      <p:regular r:id="rId14"/>
    </p:embeddedFont>
    <p:embeddedFont>
      <p:font typeface="Montserrat Medium" panose="00000600000000000000" pitchFamily="2" charset="-52"/>
      <p:regular r:id="rId1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0" d="100"/>
          <a:sy n="110" d="100"/>
        </p:scale>
        <p:origin x="586"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font" Target="fonts/font1.fntdata"/><Relationship Id="rId14" Type="http://schemas.openxmlformats.org/officeDocument/2006/relationships/font" Target="fonts/font2.fntdata"/><Relationship Id="rId15" Type="http://schemas.openxmlformats.org/officeDocument/2006/relationships/font" Target="fonts/font3.fntdata"/><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7076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hyperlink" Target="https://gamma.app/?utm_source=made-with-gamma" TargetMode="Externa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3.jpeg"/><Relationship Id="rId4" Type="http://schemas.openxmlformats.org/officeDocument/2006/relationships/image" Target="../media/image1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jpeg"/><Relationship Id="rId4"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jpeg"/><Relationship Id="rId4" Type="http://schemas.openxmlformats.org/officeDocument/2006/relationships/image" Target="../media/image1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jpeg"/><Relationship Id="rId4" Type="http://schemas.openxmlformats.org/officeDocument/2006/relationships/image" Target="../media/image7.jpeg"/><Relationship Id="rId5" Type="http://schemas.openxmlformats.org/officeDocument/2006/relationships/image" Target="../media/image8.jpeg"/><Relationship Id="rId6"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9.jpeg"/><Relationship Id="rId4" Type="http://schemas.openxmlformats.org/officeDocument/2006/relationships/image" Target="../media/image10.png"/><Relationship Id="rId5"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1.jpe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2.jpe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14.svg"/><Relationship Id="rId5" Type="http://schemas.openxmlformats.org/officeDocument/2006/relationships/image" Target="../media/image15.png"/><Relationship Id="rId6" Type="http://schemas.openxmlformats.org/officeDocument/2006/relationships/image" Target="../media/image16.svg"/><Relationship Id="rId7"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1795611"/>
            <a:ext cx="4722763" cy="885974"/>
          </a:xfrm>
          <a:prstGeom prst="rect">
            <a:avLst/>
          </a:prstGeom>
          <a:noFill/>
          <a:ln/>
        </p:spPr>
        <p:txBody>
          <a:bodyPr wrap="square" lIns="0" tIns="0" rIns="0" bIns="0" rtlCol="0" anchor="t">
            <a:normAutofit fontScale="92500" lnSpcReduction="10000"/>
          </a:bodyPr>
          <a:lstStyle/>
          <a:p>
            <a:pPr marL="0" indent="0" algn="l">
              <a:lnSpc>
                <a:spcPct val="104000"/>
              </a:lnSpc>
              <a:buNone/>
            </a:pPr>
            <a:r>
              <a:rPr lang="en-US" sz="3200" b="1" dirty="0">
                <a:solidFill>
                  <a:srgbClr val="FF0000"/>
                </a:solidFill>
                <a:effectLst>
                  <a:outerShdw blurRad="38100" dist="38100" dir="2700000" algn="tl">
                    <a:srgbClr val="000000">
                      <a:alpha val="43137"/>
                    </a:srgbClr>
                  </a:outerShdw>
                </a:effectLst>
                <a:latin typeface="Montserrat Medium" pitchFamily="34" charset="0"/>
                <a:ea typeface="Montserrat Medium" pitchFamily="34" charset="-122"/>
                <a:cs typeface="Montserrat Medium" pitchFamily="34" charset="-120"/>
              </a:rPr>
              <a:t>Звук и Видеоинформация</a:t>
            </a:r>
            <a:endParaRPr lang="en-US" sz="3200" b="1" dirty="0">
              <a:solidFill>
                <a:srgbClr val="FF0000"/>
              </a:solidFill>
              <a:effectLst>
                <a:outerShdw blurRad="38100" dist="38100" dir="2700000" algn="tl">
                  <a:srgbClr val="000000">
                    <a:alpha val="43137"/>
                  </a:srgbClr>
                </a:outerShdw>
              </a:effectLst>
            </a:endParaRPr>
          </a:p>
        </p:txBody>
      </p:sp>
      <p:sp>
        <p:nvSpPr>
          <p:cNvPr id="4" name="Text 1"/>
          <p:cNvSpPr/>
          <p:nvPr/>
        </p:nvSpPr>
        <p:spPr>
          <a:xfrm>
            <a:off x="3925119" y="2894186"/>
            <a:ext cx="4722763" cy="453628"/>
          </a:xfrm>
          <a:prstGeom prst="rect">
            <a:avLst/>
          </a:prstGeom>
          <a:noFill/>
          <a:ln/>
        </p:spPr>
        <p:txBody>
          <a:bodyPr wrap="square" lIns="0" tIns="0" rIns="0" bIns="0" rtlCol="0" anchor="t">
            <a:normAutofit lnSpcReduction="10000"/>
          </a:bodyPr>
          <a:lstStyle/>
          <a:p>
            <a:pPr marL="0" indent="0" algn="l">
              <a:lnSpc>
                <a:spcPct val="133000"/>
              </a:lnSpc>
              <a:buNone/>
            </a:pPr>
            <a:r>
              <a:rPr lang="en-US" sz="1200" dirty="0">
                <a:latin typeface="Inter Light" pitchFamily="34" charset="0"/>
                <a:ea typeface="Inter Light" pitchFamily="34" charset="-122"/>
                <a:cs typeface="Inter Light" pitchFamily="34" charset="-120"/>
              </a:rPr>
              <a:t>Работа със звукова и видеоинформация — основни компоненти, устройства и програми за възпроизвеждане</a:t>
            </a:r>
            <a:endParaRPr lang="en-US" sz="1200" dirty="0"/>
          </a:p>
        </p:txBody>
      </p:sp>
      <p:sp>
        <p:nvSpPr>
          <p:cNvPr id="5" name="Текстово поле 3">
            <a:extLst>
              <a:ext uri="{FF2B5EF4-FFF2-40B4-BE49-F238E27FC236}">
                <a16:creationId xmlns:a16="http://schemas.microsoft.com/office/drawing/2014/main" id="{C50AF891-DCB6-D864-C016-BCC7069DAF20}"/>
              </a:ext>
            </a:extLst>
          </p:cNvPr>
          <p:cNvSpPr txBox="1">
            <a:spLocks noChangeArrowheads="1"/>
          </p:cNvSpPr>
          <p:nvPr/>
        </p:nvSpPr>
        <p:spPr bwMode="auto">
          <a:xfrm>
            <a:off x="2208212" y="4698712"/>
            <a:ext cx="472757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Comic Sans MS" panose="030F0702030302020204" pitchFamily="66" charset="0"/>
              </a:defRPr>
            </a:lvl1pPr>
            <a:lvl2pPr indent="-285750">
              <a:spcBef>
                <a:spcPct val="20000"/>
              </a:spcBef>
              <a:buChar char="–"/>
              <a:defRPr sz="2800">
                <a:solidFill>
                  <a:schemeClr val="tx1"/>
                </a:solidFill>
                <a:latin typeface="Comic Sans MS" panose="030F0702030302020204" pitchFamily="66" charset="0"/>
              </a:defRPr>
            </a:lvl2pPr>
            <a:lvl3pPr indent="-228600">
              <a:spcBef>
                <a:spcPct val="20000"/>
              </a:spcBef>
              <a:buChar char="•"/>
              <a:defRPr sz="2400">
                <a:solidFill>
                  <a:schemeClr val="tx1"/>
                </a:solidFill>
                <a:latin typeface="Comic Sans MS" panose="030F0702030302020204" pitchFamily="66" charset="0"/>
              </a:defRPr>
            </a:lvl3pPr>
            <a:lvl4pPr indent="-228600">
              <a:spcBef>
                <a:spcPct val="20000"/>
              </a:spcBef>
              <a:buChar char="–"/>
              <a:defRPr sz="2000">
                <a:solidFill>
                  <a:schemeClr val="tx1"/>
                </a:solidFill>
                <a:latin typeface="Comic Sans MS" panose="030F0702030302020204" pitchFamily="66" charset="0"/>
              </a:defRPr>
            </a:lvl4pPr>
            <a:lvl5pPr indent="-228600">
              <a:spcBef>
                <a:spcPct val="20000"/>
              </a:spcBef>
              <a:buChar char="»"/>
              <a:defRPr sz="2000">
                <a:solidFill>
                  <a:schemeClr val="tx1"/>
                </a:solidFill>
                <a:latin typeface="Comic Sans MS" panose="030F0702030302020204" pitchFamily="66" charset="0"/>
              </a:defRPr>
            </a:lvl5pPr>
            <a:lvl6pPr indent="-228600" eaLnBrk="0" fontAlgn="base" hangingPunct="0">
              <a:spcBef>
                <a:spcPct val="20000"/>
              </a:spcBef>
              <a:spcAft>
                <a:spcPct val="0"/>
              </a:spcAft>
              <a:buChar char="»"/>
              <a:defRPr sz="2000">
                <a:solidFill>
                  <a:schemeClr val="tx1"/>
                </a:solidFill>
                <a:latin typeface="Comic Sans MS" panose="030F0702030302020204" pitchFamily="66" charset="0"/>
              </a:defRPr>
            </a:lvl6pPr>
            <a:lvl7pPr indent="-228600" eaLnBrk="0" fontAlgn="base" hangingPunct="0">
              <a:spcBef>
                <a:spcPct val="20000"/>
              </a:spcBef>
              <a:spcAft>
                <a:spcPct val="0"/>
              </a:spcAft>
              <a:buChar char="»"/>
              <a:defRPr sz="2000">
                <a:solidFill>
                  <a:schemeClr val="tx1"/>
                </a:solidFill>
                <a:latin typeface="Comic Sans MS" panose="030F0702030302020204" pitchFamily="66" charset="0"/>
              </a:defRPr>
            </a:lvl7pPr>
            <a:lvl8pPr indent="-228600" eaLnBrk="0" fontAlgn="base" hangingPunct="0">
              <a:spcBef>
                <a:spcPct val="20000"/>
              </a:spcBef>
              <a:spcAft>
                <a:spcPct val="0"/>
              </a:spcAft>
              <a:buChar char="»"/>
              <a:defRPr sz="2000">
                <a:solidFill>
                  <a:schemeClr val="tx1"/>
                </a:solidFill>
                <a:latin typeface="Comic Sans MS" panose="030F0702030302020204" pitchFamily="66" charset="0"/>
              </a:defRPr>
            </a:lvl8pPr>
            <a:lvl9pPr indent="-228600" eaLnBrk="0" fontAlgn="base" hangingPunct="0">
              <a:spcBef>
                <a:spcPct val="20000"/>
              </a:spcBef>
              <a:spcAft>
                <a:spcPct val="0"/>
              </a:spcAft>
              <a:buChar char="»"/>
              <a:defRPr sz="2000">
                <a:solidFill>
                  <a:schemeClr val="tx1"/>
                </a:solidFill>
                <a:latin typeface="Comic Sans MS" panose="030F0702030302020204" pitchFamily="66" charset="0"/>
              </a:defRPr>
            </a:lvl9pPr>
          </a:lstStyle>
          <a:p>
            <a:pPr algn="ctr" eaLnBrk="1" hangingPunct="1">
              <a:spcBef>
                <a:spcPct val="0"/>
              </a:spcBef>
              <a:buFontTx/>
              <a:buNone/>
            </a:pPr>
            <a:r>
              <a:rPr lang="bg-BG" altLang="bg-BG" sz="1200" dirty="0"/>
              <a:t>КМИТ, 5 клас, Елена Маврова-Ненкова</a:t>
            </a:r>
          </a:p>
        </p:txBody>
      </p:sp>
      <p:pic>
        <p:nvPicPr>
          <p:cNvPr id="6" name="Picture 5" descr="_em_logo.png"/>
          <p:cNvPicPr>
            <a:picLocks noChangeAspect="1"/>
          </p:cNvPicPr>
          <p:nvPr/>
        </p:nvPicPr>
        <p:blipFill>
          <a:blip r:embed="rId4"/>
          <a:stretch>
            <a:fillRect/>
          </a:stretch>
        </p:blipFill>
        <p:spPr>
          <a:xfrm>
            <a:off x="8092440" y="4229100"/>
            <a:ext cx="868680" cy="9052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1455390"/>
            <a:ext cx="4722763" cy="885974"/>
          </a:xfrm>
          <a:prstGeom prst="rect">
            <a:avLst/>
          </a:prstGeom>
          <a:noFill/>
          <a:ln/>
        </p:spPr>
        <p:txBody>
          <a:bodyPr wrap="square" lIns="0" tIns="0" rIns="0" bIns="0" rtlCol="0" anchor="t">
            <a:normAutofit/>
          </a:bodyPr>
          <a:lstStyle/>
          <a:p>
            <a:pPr marL="0" indent="0" algn="l">
              <a:lnSpc>
                <a:spcPct val="104000"/>
              </a:lnSpc>
              <a:buNone/>
            </a:pPr>
            <a:r>
              <a:rPr lang="en-US" sz="2750" dirty="0">
                <a:solidFill>
                  <a:srgbClr val="74767D"/>
                </a:solidFill>
                <a:latin typeface="Montserrat Medium" pitchFamily="34" charset="0"/>
                <a:ea typeface="Montserrat Medium" pitchFamily="34" charset="-122"/>
                <a:cs typeface="Montserrat Medium" pitchFamily="34" charset="-120"/>
              </a:rPr>
              <a:t>Компютърът и мултимедията</a:t>
            </a:r>
            <a:endParaRPr lang="en-US" sz="2750" dirty="0"/>
          </a:p>
        </p:txBody>
      </p:sp>
      <p:sp>
        <p:nvSpPr>
          <p:cNvPr id="4" name="Text 1"/>
          <p:cNvSpPr/>
          <p:nvPr/>
        </p:nvSpPr>
        <p:spPr>
          <a:xfrm>
            <a:off x="496119" y="2553965"/>
            <a:ext cx="4722763" cy="1134070"/>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3D3E44"/>
                </a:solidFill>
                <a:latin typeface="Inter Light" pitchFamily="34" charset="0"/>
                <a:ea typeface="Inter Light" pitchFamily="34" charset="-122"/>
                <a:cs typeface="Inter Light" pitchFamily="34" charset="-120"/>
              </a:rPr>
              <a:t>В ежедневието си компютърът се използва за много различни дейности. Една от тях е </a:t>
            </a:r>
            <a:r>
              <a:rPr lang="en-US" sz="1100" b="1" dirty="0">
                <a:solidFill>
                  <a:srgbClr val="3D3E44"/>
                </a:solidFill>
                <a:latin typeface="Inter Bold" pitchFamily="34" charset="0"/>
                <a:ea typeface="Inter Bold" pitchFamily="34" charset="-122"/>
                <a:cs typeface="Inter Bold" pitchFamily="34" charset="-120"/>
              </a:rPr>
              <a:t>възпроизвеждането на звук и видео</a:t>
            </a:r>
            <a:r>
              <a:rPr lang="en-US" sz="1100" dirty="0">
                <a:solidFill>
                  <a:srgbClr val="3D3E44"/>
                </a:solidFill>
                <a:latin typeface="Inter Light" pitchFamily="34" charset="0"/>
                <a:ea typeface="Inter Light" pitchFamily="34" charset="-122"/>
                <a:cs typeface="Inter Light" pitchFamily="34" charset="-120"/>
              </a:rPr>
              <a:t> — например когато слушате музика, гледате филм или играете видеоигри. С помощта на компютър може да се създава, обработва и записва звук.</a:t>
            </a:r>
            <a:endParaRPr lang="en-US" sz="1100" dirty="0"/>
          </a:p>
        </p:txBody>
      </p:sp>
      <p:pic>
        <p:nvPicPr>
          <p:cNvPr id="5" name="Picture 4" descr="_em_logo.png"/>
          <p:cNvPicPr>
            <a:picLocks noChangeAspect="1"/>
          </p:cNvPicPr>
          <p:nvPr/>
        </p:nvPicPr>
        <p:blipFill>
          <a:blip r:embed="rId4"/>
          <a:stretch>
            <a:fillRect/>
          </a:stretch>
        </p:blipFill>
        <p:spPr>
          <a:xfrm>
            <a:off x="8092440" y="4229100"/>
            <a:ext cx="868680" cy="90529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96119" y="634305"/>
            <a:ext cx="455637" cy="215354"/>
          </a:xfrm>
          <a:prstGeom prst="roundRect">
            <a:avLst>
              <a:gd name="adj" fmla="val 47398"/>
            </a:avLst>
          </a:prstGeom>
          <a:solidFill>
            <a:srgbClr val="DFE1EC"/>
          </a:solidFill>
          <a:ln/>
        </p:spPr>
      </p:sp>
      <p:sp>
        <p:nvSpPr>
          <p:cNvPr id="3" name="Text 1"/>
          <p:cNvSpPr/>
          <p:nvPr/>
        </p:nvSpPr>
        <p:spPr>
          <a:xfrm>
            <a:off x="581174" y="676796"/>
            <a:ext cx="742727" cy="130373"/>
          </a:xfrm>
          <a:prstGeom prst="rect">
            <a:avLst/>
          </a:prstGeom>
          <a:noFill/>
          <a:ln/>
        </p:spPr>
        <p:txBody>
          <a:bodyPr wrap="none" lIns="0" tIns="0" rIns="0" bIns="0" rtlCol="0" anchor="t"/>
          <a:lstStyle/>
          <a:p>
            <a:pPr marL="0" indent="0" algn="l">
              <a:lnSpc>
                <a:spcPct val="96000"/>
              </a:lnSpc>
              <a:buNone/>
            </a:pPr>
            <a:r>
              <a:rPr lang="en-US" sz="850" dirty="0">
                <a:solidFill>
                  <a:srgbClr val="3D3E44"/>
                </a:solidFill>
                <a:latin typeface="Inter Light" pitchFamily="34" charset="0"/>
                <a:ea typeface="Inter Light" pitchFamily="34" charset="-122"/>
                <a:cs typeface="Inter Light" pitchFamily="34" charset="-120"/>
              </a:rPr>
              <a:t>ЗВУК</a:t>
            </a:r>
            <a:endParaRPr lang="en-US" sz="850" dirty="0"/>
          </a:p>
        </p:txBody>
      </p:sp>
      <p:sp>
        <p:nvSpPr>
          <p:cNvPr id="4" name="Text 2"/>
          <p:cNvSpPr/>
          <p:nvPr/>
        </p:nvSpPr>
        <p:spPr>
          <a:xfrm>
            <a:off x="496119" y="906363"/>
            <a:ext cx="8151763" cy="442987"/>
          </a:xfrm>
          <a:prstGeom prst="rect">
            <a:avLst/>
          </a:prstGeom>
          <a:noFill/>
          <a:ln/>
        </p:spPr>
        <p:txBody>
          <a:bodyPr wrap="none" lIns="0" tIns="0" rIns="0" bIns="0" rtlCol="0" anchor="t"/>
          <a:lstStyle/>
          <a:p>
            <a:pPr marL="0" indent="0" algn="l">
              <a:lnSpc>
                <a:spcPct val="104000"/>
              </a:lnSpc>
              <a:buNone/>
            </a:pPr>
            <a:r>
              <a:rPr lang="en-US" sz="2750" dirty="0">
                <a:solidFill>
                  <a:srgbClr val="74767D"/>
                </a:solidFill>
                <a:latin typeface="Montserrat Medium" pitchFamily="34" charset="0"/>
                <a:ea typeface="Montserrat Medium" pitchFamily="34" charset="-122"/>
                <a:cs typeface="Montserrat Medium" pitchFamily="34" charset="-120"/>
              </a:rPr>
              <a:t>Звукова карта</a:t>
            </a:r>
            <a:endParaRPr lang="en-US" sz="2750" dirty="0"/>
          </a:p>
        </p:txBody>
      </p:sp>
      <p:pic>
        <p:nvPicPr>
          <p:cNvPr id="5" name="Image 0" descr="preencoded.png"/>
          <p:cNvPicPr>
            <a:picLocks noChangeAspect="1"/>
          </p:cNvPicPr>
          <p:nvPr/>
        </p:nvPicPr>
        <p:blipFill>
          <a:blip r:embed="rId3"/>
          <a:stretch>
            <a:fillRect/>
          </a:stretch>
        </p:blipFill>
        <p:spPr>
          <a:xfrm>
            <a:off x="496119" y="1721421"/>
            <a:ext cx="2628230" cy="2628230"/>
          </a:xfrm>
          <a:prstGeom prst="rect">
            <a:avLst/>
          </a:prstGeom>
        </p:spPr>
      </p:pic>
      <p:sp>
        <p:nvSpPr>
          <p:cNvPr id="6" name="Text 3"/>
          <p:cNvSpPr/>
          <p:nvPr/>
        </p:nvSpPr>
        <p:spPr>
          <a:xfrm>
            <a:off x="3474988" y="2078682"/>
            <a:ext cx="5177582" cy="907256"/>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3D3E44"/>
                </a:solidFill>
                <a:latin typeface="Inter Light" pitchFamily="34" charset="0"/>
                <a:ea typeface="Inter Light" pitchFamily="34" charset="-122"/>
                <a:cs typeface="Inter Light" pitchFamily="34" charset="-120"/>
              </a:rPr>
              <a:t>Звуковата карта е хардуерно устройство, с помощта на което компютърът </a:t>
            </a:r>
            <a:r>
              <a:rPr lang="en-US" sz="1100" b="1" dirty="0">
                <a:solidFill>
                  <a:srgbClr val="3D3E44"/>
                </a:solidFill>
                <a:latin typeface="Inter Bold" pitchFamily="34" charset="0"/>
                <a:ea typeface="Inter Bold" pitchFamily="34" charset="-122"/>
                <a:cs typeface="Inter Bold" pitchFamily="34" charset="-120"/>
              </a:rPr>
              <a:t>създава, обработва и записва звук</a:t>
            </a:r>
            <a:r>
              <a:rPr lang="en-US" sz="1100" dirty="0">
                <a:solidFill>
                  <a:srgbClr val="3D3E44"/>
                </a:solidFill>
                <a:latin typeface="Inter Light" pitchFamily="34" charset="0"/>
                <a:ea typeface="Inter Light" pitchFamily="34" charset="-122"/>
                <a:cs typeface="Inter Light" pitchFamily="34" charset="-120"/>
              </a:rPr>
              <a:t>. Тя може да бъде вградена в дънната платка или да е отделно устройство. Звуковата карта преобразува цифровите данни в аналогов звук и се използва за:</a:t>
            </a:r>
            <a:endParaRPr lang="en-US" sz="1100" dirty="0"/>
          </a:p>
        </p:txBody>
      </p:sp>
      <p:sp>
        <p:nvSpPr>
          <p:cNvPr id="7" name="Text 4"/>
          <p:cNvSpPr/>
          <p:nvPr/>
        </p:nvSpPr>
        <p:spPr>
          <a:xfrm>
            <a:off x="3474988" y="3113484"/>
            <a:ext cx="5177582" cy="956816"/>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dirty="0">
                <a:solidFill>
                  <a:srgbClr val="3D3E44"/>
                </a:solidFill>
                <a:latin typeface="Inter Light" pitchFamily="34" charset="0"/>
                <a:ea typeface="Inter Light" pitchFamily="34" charset="-122"/>
                <a:cs typeface="Inter Light" pitchFamily="34" charset="-120"/>
              </a:rPr>
              <a:t>Възпроизвеждане на вече записани звуци през свързаните към нея тонколонки</a:t>
            </a:r>
            <a:endParaRPr lang="en-US" sz="1100" dirty="0"/>
          </a:p>
          <a:p>
            <a:pPr marL="223520" indent="-223520" algn="l">
              <a:lnSpc>
                <a:spcPct val="133000"/>
              </a:lnSpc>
              <a:buSzPct val="100000"/>
              <a:buChar char="•"/>
            </a:pPr>
            <a:r>
              <a:rPr lang="en-US" sz="1100" dirty="0">
                <a:solidFill>
                  <a:srgbClr val="3D3E44"/>
                </a:solidFill>
                <a:latin typeface="Inter Light" pitchFamily="34" charset="0"/>
                <a:ea typeface="Inter Light" pitchFamily="34" charset="-122"/>
                <a:cs typeface="Inter Light" pitchFamily="34" charset="-120"/>
              </a:rPr>
              <a:t>Изпращане на звуци в компютъра по цифров път чрез свързан микрофон или чрез директна връзка с друг източник на звук</a:t>
            </a:r>
            <a:endParaRPr lang="en-US" sz="1100" dirty="0"/>
          </a:p>
        </p:txBody>
      </p:sp>
      <p:pic>
        <p:nvPicPr>
          <p:cNvPr id="8" name="Picture 7" descr="_em_logo.png"/>
          <p:cNvPicPr>
            <a:picLocks noChangeAspect="1"/>
          </p:cNvPicPr>
          <p:nvPr/>
        </p:nvPicPr>
        <p:blipFill>
          <a:blip r:embed="rId4"/>
          <a:stretch>
            <a:fillRect/>
          </a:stretch>
        </p:blipFill>
        <p:spPr>
          <a:xfrm>
            <a:off x="8092440" y="4229100"/>
            <a:ext cx="868680" cy="90529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96119" y="416570"/>
            <a:ext cx="441275" cy="208583"/>
          </a:xfrm>
          <a:prstGeom prst="roundRect">
            <a:avLst>
              <a:gd name="adj" fmla="val 47407"/>
            </a:avLst>
          </a:prstGeom>
          <a:solidFill>
            <a:srgbClr val="DFE1EC"/>
          </a:solidFill>
          <a:ln/>
        </p:spPr>
      </p:sp>
      <p:sp>
        <p:nvSpPr>
          <p:cNvPr id="3" name="Text 1"/>
          <p:cNvSpPr/>
          <p:nvPr/>
        </p:nvSpPr>
        <p:spPr>
          <a:xfrm>
            <a:off x="578495" y="457721"/>
            <a:ext cx="733723" cy="126281"/>
          </a:xfrm>
          <a:prstGeom prst="rect">
            <a:avLst/>
          </a:prstGeom>
          <a:noFill/>
          <a:ln/>
        </p:spPr>
        <p:txBody>
          <a:bodyPr wrap="none" lIns="0" tIns="0" rIns="0" bIns="0" rtlCol="0" anchor="t"/>
          <a:lstStyle/>
          <a:p>
            <a:pPr marL="0" indent="0" algn="l">
              <a:lnSpc>
                <a:spcPct val="96000"/>
              </a:lnSpc>
              <a:buNone/>
            </a:pPr>
            <a:r>
              <a:rPr lang="en-US" sz="850" dirty="0">
                <a:solidFill>
                  <a:srgbClr val="3D3E44"/>
                </a:solidFill>
                <a:latin typeface="Inter Light" pitchFamily="34" charset="0"/>
                <a:ea typeface="Inter Light" pitchFamily="34" charset="-122"/>
                <a:cs typeface="Inter Light" pitchFamily="34" charset="-120"/>
              </a:rPr>
              <a:t>ЗВУК</a:t>
            </a:r>
            <a:endParaRPr lang="en-US" sz="850" dirty="0"/>
          </a:p>
        </p:txBody>
      </p:sp>
      <p:sp>
        <p:nvSpPr>
          <p:cNvPr id="4" name="Text 2"/>
          <p:cNvSpPr/>
          <p:nvPr/>
        </p:nvSpPr>
        <p:spPr>
          <a:xfrm>
            <a:off x="496119" y="678359"/>
            <a:ext cx="8151763" cy="429146"/>
          </a:xfrm>
          <a:prstGeom prst="rect">
            <a:avLst/>
          </a:prstGeom>
          <a:noFill/>
          <a:ln/>
        </p:spPr>
        <p:txBody>
          <a:bodyPr wrap="none" lIns="0" tIns="0" rIns="0" bIns="0" rtlCol="0" anchor="t"/>
          <a:lstStyle/>
          <a:p>
            <a:pPr marL="0" indent="0" algn="l">
              <a:lnSpc>
                <a:spcPct val="104000"/>
              </a:lnSpc>
              <a:buNone/>
            </a:pPr>
            <a:r>
              <a:rPr lang="en-US" sz="2700" dirty="0">
                <a:solidFill>
                  <a:srgbClr val="74767D"/>
                </a:solidFill>
                <a:latin typeface="Montserrat Medium" pitchFamily="34" charset="0"/>
                <a:ea typeface="Montserrat Medium" pitchFamily="34" charset="-122"/>
                <a:cs typeface="Montserrat Medium" pitchFamily="34" charset="-120"/>
              </a:rPr>
              <a:t>Входни и изходни устройства</a:t>
            </a:r>
            <a:endParaRPr lang="en-US" sz="2700" dirty="0"/>
          </a:p>
        </p:txBody>
      </p:sp>
      <p:pic>
        <p:nvPicPr>
          <p:cNvPr id="5" name="Image 0" descr="preencoded.png"/>
          <p:cNvPicPr>
            <a:picLocks noChangeAspect="1"/>
          </p:cNvPicPr>
          <p:nvPr/>
        </p:nvPicPr>
        <p:blipFill>
          <a:blip r:embed="rId3"/>
          <a:stretch>
            <a:fillRect/>
          </a:stretch>
        </p:blipFill>
        <p:spPr>
          <a:xfrm>
            <a:off x="496119" y="1307009"/>
            <a:ext cx="1511722" cy="1511722"/>
          </a:xfrm>
          <a:prstGeom prst="rect">
            <a:avLst/>
          </a:prstGeom>
        </p:spPr>
      </p:pic>
      <p:sp>
        <p:nvSpPr>
          <p:cNvPr id="6" name="Text 3"/>
          <p:cNvSpPr/>
          <p:nvPr/>
        </p:nvSpPr>
        <p:spPr>
          <a:xfrm>
            <a:off x="496119" y="2984971"/>
            <a:ext cx="2606427" cy="214536"/>
          </a:xfrm>
          <a:prstGeom prst="rect">
            <a:avLst/>
          </a:prstGeom>
          <a:noFill/>
          <a:ln/>
        </p:spPr>
        <p:txBody>
          <a:bodyPr wrap="none" lIns="0" tIns="0" rIns="0" bIns="0" rtlCol="0" anchor="t"/>
          <a:lstStyle/>
          <a:p>
            <a:pPr marL="0" indent="0" algn="l">
              <a:lnSpc>
                <a:spcPct val="104000"/>
              </a:lnSpc>
              <a:buNone/>
            </a:pPr>
            <a:r>
              <a:rPr lang="en-US" sz="1350" dirty="0">
                <a:solidFill>
                  <a:srgbClr val="3D3E44"/>
                </a:solidFill>
                <a:latin typeface="Montserrat Medium" pitchFamily="34" charset="0"/>
                <a:ea typeface="Montserrat Medium" pitchFamily="34" charset="-122"/>
                <a:cs typeface="Montserrat Medium" pitchFamily="34" charset="-120"/>
              </a:rPr>
              <a:t>Тонколонки</a:t>
            </a:r>
            <a:endParaRPr lang="en-US" sz="1350" dirty="0"/>
          </a:p>
        </p:txBody>
      </p:sp>
      <p:sp>
        <p:nvSpPr>
          <p:cNvPr id="7" name="Text 4"/>
          <p:cNvSpPr/>
          <p:nvPr/>
        </p:nvSpPr>
        <p:spPr>
          <a:xfrm>
            <a:off x="496119" y="3279279"/>
            <a:ext cx="2606427" cy="1081608"/>
          </a:xfrm>
          <a:prstGeom prst="rect">
            <a:avLst/>
          </a:prstGeom>
          <a:noFill/>
          <a:ln/>
        </p:spPr>
        <p:txBody>
          <a:bodyPr wrap="square" lIns="0" tIns="0" rIns="0" bIns="0" rtlCol="0" anchor="t">
            <a:normAutofit/>
          </a:bodyPr>
          <a:lstStyle/>
          <a:p>
            <a:pPr marL="0" indent="0" algn="l">
              <a:lnSpc>
                <a:spcPct val="131000"/>
              </a:lnSpc>
              <a:buNone/>
            </a:pPr>
            <a:r>
              <a:rPr lang="en-US" sz="1050" dirty="0">
                <a:solidFill>
                  <a:srgbClr val="3D3E44"/>
                </a:solidFill>
                <a:latin typeface="Inter Light" pitchFamily="34" charset="0"/>
                <a:ea typeface="Inter Light" pitchFamily="34" charset="-122"/>
                <a:cs typeface="Inter Light" pitchFamily="34" charset="-120"/>
              </a:rPr>
              <a:t>Изходни периферни устройства за възпроизвеждане на звук, доловим от човешкото ухо. При настолните компютри са отделни, а при лаптопите — вградени.</a:t>
            </a:r>
            <a:endParaRPr lang="en-US" sz="1050" dirty="0"/>
          </a:p>
        </p:txBody>
      </p:sp>
      <p:pic>
        <p:nvPicPr>
          <p:cNvPr id="8" name="Image 1" descr="preencoded.png"/>
          <p:cNvPicPr>
            <a:picLocks noChangeAspect="1"/>
          </p:cNvPicPr>
          <p:nvPr/>
        </p:nvPicPr>
        <p:blipFill>
          <a:blip r:embed="rId4"/>
          <a:stretch>
            <a:fillRect/>
          </a:stretch>
        </p:blipFill>
        <p:spPr>
          <a:xfrm>
            <a:off x="3268787" y="1307009"/>
            <a:ext cx="1511722" cy="1511722"/>
          </a:xfrm>
          <a:prstGeom prst="rect">
            <a:avLst/>
          </a:prstGeom>
        </p:spPr>
      </p:pic>
      <p:sp>
        <p:nvSpPr>
          <p:cNvPr id="9" name="Text 5"/>
          <p:cNvSpPr/>
          <p:nvPr/>
        </p:nvSpPr>
        <p:spPr>
          <a:xfrm>
            <a:off x="3268787" y="2984971"/>
            <a:ext cx="2606427" cy="214536"/>
          </a:xfrm>
          <a:prstGeom prst="rect">
            <a:avLst/>
          </a:prstGeom>
          <a:noFill/>
          <a:ln/>
        </p:spPr>
        <p:txBody>
          <a:bodyPr wrap="none" lIns="0" tIns="0" rIns="0" bIns="0" rtlCol="0" anchor="t"/>
          <a:lstStyle/>
          <a:p>
            <a:pPr marL="0" indent="0" algn="l">
              <a:lnSpc>
                <a:spcPct val="104000"/>
              </a:lnSpc>
              <a:buNone/>
            </a:pPr>
            <a:r>
              <a:rPr lang="en-US" sz="1350" dirty="0">
                <a:solidFill>
                  <a:srgbClr val="3D3E44"/>
                </a:solidFill>
                <a:latin typeface="Montserrat Medium" pitchFamily="34" charset="0"/>
                <a:ea typeface="Montserrat Medium" pitchFamily="34" charset="-122"/>
                <a:cs typeface="Montserrat Medium" pitchFamily="34" charset="-120"/>
              </a:rPr>
              <a:t>Слушалки</a:t>
            </a:r>
            <a:endParaRPr lang="en-US" sz="1350" dirty="0"/>
          </a:p>
        </p:txBody>
      </p:sp>
      <p:sp>
        <p:nvSpPr>
          <p:cNvPr id="10" name="Text 6"/>
          <p:cNvSpPr/>
          <p:nvPr/>
        </p:nvSpPr>
        <p:spPr>
          <a:xfrm>
            <a:off x="3268787" y="3279279"/>
            <a:ext cx="2606427" cy="648965"/>
          </a:xfrm>
          <a:prstGeom prst="rect">
            <a:avLst/>
          </a:prstGeom>
          <a:noFill/>
          <a:ln/>
        </p:spPr>
        <p:txBody>
          <a:bodyPr wrap="square" lIns="0" tIns="0" rIns="0" bIns="0" rtlCol="0" anchor="t">
            <a:normAutofit/>
          </a:bodyPr>
          <a:lstStyle/>
          <a:p>
            <a:pPr marL="0" indent="0" algn="l">
              <a:lnSpc>
                <a:spcPct val="131000"/>
              </a:lnSpc>
              <a:buNone/>
            </a:pPr>
            <a:r>
              <a:rPr lang="en-US" sz="1050" dirty="0">
                <a:solidFill>
                  <a:srgbClr val="3D3E44"/>
                </a:solidFill>
                <a:latin typeface="Inter Light" pitchFamily="34" charset="0"/>
                <a:ea typeface="Inter Light" pitchFamily="34" charset="-122"/>
                <a:cs typeface="Inter Light" pitchFamily="34" charset="-120"/>
              </a:rPr>
              <a:t>Устройство за индивидуално слушане на музика, реч или друг звуков сигнал.</a:t>
            </a:r>
            <a:endParaRPr lang="en-US" sz="1050" dirty="0"/>
          </a:p>
        </p:txBody>
      </p:sp>
      <p:pic>
        <p:nvPicPr>
          <p:cNvPr id="11" name="Image 2" descr="preencoded.png"/>
          <p:cNvPicPr>
            <a:picLocks noChangeAspect="1"/>
          </p:cNvPicPr>
          <p:nvPr/>
        </p:nvPicPr>
        <p:blipFill>
          <a:blip r:embed="rId5"/>
          <a:stretch>
            <a:fillRect/>
          </a:stretch>
        </p:blipFill>
        <p:spPr>
          <a:xfrm>
            <a:off x="6041454" y="1307009"/>
            <a:ext cx="1511722" cy="1511722"/>
          </a:xfrm>
          <a:prstGeom prst="rect">
            <a:avLst/>
          </a:prstGeom>
        </p:spPr>
      </p:pic>
      <p:sp>
        <p:nvSpPr>
          <p:cNvPr id="12" name="Text 7"/>
          <p:cNvSpPr/>
          <p:nvPr/>
        </p:nvSpPr>
        <p:spPr>
          <a:xfrm>
            <a:off x="6041454" y="2984971"/>
            <a:ext cx="2606427" cy="214536"/>
          </a:xfrm>
          <a:prstGeom prst="rect">
            <a:avLst/>
          </a:prstGeom>
          <a:noFill/>
          <a:ln/>
        </p:spPr>
        <p:txBody>
          <a:bodyPr wrap="none" lIns="0" tIns="0" rIns="0" bIns="0" rtlCol="0" anchor="t"/>
          <a:lstStyle/>
          <a:p>
            <a:pPr marL="0" indent="0" algn="l">
              <a:lnSpc>
                <a:spcPct val="104000"/>
              </a:lnSpc>
              <a:buNone/>
            </a:pPr>
            <a:r>
              <a:rPr lang="en-US" sz="1350" dirty="0">
                <a:solidFill>
                  <a:srgbClr val="3D3E44"/>
                </a:solidFill>
                <a:latin typeface="Montserrat Medium" pitchFamily="34" charset="0"/>
                <a:ea typeface="Montserrat Medium" pitchFamily="34" charset="-122"/>
                <a:cs typeface="Montserrat Medium" pitchFamily="34" charset="-120"/>
              </a:rPr>
              <a:t>Микрофон</a:t>
            </a:r>
            <a:endParaRPr lang="en-US" sz="1350" dirty="0"/>
          </a:p>
        </p:txBody>
      </p:sp>
      <p:sp>
        <p:nvSpPr>
          <p:cNvPr id="13" name="Text 8"/>
          <p:cNvSpPr/>
          <p:nvPr/>
        </p:nvSpPr>
        <p:spPr>
          <a:xfrm>
            <a:off x="6041454" y="3279279"/>
            <a:ext cx="2606427" cy="432643"/>
          </a:xfrm>
          <a:prstGeom prst="rect">
            <a:avLst/>
          </a:prstGeom>
          <a:noFill/>
          <a:ln/>
        </p:spPr>
        <p:txBody>
          <a:bodyPr wrap="square" lIns="0" tIns="0" rIns="0" bIns="0" rtlCol="0" anchor="t">
            <a:normAutofit/>
          </a:bodyPr>
          <a:lstStyle/>
          <a:p>
            <a:pPr marL="0" indent="0" algn="l">
              <a:lnSpc>
                <a:spcPct val="131000"/>
              </a:lnSpc>
              <a:buNone/>
            </a:pPr>
            <a:r>
              <a:rPr lang="en-US" sz="1050" dirty="0">
                <a:solidFill>
                  <a:srgbClr val="3D3E44"/>
                </a:solidFill>
                <a:latin typeface="Inter Light" pitchFamily="34" charset="0"/>
                <a:ea typeface="Inter Light" pitchFamily="34" charset="-122"/>
                <a:cs typeface="Inter Light" pitchFamily="34" charset="-120"/>
              </a:rPr>
              <a:t>Устройство за въвеждане на звукова информация в компютъра.</a:t>
            </a:r>
            <a:endParaRPr lang="en-US" sz="1050" dirty="0"/>
          </a:p>
        </p:txBody>
      </p:sp>
      <p:sp>
        <p:nvSpPr>
          <p:cNvPr id="14" name="Text 9"/>
          <p:cNvSpPr/>
          <p:nvPr/>
        </p:nvSpPr>
        <p:spPr>
          <a:xfrm>
            <a:off x="496119" y="4510534"/>
            <a:ext cx="8608963" cy="216322"/>
          </a:xfrm>
          <a:prstGeom prst="rect">
            <a:avLst/>
          </a:prstGeom>
          <a:noFill/>
          <a:ln/>
        </p:spPr>
        <p:txBody>
          <a:bodyPr wrap="none" lIns="0" tIns="0" rIns="0" bIns="0" rtlCol="0" anchor="t"/>
          <a:lstStyle/>
          <a:p>
            <a:pPr marL="0" indent="0" algn="l">
              <a:lnSpc>
                <a:spcPct val="131000"/>
              </a:lnSpc>
              <a:buNone/>
            </a:pPr>
            <a:r>
              <a:rPr lang="en-US" sz="1050" dirty="0">
                <a:solidFill>
                  <a:srgbClr val="3D3E44"/>
                </a:solidFill>
                <a:latin typeface="Inter Light" pitchFamily="34" charset="0"/>
                <a:ea typeface="Inter Light" pitchFamily="34" charset="-122"/>
                <a:cs typeface="Inter Light" pitchFamily="34" charset="-120"/>
              </a:rPr>
              <a:t>Тези устройства се включват към компютъра чрез специални изходи.</a:t>
            </a:r>
            <a:endParaRPr lang="en-US" sz="1050" dirty="0"/>
          </a:p>
        </p:txBody>
      </p:sp>
      <p:pic>
        <p:nvPicPr>
          <p:cNvPr id="15" name="Picture 14" descr="_em_logo.png"/>
          <p:cNvPicPr>
            <a:picLocks noChangeAspect="1"/>
          </p:cNvPicPr>
          <p:nvPr/>
        </p:nvPicPr>
        <p:blipFill>
          <a:blip r:embed="rId6"/>
          <a:stretch>
            <a:fillRect/>
          </a:stretch>
        </p:blipFill>
        <p:spPr>
          <a:xfrm>
            <a:off x="8092440" y="4229100"/>
            <a:ext cx="868680" cy="90529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96119" y="1216000"/>
            <a:ext cx="455637" cy="215354"/>
          </a:xfrm>
          <a:prstGeom prst="roundRect">
            <a:avLst>
              <a:gd name="adj" fmla="val 47398"/>
            </a:avLst>
          </a:prstGeom>
          <a:solidFill>
            <a:srgbClr val="DFE1EC"/>
          </a:solidFill>
          <a:ln/>
        </p:spPr>
      </p:sp>
      <p:sp>
        <p:nvSpPr>
          <p:cNvPr id="3" name="Text 1"/>
          <p:cNvSpPr/>
          <p:nvPr/>
        </p:nvSpPr>
        <p:spPr>
          <a:xfrm>
            <a:off x="581174" y="1258491"/>
            <a:ext cx="742727" cy="130373"/>
          </a:xfrm>
          <a:prstGeom prst="rect">
            <a:avLst/>
          </a:prstGeom>
          <a:noFill/>
          <a:ln/>
        </p:spPr>
        <p:txBody>
          <a:bodyPr wrap="none" lIns="0" tIns="0" rIns="0" bIns="0" rtlCol="0" anchor="t"/>
          <a:lstStyle/>
          <a:p>
            <a:pPr marL="0" indent="0" algn="l">
              <a:lnSpc>
                <a:spcPct val="96000"/>
              </a:lnSpc>
              <a:buNone/>
            </a:pPr>
            <a:r>
              <a:rPr lang="en-US" sz="850" dirty="0">
                <a:solidFill>
                  <a:srgbClr val="3D3E44"/>
                </a:solidFill>
                <a:latin typeface="Inter Light" pitchFamily="34" charset="0"/>
                <a:ea typeface="Inter Light" pitchFamily="34" charset="-122"/>
                <a:cs typeface="Inter Light" pitchFamily="34" charset="-120"/>
              </a:rPr>
              <a:t>ЗВУК</a:t>
            </a:r>
            <a:endParaRPr lang="en-US" sz="850" dirty="0"/>
          </a:p>
        </p:txBody>
      </p:sp>
      <p:sp>
        <p:nvSpPr>
          <p:cNvPr id="4" name="Text 2"/>
          <p:cNvSpPr/>
          <p:nvPr/>
        </p:nvSpPr>
        <p:spPr>
          <a:xfrm>
            <a:off x="496119" y="1488058"/>
            <a:ext cx="8151763" cy="442987"/>
          </a:xfrm>
          <a:prstGeom prst="rect">
            <a:avLst/>
          </a:prstGeom>
          <a:noFill/>
          <a:ln/>
        </p:spPr>
        <p:txBody>
          <a:bodyPr wrap="none" lIns="0" tIns="0" rIns="0" bIns="0" rtlCol="0" anchor="t"/>
          <a:lstStyle/>
          <a:p>
            <a:pPr marL="0" indent="0" algn="l">
              <a:lnSpc>
                <a:spcPct val="104000"/>
              </a:lnSpc>
              <a:buNone/>
            </a:pPr>
            <a:r>
              <a:rPr lang="en-US" sz="2750" dirty="0">
                <a:solidFill>
                  <a:srgbClr val="74767D"/>
                </a:solidFill>
                <a:latin typeface="Montserrat Medium" pitchFamily="34" charset="0"/>
                <a:ea typeface="Montserrat Medium" pitchFamily="34" charset="-122"/>
                <a:cs typeface="Montserrat Medium" pitchFamily="34" charset="-120"/>
              </a:rPr>
              <a:t>Звукови файлови формати</a:t>
            </a:r>
            <a:endParaRPr lang="en-US" sz="2750" dirty="0"/>
          </a:p>
        </p:txBody>
      </p:sp>
      <p:sp>
        <p:nvSpPr>
          <p:cNvPr id="5" name="Text 3"/>
          <p:cNvSpPr/>
          <p:nvPr/>
        </p:nvSpPr>
        <p:spPr>
          <a:xfrm>
            <a:off x="496119" y="2143646"/>
            <a:ext cx="8151763"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3D3E44"/>
                </a:solidFill>
                <a:latin typeface="Inter Light" pitchFamily="34" charset="0"/>
                <a:ea typeface="Inter Light" pitchFamily="34" charset="-122"/>
                <a:cs typeface="Inter Light" pitchFamily="34" charset="-120"/>
              </a:rPr>
              <a:t>Звуковата информация се съхранява в компютъра под формата на файлове. Подобно на файловете с графична информация, и при звуковите имаме файлове с различни разширения. Най-често използваните звукови формати са:</a:t>
            </a:r>
            <a:endParaRPr lang="en-US" sz="1100" dirty="0"/>
          </a:p>
        </p:txBody>
      </p:sp>
      <p:sp>
        <p:nvSpPr>
          <p:cNvPr id="6" name="Shape 4"/>
          <p:cNvSpPr/>
          <p:nvPr/>
        </p:nvSpPr>
        <p:spPr>
          <a:xfrm>
            <a:off x="496119" y="2756743"/>
            <a:ext cx="4004965" cy="514499"/>
          </a:xfrm>
          <a:prstGeom prst="roundRect">
            <a:avLst>
              <a:gd name="adj" fmla="val 24799"/>
            </a:avLst>
          </a:prstGeom>
          <a:solidFill>
            <a:srgbClr val="EFF0F6"/>
          </a:solidFill>
          <a:ln w="4763">
            <a:solidFill>
              <a:srgbClr val="C5C7D2"/>
            </a:solidFill>
            <a:prstDash val="solid"/>
          </a:ln>
        </p:spPr>
      </p:sp>
      <p:sp>
        <p:nvSpPr>
          <p:cNvPr id="7" name="Text 5"/>
          <p:cNvSpPr/>
          <p:nvPr/>
        </p:nvSpPr>
        <p:spPr>
          <a:xfrm>
            <a:off x="642640" y="2903265"/>
            <a:ext cx="3711922" cy="221456"/>
          </a:xfrm>
          <a:prstGeom prst="rect">
            <a:avLst/>
          </a:prstGeom>
          <a:noFill/>
          <a:ln/>
        </p:spPr>
        <p:txBody>
          <a:bodyPr wrap="none" lIns="0" tIns="0" rIns="0" bIns="0" rtlCol="0" anchor="t"/>
          <a:lstStyle/>
          <a:p>
            <a:pPr marL="0" indent="0" algn="l">
              <a:lnSpc>
                <a:spcPct val="104000"/>
              </a:lnSpc>
              <a:buNone/>
            </a:pPr>
            <a:r>
              <a:rPr lang="en-US" sz="1350" dirty="0">
                <a:solidFill>
                  <a:srgbClr val="3D3E44"/>
                </a:solidFill>
                <a:latin typeface="Montserrat Medium" pitchFamily="34" charset="0"/>
                <a:ea typeface="Montserrat Medium" pitchFamily="34" charset="-122"/>
                <a:cs typeface="Montserrat Medium" pitchFamily="34" charset="-120"/>
              </a:rPr>
              <a:t>MP3</a:t>
            </a:r>
            <a:endParaRPr lang="en-US" sz="1350" dirty="0"/>
          </a:p>
        </p:txBody>
      </p:sp>
      <p:sp>
        <p:nvSpPr>
          <p:cNvPr id="8" name="Shape 6"/>
          <p:cNvSpPr/>
          <p:nvPr/>
        </p:nvSpPr>
        <p:spPr>
          <a:xfrm>
            <a:off x="4642842" y="2756743"/>
            <a:ext cx="4005039" cy="514499"/>
          </a:xfrm>
          <a:prstGeom prst="roundRect">
            <a:avLst>
              <a:gd name="adj" fmla="val 24799"/>
            </a:avLst>
          </a:prstGeom>
          <a:solidFill>
            <a:srgbClr val="EFF0F6"/>
          </a:solidFill>
          <a:ln w="4763">
            <a:solidFill>
              <a:srgbClr val="C5C7D2"/>
            </a:solidFill>
            <a:prstDash val="solid"/>
          </a:ln>
        </p:spPr>
      </p:sp>
      <p:sp>
        <p:nvSpPr>
          <p:cNvPr id="9" name="Text 7"/>
          <p:cNvSpPr/>
          <p:nvPr/>
        </p:nvSpPr>
        <p:spPr>
          <a:xfrm>
            <a:off x="4789363" y="2903265"/>
            <a:ext cx="3711997" cy="221456"/>
          </a:xfrm>
          <a:prstGeom prst="rect">
            <a:avLst/>
          </a:prstGeom>
          <a:noFill/>
          <a:ln/>
        </p:spPr>
        <p:txBody>
          <a:bodyPr wrap="none" lIns="0" tIns="0" rIns="0" bIns="0" rtlCol="0" anchor="t"/>
          <a:lstStyle/>
          <a:p>
            <a:pPr marL="0" indent="0" algn="l">
              <a:lnSpc>
                <a:spcPct val="104000"/>
              </a:lnSpc>
              <a:buNone/>
            </a:pPr>
            <a:r>
              <a:rPr lang="en-US" sz="1350" dirty="0">
                <a:solidFill>
                  <a:srgbClr val="3D3E44"/>
                </a:solidFill>
                <a:latin typeface="Montserrat Medium" pitchFamily="34" charset="0"/>
                <a:ea typeface="Montserrat Medium" pitchFamily="34" charset="-122"/>
                <a:cs typeface="Montserrat Medium" pitchFamily="34" charset="-120"/>
              </a:rPr>
              <a:t>WMA</a:t>
            </a:r>
            <a:endParaRPr lang="en-US" sz="1350" dirty="0"/>
          </a:p>
        </p:txBody>
      </p:sp>
      <p:sp>
        <p:nvSpPr>
          <p:cNvPr id="10" name="Shape 8"/>
          <p:cNvSpPr/>
          <p:nvPr/>
        </p:nvSpPr>
        <p:spPr>
          <a:xfrm>
            <a:off x="496119" y="3413001"/>
            <a:ext cx="4004965" cy="514499"/>
          </a:xfrm>
          <a:prstGeom prst="roundRect">
            <a:avLst>
              <a:gd name="adj" fmla="val 24799"/>
            </a:avLst>
          </a:prstGeom>
          <a:solidFill>
            <a:srgbClr val="EFF0F6"/>
          </a:solidFill>
          <a:ln w="4763">
            <a:solidFill>
              <a:srgbClr val="C5C7D2"/>
            </a:solidFill>
            <a:prstDash val="solid"/>
          </a:ln>
        </p:spPr>
      </p:sp>
      <p:sp>
        <p:nvSpPr>
          <p:cNvPr id="11" name="Text 9"/>
          <p:cNvSpPr/>
          <p:nvPr/>
        </p:nvSpPr>
        <p:spPr>
          <a:xfrm>
            <a:off x="642640" y="3559522"/>
            <a:ext cx="3711922" cy="221456"/>
          </a:xfrm>
          <a:prstGeom prst="rect">
            <a:avLst/>
          </a:prstGeom>
          <a:noFill/>
          <a:ln/>
        </p:spPr>
        <p:txBody>
          <a:bodyPr wrap="none" lIns="0" tIns="0" rIns="0" bIns="0" rtlCol="0" anchor="t"/>
          <a:lstStyle/>
          <a:p>
            <a:pPr marL="0" indent="0" algn="l">
              <a:lnSpc>
                <a:spcPct val="104000"/>
              </a:lnSpc>
              <a:buNone/>
            </a:pPr>
            <a:r>
              <a:rPr lang="en-US" sz="1350" dirty="0">
                <a:solidFill>
                  <a:srgbClr val="3D3E44"/>
                </a:solidFill>
                <a:latin typeface="Montserrat Medium" pitchFamily="34" charset="0"/>
                <a:ea typeface="Montserrat Medium" pitchFamily="34" charset="-122"/>
                <a:cs typeface="Montserrat Medium" pitchFamily="34" charset="-120"/>
              </a:rPr>
              <a:t>WAV</a:t>
            </a:r>
            <a:endParaRPr lang="en-US" sz="1350" dirty="0"/>
          </a:p>
        </p:txBody>
      </p:sp>
      <p:sp>
        <p:nvSpPr>
          <p:cNvPr id="12" name="Shape 10"/>
          <p:cNvSpPr/>
          <p:nvPr/>
        </p:nvSpPr>
        <p:spPr>
          <a:xfrm>
            <a:off x="4642842" y="3413001"/>
            <a:ext cx="4005039" cy="514499"/>
          </a:xfrm>
          <a:prstGeom prst="roundRect">
            <a:avLst>
              <a:gd name="adj" fmla="val 24799"/>
            </a:avLst>
          </a:prstGeom>
          <a:solidFill>
            <a:srgbClr val="EFF0F6"/>
          </a:solidFill>
          <a:ln w="4763">
            <a:solidFill>
              <a:srgbClr val="C5C7D2"/>
            </a:solidFill>
            <a:prstDash val="solid"/>
          </a:ln>
        </p:spPr>
      </p:sp>
      <p:sp>
        <p:nvSpPr>
          <p:cNvPr id="13" name="Text 11"/>
          <p:cNvSpPr/>
          <p:nvPr/>
        </p:nvSpPr>
        <p:spPr>
          <a:xfrm>
            <a:off x="4789363" y="3559522"/>
            <a:ext cx="3711997" cy="221456"/>
          </a:xfrm>
          <a:prstGeom prst="rect">
            <a:avLst/>
          </a:prstGeom>
          <a:noFill/>
          <a:ln/>
        </p:spPr>
        <p:txBody>
          <a:bodyPr wrap="none" lIns="0" tIns="0" rIns="0" bIns="0" rtlCol="0" anchor="t"/>
          <a:lstStyle/>
          <a:p>
            <a:pPr marL="0" indent="0" algn="l">
              <a:lnSpc>
                <a:spcPct val="104000"/>
              </a:lnSpc>
              <a:buNone/>
            </a:pPr>
            <a:r>
              <a:rPr lang="en-US" sz="1350" dirty="0">
                <a:solidFill>
                  <a:srgbClr val="3D3E44"/>
                </a:solidFill>
                <a:latin typeface="Montserrat Medium" pitchFamily="34" charset="0"/>
                <a:ea typeface="Montserrat Medium" pitchFamily="34" charset="-122"/>
                <a:cs typeface="Montserrat Medium" pitchFamily="34" charset="-120"/>
              </a:rPr>
              <a:t>FLAC</a:t>
            </a:r>
            <a:endParaRPr lang="en-US" sz="1350" dirty="0"/>
          </a:p>
        </p:txBody>
      </p:sp>
      <p:pic>
        <p:nvPicPr>
          <p:cNvPr id="14" name="Picture 13" descr="_em_logo.png"/>
          <p:cNvPicPr>
            <a:picLocks noChangeAspect="1"/>
          </p:cNvPicPr>
          <p:nvPr/>
        </p:nvPicPr>
        <p:blipFill>
          <a:blip r:embed="rId3"/>
          <a:stretch>
            <a:fillRect/>
          </a:stretch>
        </p:blipFill>
        <p:spPr>
          <a:xfrm>
            <a:off x="8092440" y="4229100"/>
            <a:ext cx="868680" cy="90529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96119" y="634305"/>
            <a:ext cx="575742" cy="215354"/>
          </a:xfrm>
          <a:prstGeom prst="roundRect">
            <a:avLst>
              <a:gd name="adj" fmla="val 47398"/>
            </a:avLst>
          </a:prstGeom>
          <a:solidFill>
            <a:srgbClr val="DFE1EC"/>
          </a:solidFill>
          <a:ln/>
        </p:spPr>
      </p:sp>
      <p:sp>
        <p:nvSpPr>
          <p:cNvPr id="3" name="Text 1"/>
          <p:cNvSpPr/>
          <p:nvPr/>
        </p:nvSpPr>
        <p:spPr>
          <a:xfrm>
            <a:off x="581174" y="676796"/>
            <a:ext cx="862831" cy="130373"/>
          </a:xfrm>
          <a:prstGeom prst="rect">
            <a:avLst/>
          </a:prstGeom>
          <a:noFill/>
          <a:ln/>
        </p:spPr>
        <p:txBody>
          <a:bodyPr wrap="none" lIns="0" tIns="0" rIns="0" bIns="0" rtlCol="0" anchor="t"/>
          <a:lstStyle/>
          <a:p>
            <a:pPr marL="0" indent="0" algn="l">
              <a:lnSpc>
                <a:spcPct val="96000"/>
              </a:lnSpc>
              <a:buNone/>
            </a:pPr>
            <a:r>
              <a:rPr lang="en-US" sz="850" dirty="0">
                <a:solidFill>
                  <a:srgbClr val="3D3E44"/>
                </a:solidFill>
                <a:latin typeface="Inter Light" pitchFamily="34" charset="0"/>
                <a:ea typeface="Inter Light" pitchFamily="34" charset="-122"/>
                <a:cs typeface="Inter Light" pitchFamily="34" charset="-120"/>
              </a:rPr>
              <a:t>ВИДЕО</a:t>
            </a:r>
            <a:endParaRPr lang="en-US" sz="850" dirty="0"/>
          </a:p>
        </p:txBody>
      </p:sp>
      <p:sp>
        <p:nvSpPr>
          <p:cNvPr id="4" name="Text 2"/>
          <p:cNvSpPr/>
          <p:nvPr/>
        </p:nvSpPr>
        <p:spPr>
          <a:xfrm>
            <a:off x="496119" y="906363"/>
            <a:ext cx="8151763" cy="442987"/>
          </a:xfrm>
          <a:prstGeom prst="rect">
            <a:avLst/>
          </a:prstGeom>
          <a:noFill/>
          <a:ln/>
        </p:spPr>
        <p:txBody>
          <a:bodyPr wrap="none" lIns="0" tIns="0" rIns="0" bIns="0" rtlCol="0" anchor="t"/>
          <a:lstStyle/>
          <a:p>
            <a:pPr marL="0" indent="0" algn="l">
              <a:lnSpc>
                <a:spcPct val="104000"/>
              </a:lnSpc>
              <a:buNone/>
            </a:pPr>
            <a:r>
              <a:rPr lang="en-US" sz="2750" dirty="0">
                <a:solidFill>
                  <a:srgbClr val="74767D"/>
                </a:solidFill>
                <a:latin typeface="Montserrat Medium" pitchFamily="34" charset="0"/>
                <a:ea typeface="Montserrat Medium" pitchFamily="34" charset="-122"/>
                <a:cs typeface="Montserrat Medium" pitchFamily="34" charset="-120"/>
              </a:rPr>
              <a:t>Видеокарта</a:t>
            </a:r>
            <a:endParaRPr lang="en-US" sz="2750" dirty="0"/>
          </a:p>
        </p:txBody>
      </p:sp>
      <p:pic>
        <p:nvPicPr>
          <p:cNvPr id="5" name="Image 0" descr="preencoded.png"/>
          <p:cNvPicPr>
            <a:picLocks noChangeAspect="1"/>
          </p:cNvPicPr>
          <p:nvPr/>
        </p:nvPicPr>
        <p:blipFill>
          <a:blip r:embed="rId3"/>
          <a:stretch>
            <a:fillRect/>
          </a:stretch>
        </p:blipFill>
        <p:spPr>
          <a:xfrm>
            <a:off x="496119" y="1721421"/>
            <a:ext cx="2628230" cy="2628230"/>
          </a:xfrm>
          <a:prstGeom prst="rect">
            <a:avLst/>
          </a:prstGeom>
        </p:spPr>
      </p:pic>
      <p:sp>
        <p:nvSpPr>
          <p:cNvPr id="6" name="Text 3"/>
          <p:cNvSpPr/>
          <p:nvPr/>
        </p:nvSpPr>
        <p:spPr>
          <a:xfrm>
            <a:off x="3474988" y="1869579"/>
            <a:ext cx="5177582" cy="1360884"/>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3D3E44"/>
                </a:solidFill>
                <a:latin typeface="Inter Light" pitchFamily="34" charset="0"/>
                <a:ea typeface="Inter Light" pitchFamily="34" charset="-122"/>
                <a:cs typeface="Inter Light" pitchFamily="34" charset="-120"/>
              </a:rPr>
              <a:t>За получаването и възпроизвеждането на видеообраз на екрана компютърът се нуждае от помощта на </a:t>
            </a:r>
            <a:r>
              <a:rPr lang="en-US" sz="1100" b="1" dirty="0">
                <a:solidFill>
                  <a:srgbClr val="3D3E44"/>
                </a:solidFill>
                <a:latin typeface="Inter Bold" pitchFamily="34" charset="0"/>
                <a:ea typeface="Inter Bold" pitchFamily="34" charset="-122"/>
                <a:cs typeface="Inter Bold" pitchFamily="34" charset="-120"/>
              </a:rPr>
              <a:t>видеокарта</a:t>
            </a:r>
            <a:r>
              <a:rPr lang="en-US" sz="1100" dirty="0">
                <a:solidFill>
                  <a:srgbClr val="3D3E44"/>
                </a:solidFill>
                <a:latin typeface="Inter Light" pitchFamily="34" charset="0"/>
                <a:ea typeface="Inter Light" pitchFamily="34" charset="-122"/>
                <a:cs typeface="Inter Light" pitchFamily="34" charset="-120"/>
              </a:rPr>
              <a:t>. Тя е хардуерно устройство, чрез което компютърът преобразува данните за графичен образ и ги подава към монитора. От видеокартата зависи </a:t>
            </a:r>
            <a:r>
              <a:rPr lang="en-US" sz="1100" b="1" dirty="0">
                <a:solidFill>
                  <a:srgbClr val="3D3E44"/>
                </a:solidFill>
                <a:latin typeface="Inter Bold" pitchFamily="34" charset="0"/>
                <a:ea typeface="Inter Bold" pitchFamily="34" charset="-122"/>
                <a:cs typeface="Inter Bold" pitchFamily="34" charset="-120"/>
              </a:rPr>
              <a:t>качеството на изображението</a:t>
            </a:r>
            <a:r>
              <a:rPr lang="en-US" sz="1100" dirty="0">
                <a:solidFill>
                  <a:srgbClr val="3D3E44"/>
                </a:solidFill>
                <a:latin typeface="Inter Light" pitchFamily="34" charset="0"/>
                <a:ea typeface="Inter Light" pitchFamily="34" charset="-122"/>
                <a:cs typeface="Inter Light" pitchFamily="34" charset="-120"/>
              </a:rPr>
              <a:t>, което излиза на монитора. Тя може да бъде вградена в дънната платка или да се монтира като отделно устройство.</a:t>
            </a:r>
            <a:endParaRPr lang="en-US" sz="1100" dirty="0"/>
          </a:p>
        </p:txBody>
      </p:sp>
      <p:sp>
        <p:nvSpPr>
          <p:cNvPr id="7" name="Shape 4"/>
          <p:cNvSpPr/>
          <p:nvPr/>
        </p:nvSpPr>
        <p:spPr>
          <a:xfrm>
            <a:off x="3474988" y="3389933"/>
            <a:ext cx="5177582" cy="779562"/>
          </a:xfrm>
          <a:prstGeom prst="roundRect">
            <a:avLst>
              <a:gd name="adj" fmla="val 16367"/>
            </a:avLst>
          </a:prstGeom>
          <a:solidFill>
            <a:srgbClr val="DFE1EC"/>
          </a:solidFill>
          <a:ln/>
        </p:spPr>
      </p:sp>
      <p:pic>
        <p:nvPicPr>
          <p:cNvPr id="8" name="Image 1" descr="preencoded.png"/>
          <p:cNvPicPr>
            <a:picLocks noChangeAspect="1"/>
          </p:cNvPicPr>
          <p:nvPr/>
        </p:nvPicPr>
        <p:blipFill>
          <a:blip r:embed="rId4"/>
          <a:stretch>
            <a:fillRect/>
          </a:stretch>
        </p:blipFill>
        <p:spPr>
          <a:xfrm>
            <a:off x="3616747" y="3604989"/>
            <a:ext cx="177180" cy="141759"/>
          </a:xfrm>
          <a:prstGeom prst="rect">
            <a:avLst/>
          </a:prstGeom>
        </p:spPr>
      </p:pic>
      <p:sp>
        <p:nvSpPr>
          <p:cNvPr id="9" name="Text 5"/>
          <p:cNvSpPr/>
          <p:nvPr/>
        </p:nvSpPr>
        <p:spPr>
          <a:xfrm>
            <a:off x="3935685" y="3552899"/>
            <a:ext cx="4575125"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000000"/>
                </a:solidFill>
                <a:latin typeface="Inter Light" pitchFamily="34" charset="0"/>
                <a:ea typeface="Inter Light" pitchFamily="34" charset="-122"/>
                <a:cs typeface="Inter Light" pitchFamily="34" charset="-120"/>
              </a:rPr>
              <a:t>Видеоинформацията, подобно на звуковата, се съхранява в компютъра под формата на файлове.</a:t>
            </a:r>
            <a:endParaRPr lang="en-US" sz="1100" dirty="0"/>
          </a:p>
        </p:txBody>
      </p:sp>
      <p:pic>
        <p:nvPicPr>
          <p:cNvPr id="10" name="Picture 9" descr="_em_logo.png"/>
          <p:cNvPicPr>
            <a:picLocks noChangeAspect="1"/>
          </p:cNvPicPr>
          <p:nvPr/>
        </p:nvPicPr>
        <p:blipFill>
          <a:blip r:embed="rId5"/>
          <a:stretch>
            <a:fillRect/>
          </a:stretch>
        </p:blipFill>
        <p:spPr>
          <a:xfrm>
            <a:off x="8092440" y="4229100"/>
            <a:ext cx="868680" cy="90529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96119" y="1544092"/>
            <a:ext cx="575742" cy="215354"/>
          </a:xfrm>
          <a:prstGeom prst="roundRect">
            <a:avLst>
              <a:gd name="adj" fmla="val 47398"/>
            </a:avLst>
          </a:prstGeom>
          <a:solidFill>
            <a:srgbClr val="DFE1EC"/>
          </a:solidFill>
          <a:ln/>
        </p:spPr>
      </p:sp>
      <p:sp>
        <p:nvSpPr>
          <p:cNvPr id="3" name="Text 1"/>
          <p:cNvSpPr/>
          <p:nvPr/>
        </p:nvSpPr>
        <p:spPr>
          <a:xfrm>
            <a:off x="581174" y="1586582"/>
            <a:ext cx="862831" cy="130373"/>
          </a:xfrm>
          <a:prstGeom prst="rect">
            <a:avLst/>
          </a:prstGeom>
          <a:noFill/>
          <a:ln/>
        </p:spPr>
        <p:txBody>
          <a:bodyPr wrap="none" lIns="0" tIns="0" rIns="0" bIns="0" rtlCol="0" anchor="t"/>
          <a:lstStyle/>
          <a:p>
            <a:pPr marL="0" indent="0" algn="l">
              <a:lnSpc>
                <a:spcPct val="96000"/>
              </a:lnSpc>
              <a:buNone/>
            </a:pPr>
            <a:r>
              <a:rPr lang="en-US" sz="850" dirty="0">
                <a:solidFill>
                  <a:srgbClr val="3D3E44"/>
                </a:solidFill>
                <a:latin typeface="Inter Light" pitchFamily="34" charset="0"/>
                <a:ea typeface="Inter Light" pitchFamily="34" charset="-122"/>
                <a:cs typeface="Inter Light" pitchFamily="34" charset="-120"/>
              </a:rPr>
              <a:t>ВИДЕО</a:t>
            </a:r>
            <a:endParaRPr lang="en-US" sz="850" dirty="0"/>
          </a:p>
        </p:txBody>
      </p:sp>
      <p:sp>
        <p:nvSpPr>
          <p:cNvPr id="4" name="Text 2"/>
          <p:cNvSpPr/>
          <p:nvPr/>
        </p:nvSpPr>
        <p:spPr>
          <a:xfrm>
            <a:off x="496119" y="1816150"/>
            <a:ext cx="8151763" cy="442987"/>
          </a:xfrm>
          <a:prstGeom prst="rect">
            <a:avLst/>
          </a:prstGeom>
          <a:noFill/>
          <a:ln/>
        </p:spPr>
        <p:txBody>
          <a:bodyPr wrap="none" lIns="0" tIns="0" rIns="0" bIns="0" rtlCol="0" anchor="t"/>
          <a:lstStyle/>
          <a:p>
            <a:pPr marL="0" indent="0" algn="l">
              <a:lnSpc>
                <a:spcPct val="104000"/>
              </a:lnSpc>
              <a:buNone/>
            </a:pPr>
            <a:r>
              <a:rPr lang="en-US" sz="2750" dirty="0">
                <a:solidFill>
                  <a:srgbClr val="74767D"/>
                </a:solidFill>
                <a:latin typeface="Montserrat Medium" pitchFamily="34" charset="0"/>
                <a:ea typeface="Montserrat Medium" pitchFamily="34" charset="-122"/>
                <a:cs typeface="Montserrat Medium" pitchFamily="34" charset="-120"/>
              </a:rPr>
              <a:t>Видео файлови формати</a:t>
            </a:r>
            <a:endParaRPr lang="en-US" sz="2750" dirty="0"/>
          </a:p>
        </p:txBody>
      </p:sp>
      <p:sp>
        <p:nvSpPr>
          <p:cNvPr id="5" name="Text 3"/>
          <p:cNvSpPr/>
          <p:nvPr/>
        </p:nvSpPr>
        <p:spPr>
          <a:xfrm>
            <a:off x="496119" y="2471738"/>
            <a:ext cx="8151763"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3D3E44"/>
                </a:solidFill>
                <a:latin typeface="Inter Light" pitchFamily="34" charset="0"/>
                <a:ea typeface="Inter Light" pitchFamily="34" charset="-122"/>
                <a:cs typeface="Inter Light" pitchFamily="34" charset="-120"/>
              </a:rPr>
              <a:t>Видеоинформацията се съхранява в компютъра под формата на файлове. Най-често използваните видеоформати са с разширения:</a:t>
            </a:r>
            <a:endParaRPr lang="en-US" sz="1100" dirty="0"/>
          </a:p>
        </p:txBody>
      </p:sp>
      <p:sp>
        <p:nvSpPr>
          <p:cNvPr id="6" name="Shape 4"/>
          <p:cNvSpPr/>
          <p:nvPr/>
        </p:nvSpPr>
        <p:spPr>
          <a:xfrm>
            <a:off x="496119" y="3084835"/>
            <a:ext cx="2622724" cy="514499"/>
          </a:xfrm>
          <a:prstGeom prst="roundRect">
            <a:avLst>
              <a:gd name="adj" fmla="val 24799"/>
            </a:avLst>
          </a:prstGeom>
          <a:solidFill>
            <a:srgbClr val="EFF0F6"/>
          </a:solidFill>
          <a:ln w="4763">
            <a:solidFill>
              <a:srgbClr val="C5C7D2"/>
            </a:solidFill>
            <a:prstDash val="solid"/>
          </a:ln>
        </p:spPr>
      </p:sp>
      <p:sp>
        <p:nvSpPr>
          <p:cNvPr id="7" name="Text 5"/>
          <p:cNvSpPr/>
          <p:nvPr/>
        </p:nvSpPr>
        <p:spPr>
          <a:xfrm>
            <a:off x="642640" y="3231356"/>
            <a:ext cx="2329681" cy="221456"/>
          </a:xfrm>
          <a:prstGeom prst="rect">
            <a:avLst/>
          </a:prstGeom>
          <a:noFill/>
          <a:ln/>
        </p:spPr>
        <p:txBody>
          <a:bodyPr wrap="none" lIns="0" tIns="0" rIns="0" bIns="0" rtlCol="0" anchor="t"/>
          <a:lstStyle/>
          <a:p>
            <a:pPr marL="0" indent="0" algn="l">
              <a:lnSpc>
                <a:spcPct val="104000"/>
              </a:lnSpc>
              <a:buNone/>
            </a:pPr>
            <a:r>
              <a:rPr lang="en-US" sz="1350" dirty="0">
                <a:solidFill>
                  <a:srgbClr val="3D3E44"/>
                </a:solidFill>
                <a:latin typeface="Montserrat Medium" pitchFamily="34" charset="0"/>
                <a:ea typeface="Montserrat Medium" pitchFamily="34" charset="-122"/>
                <a:cs typeface="Montserrat Medium" pitchFamily="34" charset="-120"/>
              </a:rPr>
              <a:t>AVI</a:t>
            </a:r>
            <a:endParaRPr lang="en-US" sz="1350" dirty="0"/>
          </a:p>
        </p:txBody>
      </p:sp>
      <p:sp>
        <p:nvSpPr>
          <p:cNvPr id="8" name="Shape 6"/>
          <p:cNvSpPr/>
          <p:nvPr/>
        </p:nvSpPr>
        <p:spPr>
          <a:xfrm>
            <a:off x="3260601" y="3084835"/>
            <a:ext cx="2622724" cy="514499"/>
          </a:xfrm>
          <a:prstGeom prst="roundRect">
            <a:avLst>
              <a:gd name="adj" fmla="val 24799"/>
            </a:avLst>
          </a:prstGeom>
          <a:solidFill>
            <a:srgbClr val="EFF0F6"/>
          </a:solidFill>
          <a:ln w="4763">
            <a:solidFill>
              <a:srgbClr val="C5C7D2"/>
            </a:solidFill>
            <a:prstDash val="solid"/>
          </a:ln>
        </p:spPr>
      </p:sp>
      <p:sp>
        <p:nvSpPr>
          <p:cNvPr id="9" name="Text 7"/>
          <p:cNvSpPr/>
          <p:nvPr/>
        </p:nvSpPr>
        <p:spPr>
          <a:xfrm>
            <a:off x="3407122" y="3231356"/>
            <a:ext cx="2329681" cy="221456"/>
          </a:xfrm>
          <a:prstGeom prst="rect">
            <a:avLst/>
          </a:prstGeom>
          <a:noFill/>
          <a:ln/>
        </p:spPr>
        <p:txBody>
          <a:bodyPr wrap="none" lIns="0" tIns="0" rIns="0" bIns="0" rtlCol="0" anchor="t"/>
          <a:lstStyle/>
          <a:p>
            <a:pPr marL="0" indent="0" algn="l">
              <a:lnSpc>
                <a:spcPct val="104000"/>
              </a:lnSpc>
              <a:buNone/>
            </a:pPr>
            <a:r>
              <a:rPr lang="en-US" sz="1350" dirty="0">
                <a:solidFill>
                  <a:srgbClr val="3D3E44"/>
                </a:solidFill>
                <a:latin typeface="Montserrat Medium" pitchFamily="34" charset="0"/>
                <a:ea typeface="Montserrat Medium" pitchFamily="34" charset="-122"/>
                <a:cs typeface="Montserrat Medium" pitchFamily="34" charset="-120"/>
              </a:rPr>
              <a:t>WMV</a:t>
            </a:r>
            <a:endParaRPr lang="en-US" sz="1350" dirty="0"/>
          </a:p>
        </p:txBody>
      </p:sp>
      <p:sp>
        <p:nvSpPr>
          <p:cNvPr id="10" name="Shape 8"/>
          <p:cNvSpPr/>
          <p:nvPr/>
        </p:nvSpPr>
        <p:spPr>
          <a:xfrm>
            <a:off x="6025083" y="3084835"/>
            <a:ext cx="2622724" cy="514499"/>
          </a:xfrm>
          <a:prstGeom prst="roundRect">
            <a:avLst>
              <a:gd name="adj" fmla="val 24799"/>
            </a:avLst>
          </a:prstGeom>
          <a:solidFill>
            <a:srgbClr val="EFF0F6"/>
          </a:solidFill>
          <a:ln w="4763">
            <a:solidFill>
              <a:srgbClr val="C5C7D2"/>
            </a:solidFill>
            <a:prstDash val="solid"/>
          </a:ln>
        </p:spPr>
      </p:sp>
      <p:sp>
        <p:nvSpPr>
          <p:cNvPr id="11" name="Text 9"/>
          <p:cNvSpPr/>
          <p:nvPr/>
        </p:nvSpPr>
        <p:spPr>
          <a:xfrm>
            <a:off x="6171605" y="3231356"/>
            <a:ext cx="2329681" cy="221456"/>
          </a:xfrm>
          <a:prstGeom prst="rect">
            <a:avLst/>
          </a:prstGeom>
          <a:noFill/>
          <a:ln/>
        </p:spPr>
        <p:txBody>
          <a:bodyPr wrap="none" lIns="0" tIns="0" rIns="0" bIns="0" rtlCol="0" anchor="t"/>
          <a:lstStyle/>
          <a:p>
            <a:pPr marL="0" indent="0" algn="l">
              <a:lnSpc>
                <a:spcPct val="104000"/>
              </a:lnSpc>
              <a:buNone/>
            </a:pPr>
            <a:r>
              <a:rPr lang="en-US" sz="1350" dirty="0">
                <a:solidFill>
                  <a:srgbClr val="3D3E44"/>
                </a:solidFill>
                <a:latin typeface="Montserrat Medium" pitchFamily="34" charset="0"/>
                <a:ea typeface="Montserrat Medium" pitchFamily="34" charset="-122"/>
                <a:cs typeface="Montserrat Medium" pitchFamily="34" charset="-120"/>
              </a:rPr>
              <a:t>MP4</a:t>
            </a:r>
            <a:endParaRPr lang="en-US" sz="1350" dirty="0"/>
          </a:p>
        </p:txBody>
      </p:sp>
      <p:pic>
        <p:nvPicPr>
          <p:cNvPr id="12" name="Picture 11" descr="_em_logo.png"/>
          <p:cNvPicPr>
            <a:picLocks noChangeAspect="1"/>
          </p:cNvPicPr>
          <p:nvPr/>
        </p:nvPicPr>
        <p:blipFill>
          <a:blip r:embed="rId3"/>
          <a:stretch>
            <a:fillRect/>
          </a:stretch>
        </p:blipFill>
        <p:spPr>
          <a:xfrm>
            <a:off x="8092440" y="4229100"/>
            <a:ext cx="868680" cy="905291"/>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Shape 0"/>
          <p:cNvSpPr/>
          <p:nvPr/>
        </p:nvSpPr>
        <p:spPr>
          <a:xfrm>
            <a:off x="3925119" y="473050"/>
            <a:ext cx="791542" cy="212006"/>
          </a:xfrm>
          <a:prstGeom prst="roundRect">
            <a:avLst>
              <a:gd name="adj" fmla="val 47394"/>
            </a:avLst>
          </a:prstGeom>
          <a:solidFill>
            <a:srgbClr val="DFE1EC"/>
          </a:solidFill>
          <a:ln/>
        </p:spPr>
      </p:sp>
      <p:sp>
        <p:nvSpPr>
          <p:cNvPr id="4" name="Text 1"/>
          <p:cNvSpPr/>
          <p:nvPr/>
        </p:nvSpPr>
        <p:spPr>
          <a:xfrm>
            <a:off x="4008834" y="514871"/>
            <a:ext cx="1081311" cy="128364"/>
          </a:xfrm>
          <a:prstGeom prst="rect">
            <a:avLst/>
          </a:prstGeom>
          <a:noFill/>
          <a:ln/>
        </p:spPr>
        <p:txBody>
          <a:bodyPr wrap="none" lIns="0" tIns="0" rIns="0" bIns="0" rtlCol="0" anchor="t"/>
          <a:lstStyle/>
          <a:p>
            <a:pPr marL="0" indent="0" algn="l">
              <a:lnSpc>
                <a:spcPct val="96000"/>
              </a:lnSpc>
              <a:buNone/>
            </a:pPr>
            <a:r>
              <a:rPr lang="en-US" sz="850" dirty="0">
                <a:solidFill>
                  <a:srgbClr val="3D3E44"/>
                </a:solidFill>
                <a:latin typeface="Inter Light" pitchFamily="34" charset="0"/>
                <a:ea typeface="Inter Light" pitchFamily="34" charset="-122"/>
                <a:cs typeface="Inter Light" pitchFamily="34" charset="-120"/>
              </a:rPr>
              <a:t>ПРОГРАМИ</a:t>
            </a:r>
            <a:endParaRPr lang="en-US" sz="850" dirty="0"/>
          </a:p>
        </p:txBody>
      </p:sp>
      <p:sp>
        <p:nvSpPr>
          <p:cNvPr id="5" name="Text 2"/>
          <p:cNvSpPr/>
          <p:nvPr/>
        </p:nvSpPr>
        <p:spPr>
          <a:xfrm>
            <a:off x="3925119" y="739973"/>
            <a:ext cx="4722763" cy="872133"/>
          </a:xfrm>
          <a:prstGeom prst="rect">
            <a:avLst/>
          </a:prstGeom>
          <a:noFill/>
          <a:ln/>
        </p:spPr>
        <p:txBody>
          <a:bodyPr wrap="square" lIns="0" tIns="0" rIns="0" bIns="0" rtlCol="0" anchor="t">
            <a:normAutofit/>
          </a:bodyPr>
          <a:lstStyle/>
          <a:p>
            <a:pPr marL="0" indent="0" algn="l">
              <a:lnSpc>
                <a:spcPct val="104000"/>
              </a:lnSpc>
              <a:buNone/>
            </a:pPr>
            <a:r>
              <a:rPr lang="en-US" sz="2700" dirty="0">
                <a:solidFill>
                  <a:srgbClr val="74767D"/>
                </a:solidFill>
                <a:latin typeface="Montserrat Medium" pitchFamily="34" charset="0"/>
                <a:ea typeface="Montserrat Medium" pitchFamily="34" charset="-122"/>
                <a:cs typeface="Montserrat Medium" pitchFamily="34" charset="-120"/>
              </a:rPr>
              <a:t>Програми за възпроизвеждане</a:t>
            </a:r>
            <a:endParaRPr lang="en-US" sz="2700" dirty="0"/>
          </a:p>
        </p:txBody>
      </p:sp>
      <p:sp>
        <p:nvSpPr>
          <p:cNvPr id="6" name="Text 3"/>
          <p:cNvSpPr/>
          <p:nvPr/>
        </p:nvSpPr>
        <p:spPr>
          <a:xfrm>
            <a:off x="3925119" y="1818159"/>
            <a:ext cx="4722763" cy="442913"/>
          </a:xfrm>
          <a:prstGeom prst="rect">
            <a:avLst/>
          </a:prstGeom>
          <a:noFill/>
          <a:ln/>
        </p:spPr>
        <p:txBody>
          <a:bodyPr wrap="square" lIns="0" tIns="0" rIns="0" bIns="0" rtlCol="0" anchor="t">
            <a:normAutofit/>
          </a:bodyPr>
          <a:lstStyle/>
          <a:p>
            <a:pPr marL="0" indent="0" algn="l">
              <a:lnSpc>
                <a:spcPct val="132000"/>
              </a:lnSpc>
              <a:buNone/>
            </a:pPr>
            <a:r>
              <a:rPr lang="en-US" sz="1050" dirty="0">
                <a:solidFill>
                  <a:srgbClr val="3D3E44"/>
                </a:solidFill>
                <a:latin typeface="Inter Light" pitchFamily="34" charset="0"/>
                <a:ea typeface="Inter Light" pitchFamily="34" charset="-122"/>
                <a:cs typeface="Inter Light" pitchFamily="34" charset="-120"/>
              </a:rPr>
              <a:t>Има много компютърни програми за възпроизвеждане на звукова и видеоинформация. В системата </a:t>
            </a:r>
            <a:r>
              <a:rPr lang="en-US" sz="1050" b="1" dirty="0">
                <a:solidFill>
                  <a:srgbClr val="3D3E44"/>
                </a:solidFill>
                <a:latin typeface="Inter Bold" pitchFamily="34" charset="0"/>
                <a:ea typeface="Inter Bold" pitchFamily="34" charset="-122"/>
                <a:cs typeface="Inter Bold" pitchFamily="34" charset="-120"/>
              </a:rPr>
              <a:t>Windows</a:t>
            </a:r>
            <a:r>
              <a:rPr lang="en-US" sz="1050" dirty="0">
                <a:solidFill>
                  <a:srgbClr val="3D3E44"/>
                </a:solidFill>
                <a:latin typeface="Inter Light" pitchFamily="34" charset="0"/>
                <a:ea typeface="Inter Light" pitchFamily="34" charset="-122"/>
                <a:cs typeface="Inter Light" pitchFamily="34" charset="-120"/>
              </a:rPr>
              <a:t> има вградени програми:</a:t>
            </a:r>
            <a:endParaRPr lang="en-US" sz="1050" dirty="0"/>
          </a:p>
        </p:txBody>
      </p:sp>
      <p:sp>
        <p:nvSpPr>
          <p:cNvPr id="7" name="Shape 4"/>
          <p:cNvSpPr/>
          <p:nvPr/>
        </p:nvSpPr>
        <p:spPr>
          <a:xfrm>
            <a:off x="3925119" y="2415555"/>
            <a:ext cx="2292697" cy="1278508"/>
          </a:xfrm>
          <a:prstGeom prst="roundRect">
            <a:avLst>
              <a:gd name="adj" fmla="val 9824"/>
            </a:avLst>
          </a:prstGeom>
          <a:solidFill>
            <a:srgbClr val="FFFFFF"/>
          </a:solidFill>
          <a:ln w="19050">
            <a:solidFill>
              <a:srgbClr val="C5C7D2"/>
            </a:solidFill>
            <a:prstDash val="solid"/>
          </a:ln>
        </p:spPr>
      </p:sp>
      <p:sp>
        <p:nvSpPr>
          <p:cNvPr id="8" name="Text 5"/>
          <p:cNvSpPr/>
          <p:nvPr/>
        </p:nvSpPr>
        <p:spPr>
          <a:xfrm>
            <a:off x="4083695" y="2574131"/>
            <a:ext cx="1975545" cy="218033"/>
          </a:xfrm>
          <a:prstGeom prst="rect">
            <a:avLst/>
          </a:prstGeom>
          <a:noFill/>
          <a:ln/>
        </p:spPr>
        <p:txBody>
          <a:bodyPr wrap="none" lIns="0" tIns="0" rIns="0" bIns="0" rtlCol="0" anchor="t"/>
          <a:lstStyle/>
          <a:p>
            <a:pPr marL="0" indent="0" algn="l">
              <a:lnSpc>
                <a:spcPct val="104000"/>
              </a:lnSpc>
              <a:buNone/>
            </a:pPr>
            <a:r>
              <a:rPr lang="en-US" sz="1350" dirty="0">
                <a:solidFill>
                  <a:srgbClr val="3D3E44"/>
                </a:solidFill>
                <a:latin typeface="Montserrat Medium" pitchFamily="34" charset="0"/>
                <a:ea typeface="Montserrat Medium" pitchFamily="34" charset="-122"/>
                <a:cs typeface="Montserrat Medium" pitchFamily="34" charset="-120"/>
              </a:rPr>
              <a:t>Groove Music</a:t>
            </a:r>
            <a:endParaRPr lang="en-US" sz="1350" dirty="0"/>
          </a:p>
        </p:txBody>
      </p:sp>
      <p:sp>
        <p:nvSpPr>
          <p:cNvPr id="9" name="Text 6"/>
          <p:cNvSpPr/>
          <p:nvPr/>
        </p:nvSpPr>
        <p:spPr>
          <a:xfrm>
            <a:off x="4083695" y="2874541"/>
            <a:ext cx="1975545" cy="221456"/>
          </a:xfrm>
          <a:prstGeom prst="rect">
            <a:avLst/>
          </a:prstGeom>
          <a:noFill/>
          <a:ln/>
        </p:spPr>
        <p:txBody>
          <a:bodyPr wrap="none" lIns="0" tIns="0" rIns="0" bIns="0" rtlCol="0" anchor="t"/>
          <a:lstStyle/>
          <a:p>
            <a:pPr marL="0" indent="0" algn="l">
              <a:lnSpc>
                <a:spcPct val="132000"/>
              </a:lnSpc>
              <a:buNone/>
            </a:pPr>
            <a:r>
              <a:rPr lang="en-US" sz="1050" dirty="0">
                <a:solidFill>
                  <a:srgbClr val="3D3E44"/>
                </a:solidFill>
                <a:latin typeface="Inter Light" pitchFamily="34" charset="0"/>
                <a:ea typeface="Inter Light" pitchFamily="34" charset="-122"/>
                <a:cs typeface="Inter Light" pitchFamily="34" charset="-120"/>
              </a:rPr>
              <a:t>Възпроизвеждане на звук</a:t>
            </a:r>
            <a:endParaRPr lang="en-US" sz="1050" dirty="0"/>
          </a:p>
        </p:txBody>
      </p:sp>
      <p:sp>
        <p:nvSpPr>
          <p:cNvPr id="10" name="Shape 7"/>
          <p:cNvSpPr/>
          <p:nvPr/>
        </p:nvSpPr>
        <p:spPr>
          <a:xfrm>
            <a:off x="6355184" y="2415555"/>
            <a:ext cx="2292697" cy="1278508"/>
          </a:xfrm>
          <a:prstGeom prst="roundRect">
            <a:avLst>
              <a:gd name="adj" fmla="val 9824"/>
            </a:avLst>
          </a:prstGeom>
          <a:solidFill>
            <a:srgbClr val="FFFFFF"/>
          </a:solidFill>
          <a:ln w="19050">
            <a:solidFill>
              <a:srgbClr val="C5C7D2"/>
            </a:solidFill>
            <a:prstDash val="solid"/>
          </a:ln>
        </p:spPr>
      </p:sp>
      <p:sp>
        <p:nvSpPr>
          <p:cNvPr id="11" name="Text 8"/>
          <p:cNvSpPr/>
          <p:nvPr/>
        </p:nvSpPr>
        <p:spPr>
          <a:xfrm>
            <a:off x="6513761" y="2574131"/>
            <a:ext cx="1975545" cy="436066"/>
          </a:xfrm>
          <a:prstGeom prst="rect">
            <a:avLst/>
          </a:prstGeom>
          <a:noFill/>
          <a:ln/>
        </p:spPr>
        <p:txBody>
          <a:bodyPr wrap="square" lIns="0" tIns="0" rIns="0" bIns="0" rtlCol="0" anchor="t">
            <a:normAutofit/>
          </a:bodyPr>
          <a:lstStyle/>
          <a:p>
            <a:pPr marL="0" indent="0" algn="l">
              <a:lnSpc>
                <a:spcPct val="104000"/>
              </a:lnSpc>
              <a:buNone/>
            </a:pPr>
            <a:r>
              <a:rPr lang="en-US" sz="1350" dirty="0">
                <a:solidFill>
                  <a:srgbClr val="3D3E44"/>
                </a:solidFill>
                <a:latin typeface="Montserrat Medium" pitchFamily="34" charset="0"/>
                <a:ea typeface="Montserrat Medium" pitchFamily="34" charset="-122"/>
                <a:cs typeface="Montserrat Medium" pitchFamily="34" charset="-120"/>
              </a:rPr>
              <a:t>Windows Media Player</a:t>
            </a:r>
            <a:endParaRPr lang="en-US" sz="1350" dirty="0"/>
          </a:p>
        </p:txBody>
      </p:sp>
      <p:sp>
        <p:nvSpPr>
          <p:cNvPr id="12" name="Text 9"/>
          <p:cNvSpPr/>
          <p:nvPr/>
        </p:nvSpPr>
        <p:spPr>
          <a:xfrm>
            <a:off x="6513761" y="3092574"/>
            <a:ext cx="1975545" cy="442913"/>
          </a:xfrm>
          <a:prstGeom prst="rect">
            <a:avLst/>
          </a:prstGeom>
          <a:noFill/>
          <a:ln/>
        </p:spPr>
        <p:txBody>
          <a:bodyPr wrap="square" lIns="0" tIns="0" rIns="0" bIns="0" rtlCol="0" anchor="t">
            <a:normAutofit/>
          </a:bodyPr>
          <a:lstStyle/>
          <a:p>
            <a:pPr marL="0" indent="0" algn="l">
              <a:lnSpc>
                <a:spcPct val="132000"/>
              </a:lnSpc>
              <a:buNone/>
            </a:pPr>
            <a:r>
              <a:rPr lang="en-US" sz="1050" dirty="0">
                <a:solidFill>
                  <a:srgbClr val="3D3E44"/>
                </a:solidFill>
                <a:latin typeface="Inter Light" pitchFamily="34" charset="0"/>
                <a:ea typeface="Inter Light" pitchFamily="34" charset="-122"/>
                <a:cs typeface="Inter Light" pitchFamily="34" charset="-120"/>
              </a:rPr>
              <a:t>Възпроизвеждане на звук и видео</a:t>
            </a:r>
            <a:endParaRPr lang="en-US" sz="1050" dirty="0"/>
          </a:p>
        </p:txBody>
      </p:sp>
      <p:sp>
        <p:nvSpPr>
          <p:cNvPr id="13" name="Shape 10"/>
          <p:cNvSpPr/>
          <p:nvPr/>
        </p:nvSpPr>
        <p:spPr>
          <a:xfrm>
            <a:off x="3925119" y="3831431"/>
            <a:ext cx="4722763" cy="839019"/>
          </a:xfrm>
          <a:prstGeom prst="roundRect">
            <a:avLst>
              <a:gd name="adj" fmla="val 14969"/>
            </a:avLst>
          </a:prstGeom>
          <a:solidFill>
            <a:srgbClr val="FFFFFF"/>
          </a:solidFill>
          <a:ln w="19050">
            <a:solidFill>
              <a:srgbClr val="C5C7D2"/>
            </a:solidFill>
            <a:prstDash val="solid"/>
          </a:ln>
        </p:spPr>
      </p:sp>
      <p:sp>
        <p:nvSpPr>
          <p:cNvPr id="14" name="Text 11"/>
          <p:cNvSpPr/>
          <p:nvPr/>
        </p:nvSpPr>
        <p:spPr>
          <a:xfrm>
            <a:off x="4083695" y="3990008"/>
            <a:ext cx="4405610" cy="218033"/>
          </a:xfrm>
          <a:prstGeom prst="rect">
            <a:avLst/>
          </a:prstGeom>
          <a:noFill/>
          <a:ln/>
        </p:spPr>
        <p:txBody>
          <a:bodyPr wrap="none" lIns="0" tIns="0" rIns="0" bIns="0" rtlCol="0" anchor="t"/>
          <a:lstStyle/>
          <a:p>
            <a:pPr marL="0" indent="0" algn="l">
              <a:lnSpc>
                <a:spcPct val="104000"/>
              </a:lnSpc>
              <a:buNone/>
            </a:pPr>
            <a:r>
              <a:rPr lang="en-US" sz="1350" dirty="0">
                <a:solidFill>
                  <a:srgbClr val="3D3E44"/>
                </a:solidFill>
                <a:latin typeface="Montserrat Medium" pitchFamily="34" charset="0"/>
                <a:ea typeface="Montserrat Medium" pitchFamily="34" charset="-122"/>
                <a:cs typeface="Montserrat Medium" pitchFamily="34" charset="-120"/>
              </a:rPr>
              <a:t>Movies &amp; TV</a:t>
            </a:r>
            <a:endParaRPr lang="en-US" sz="1350" dirty="0"/>
          </a:p>
        </p:txBody>
      </p:sp>
      <p:sp>
        <p:nvSpPr>
          <p:cNvPr id="15" name="Text 12"/>
          <p:cNvSpPr/>
          <p:nvPr/>
        </p:nvSpPr>
        <p:spPr>
          <a:xfrm>
            <a:off x="4083695" y="4290417"/>
            <a:ext cx="4405610" cy="221456"/>
          </a:xfrm>
          <a:prstGeom prst="rect">
            <a:avLst/>
          </a:prstGeom>
          <a:noFill/>
          <a:ln/>
        </p:spPr>
        <p:txBody>
          <a:bodyPr wrap="none" lIns="0" tIns="0" rIns="0" bIns="0" rtlCol="0" anchor="t"/>
          <a:lstStyle/>
          <a:p>
            <a:pPr marL="0" indent="0" algn="l">
              <a:lnSpc>
                <a:spcPct val="132000"/>
              </a:lnSpc>
              <a:buNone/>
            </a:pPr>
            <a:r>
              <a:rPr lang="en-US" sz="1050" dirty="0">
                <a:solidFill>
                  <a:srgbClr val="3D3E44"/>
                </a:solidFill>
                <a:latin typeface="Inter Light" pitchFamily="34" charset="0"/>
                <a:ea typeface="Inter Light" pitchFamily="34" charset="-122"/>
                <a:cs typeface="Inter Light" pitchFamily="34" charset="-120"/>
              </a:rPr>
              <a:t>Възпроизвеждане на видео</a:t>
            </a:r>
            <a:endParaRPr lang="en-US" sz="1050" dirty="0"/>
          </a:p>
        </p:txBody>
      </p:sp>
      <p:pic>
        <p:nvPicPr>
          <p:cNvPr id="16" name="Picture 15" descr="_em_logo.png"/>
          <p:cNvPicPr>
            <a:picLocks noChangeAspect="1"/>
          </p:cNvPicPr>
          <p:nvPr/>
        </p:nvPicPr>
        <p:blipFill>
          <a:blip r:embed="rId4"/>
          <a:stretch>
            <a:fillRect/>
          </a:stretch>
        </p:blipFill>
        <p:spPr>
          <a:xfrm>
            <a:off x="8092440" y="4229100"/>
            <a:ext cx="868680" cy="90529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96119" y="634305"/>
            <a:ext cx="715566" cy="215354"/>
          </a:xfrm>
          <a:prstGeom prst="roundRect">
            <a:avLst>
              <a:gd name="adj" fmla="val 47398"/>
            </a:avLst>
          </a:prstGeom>
          <a:solidFill>
            <a:srgbClr val="DFE1EC"/>
          </a:solidFill>
          <a:ln/>
        </p:spPr>
      </p:sp>
      <p:sp>
        <p:nvSpPr>
          <p:cNvPr id="3" name="Text 1"/>
          <p:cNvSpPr/>
          <p:nvPr/>
        </p:nvSpPr>
        <p:spPr>
          <a:xfrm>
            <a:off x="581174" y="676796"/>
            <a:ext cx="1002655" cy="130373"/>
          </a:xfrm>
          <a:prstGeom prst="rect">
            <a:avLst/>
          </a:prstGeom>
          <a:noFill/>
          <a:ln/>
        </p:spPr>
        <p:txBody>
          <a:bodyPr wrap="none" lIns="0" tIns="0" rIns="0" bIns="0" rtlCol="0" anchor="t"/>
          <a:lstStyle/>
          <a:p>
            <a:pPr marL="0" indent="0" algn="l">
              <a:lnSpc>
                <a:spcPct val="96000"/>
              </a:lnSpc>
              <a:buNone/>
            </a:pPr>
            <a:r>
              <a:rPr lang="en-US" sz="850" dirty="0">
                <a:solidFill>
                  <a:srgbClr val="3D3E44"/>
                </a:solidFill>
                <a:latin typeface="Inter Light" pitchFamily="34" charset="0"/>
                <a:ea typeface="Inter Light" pitchFamily="34" charset="-122"/>
                <a:cs typeface="Inter Light" pitchFamily="34" charset="-120"/>
              </a:rPr>
              <a:t>ЗАДАЧА 1</a:t>
            </a:r>
            <a:endParaRPr lang="en-US" sz="850" dirty="0"/>
          </a:p>
        </p:txBody>
      </p:sp>
      <p:sp>
        <p:nvSpPr>
          <p:cNvPr id="4" name="Text 2"/>
          <p:cNvSpPr/>
          <p:nvPr/>
        </p:nvSpPr>
        <p:spPr>
          <a:xfrm>
            <a:off x="496119" y="906363"/>
            <a:ext cx="8151763" cy="442987"/>
          </a:xfrm>
          <a:prstGeom prst="rect">
            <a:avLst/>
          </a:prstGeom>
          <a:noFill/>
          <a:ln/>
        </p:spPr>
        <p:txBody>
          <a:bodyPr wrap="none" lIns="0" tIns="0" rIns="0" bIns="0" rtlCol="0" anchor="t"/>
          <a:lstStyle/>
          <a:p>
            <a:pPr marL="0" indent="0" algn="l">
              <a:lnSpc>
                <a:spcPct val="104000"/>
              </a:lnSpc>
              <a:buNone/>
            </a:pPr>
            <a:r>
              <a:rPr lang="en-US" sz="2750" dirty="0">
                <a:solidFill>
                  <a:srgbClr val="74767D"/>
                </a:solidFill>
                <a:latin typeface="Montserrat Medium" pitchFamily="34" charset="0"/>
                <a:ea typeface="Montserrat Medium" pitchFamily="34" charset="-122"/>
                <a:cs typeface="Montserrat Medium" pitchFamily="34" charset="-120"/>
              </a:rPr>
              <a:t>Windows Media Player</a:t>
            </a:r>
            <a:endParaRPr lang="en-US" sz="2750" dirty="0"/>
          </a:p>
        </p:txBody>
      </p:sp>
      <p:pic>
        <p:nvPicPr>
          <p:cNvPr id="5" name="Image 0" descr="preencoded.png"/>
          <p:cNvPicPr>
            <a:picLocks noChangeAspect="1"/>
          </p:cNvPicPr>
          <p:nvPr/>
        </p:nvPicPr>
        <p:blipFill>
          <a:blip r:embed="rId3"/>
          <a:stretch>
            <a:fillRect/>
          </a:stretch>
        </p:blipFill>
        <p:spPr>
          <a:xfrm>
            <a:off x="496119" y="1721421"/>
            <a:ext cx="2628230" cy="2628230"/>
          </a:xfrm>
          <a:prstGeom prst="rect">
            <a:avLst/>
          </a:prstGeom>
        </p:spPr>
      </p:pic>
      <p:sp>
        <p:nvSpPr>
          <p:cNvPr id="6" name="Text 3"/>
          <p:cNvSpPr/>
          <p:nvPr/>
        </p:nvSpPr>
        <p:spPr>
          <a:xfrm>
            <a:off x="3474988" y="1851868"/>
            <a:ext cx="5177582"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3D3E44"/>
                </a:solidFill>
                <a:latin typeface="Inter Light" pitchFamily="34" charset="0"/>
                <a:ea typeface="Inter Light" pitchFamily="34" charset="-122"/>
                <a:cs typeface="Inter Light" pitchFamily="34" charset="-120"/>
              </a:rPr>
              <a:t>Програмата се стартира от менюто </a:t>
            </a:r>
            <a:r>
              <a:rPr lang="en-US" sz="1100" b="1" dirty="0">
                <a:solidFill>
                  <a:srgbClr val="3D3E44"/>
                </a:solidFill>
                <a:latin typeface="Inter Bold" pitchFamily="34" charset="0"/>
                <a:ea typeface="Inter Bold" pitchFamily="34" charset="-122"/>
                <a:cs typeface="Inter Bold" pitchFamily="34" charset="-120"/>
              </a:rPr>
              <a:t>Start / Windows Accessories</a:t>
            </a:r>
            <a:r>
              <a:rPr lang="en-US" sz="1100" dirty="0">
                <a:solidFill>
                  <a:srgbClr val="3D3E44"/>
                </a:solidFill>
                <a:latin typeface="Inter Light" pitchFamily="34" charset="0"/>
                <a:ea typeface="Inter Light" pitchFamily="34" charset="-122"/>
                <a:cs typeface="Inter Light" pitchFamily="34" charset="-120"/>
              </a:rPr>
              <a:t>. Прозорецът се състои от две части:</a:t>
            </a:r>
            <a:endParaRPr lang="en-US" sz="1100" dirty="0"/>
          </a:p>
        </p:txBody>
      </p:sp>
      <p:sp>
        <p:nvSpPr>
          <p:cNvPr id="7" name="Text 4"/>
          <p:cNvSpPr/>
          <p:nvPr/>
        </p:nvSpPr>
        <p:spPr>
          <a:xfrm>
            <a:off x="3474988" y="2433042"/>
            <a:ext cx="5177582" cy="1864072"/>
          </a:xfrm>
          <a:prstGeom prst="rect">
            <a:avLst/>
          </a:prstGeom>
          <a:noFill/>
          <a:ln/>
        </p:spPr>
        <p:txBody>
          <a:bodyPr wrap="square" lIns="0" tIns="0" rIns="0" bIns="0" rtlCol="0" anchor="t">
            <a:normAutofit/>
          </a:bodyPr>
          <a:lstStyle/>
          <a:p>
            <a:pPr marL="223520" indent="-223520" algn="l">
              <a:lnSpc>
                <a:spcPct val="133000"/>
              </a:lnSpc>
              <a:buSzPct val="100000"/>
              <a:buChar char="•"/>
            </a:pPr>
            <a:r>
              <a:rPr lang="en-US" sz="1100" b="1" dirty="0">
                <a:solidFill>
                  <a:srgbClr val="3D3E44"/>
                </a:solidFill>
                <a:latin typeface="Inter Bold" pitchFamily="34" charset="0"/>
                <a:ea typeface="Inter Bold" pitchFamily="34" charset="-122"/>
                <a:cs typeface="Inter Bold" pitchFamily="34" charset="-120"/>
              </a:rPr>
              <a:t>Лява част</a:t>
            </a:r>
            <a:r>
              <a:rPr lang="en-US" sz="1100" dirty="0">
                <a:solidFill>
                  <a:srgbClr val="3D3E44"/>
                </a:solidFill>
                <a:latin typeface="Inter Light" pitchFamily="34" charset="0"/>
                <a:ea typeface="Inter Light" pitchFamily="34" charset="-122"/>
                <a:cs typeface="Inter Light" pitchFamily="34" charset="-120"/>
              </a:rPr>
              <a:t> — папките Music (Музика), Videos (Видео) и Pictures (Картини), съдържащи съответно музика, филми и фотографии. Като щракнете върху тях, в дясната част на полето се появява съдържанието им. По принцип в тези папки има само няколко стандартни файла. За да слушате повече музика или да гледате филми, трябва да използвате файлове от външни носители (CD, DVD, Flash) или допълнително добавени на твърдия диск.</a:t>
            </a:r>
            <a:endParaRPr lang="en-US" sz="1100" dirty="0"/>
          </a:p>
          <a:p>
            <a:pPr marL="223520" indent="-223520" algn="l">
              <a:lnSpc>
                <a:spcPct val="133000"/>
              </a:lnSpc>
              <a:buSzPct val="100000"/>
              <a:buChar char="•"/>
            </a:pPr>
            <a:r>
              <a:rPr lang="en-US" sz="1100" b="1" dirty="0">
                <a:solidFill>
                  <a:srgbClr val="3D3E44"/>
                </a:solidFill>
                <a:latin typeface="Inter Bold" pitchFamily="34" charset="0"/>
                <a:ea typeface="Inter Bold" pitchFamily="34" charset="-122"/>
                <a:cs typeface="Inter Bold" pitchFamily="34" charset="-120"/>
              </a:rPr>
              <a:t>Дъното</a:t>
            </a:r>
            <a:r>
              <a:rPr lang="en-US" sz="1100" dirty="0">
                <a:solidFill>
                  <a:srgbClr val="3D3E44"/>
                </a:solidFill>
                <a:latin typeface="Inter Light" pitchFamily="34" charset="0"/>
                <a:ea typeface="Inter Light" pitchFamily="34" charset="-122"/>
                <a:cs typeface="Inter Light" pitchFamily="34" charset="-120"/>
              </a:rPr>
              <a:t> — лента с бутони за управление на всеки запис</a:t>
            </a:r>
            <a:endParaRPr lang="en-US" sz="1100" dirty="0"/>
          </a:p>
        </p:txBody>
      </p:sp>
      <p:pic>
        <p:nvPicPr>
          <p:cNvPr id="8" name="Picture 7" descr="_em_logo.png"/>
          <p:cNvPicPr>
            <a:picLocks noChangeAspect="1"/>
          </p:cNvPicPr>
          <p:nvPr/>
        </p:nvPicPr>
        <p:blipFill>
          <a:blip r:embed="rId4"/>
          <a:stretch>
            <a:fillRect/>
          </a:stretch>
        </p:blipFill>
        <p:spPr>
          <a:xfrm>
            <a:off x="8092440" y="4229100"/>
            <a:ext cx="868680" cy="905291"/>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715640"/>
            <a:ext cx="8151763" cy="442987"/>
          </a:xfrm>
          <a:prstGeom prst="rect">
            <a:avLst/>
          </a:prstGeom>
          <a:noFill/>
          <a:ln/>
        </p:spPr>
        <p:txBody>
          <a:bodyPr wrap="none" lIns="0" tIns="0" rIns="0" bIns="0" rtlCol="0" anchor="t"/>
          <a:lstStyle/>
          <a:p>
            <a:pPr marL="0" indent="0" algn="l">
              <a:lnSpc>
                <a:spcPct val="104000"/>
              </a:lnSpc>
              <a:buNone/>
            </a:pPr>
            <a:r>
              <a:rPr lang="en-US" sz="2750" dirty="0">
                <a:solidFill>
                  <a:srgbClr val="74767D"/>
                </a:solidFill>
                <a:latin typeface="Montserrat Medium" pitchFamily="34" charset="0"/>
                <a:ea typeface="Montserrat Medium" pitchFamily="34" charset="-122"/>
                <a:cs typeface="Montserrat Medium" pitchFamily="34" charset="-120"/>
              </a:rPr>
              <a:t>Основни понятия</a:t>
            </a:r>
            <a:endParaRPr lang="en-US" sz="2750" dirty="0"/>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6119" y="1442145"/>
            <a:ext cx="2622724" cy="1535385"/>
          </a:xfrm>
          <a:prstGeom prst="rect">
            <a:avLst/>
          </a:prstGeom>
        </p:spPr>
      </p:pic>
      <p:sp>
        <p:nvSpPr>
          <p:cNvPr id="4" name="Text 1"/>
          <p:cNvSpPr/>
          <p:nvPr/>
        </p:nvSpPr>
        <p:spPr>
          <a:xfrm>
            <a:off x="733127" y="1602953"/>
            <a:ext cx="2224906" cy="221456"/>
          </a:xfrm>
          <a:prstGeom prst="rect">
            <a:avLst/>
          </a:prstGeom>
          <a:noFill/>
          <a:ln/>
        </p:spPr>
        <p:txBody>
          <a:bodyPr wrap="none" lIns="0" tIns="0" rIns="0" bIns="0" rtlCol="0" anchor="t"/>
          <a:lstStyle/>
          <a:p>
            <a:pPr marL="0" indent="0" algn="l">
              <a:lnSpc>
                <a:spcPct val="104000"/>
              </a:lnSpc>
              <a:buNone/>
            </a:pPr>
            <a:r>
              <a:rPr lang="en-US" sz="1350" dirty="0">
                <a:solidFill>
                  <a:srgbClr val="3D3E44"/>
                </a:solidFill>
                <a:latin typeface="Montserrat Medium" pitchFamily="34" charset="0"/>
                <a:ea typeface="Montserrat Medium" pitchFamily="34" charset="-122"/>
                <a:cs typeface="Montserrat Medium" pitchFamily="34" charset="-120"/>
              </a:rPr>
              <a:t>Звукова карта</a:t>
            </a:r>
            <a:endParaRPr lang="en-US" sz="1350" dirty="0"/>
          </a:p>
        </p:txBody>
      </p:sp>
      <p:sp>
        <p:nvSpPr>
          <p:cNvPr id="5" name="Text 2"/>
          <p:cNvSpPr/>
          <p:nvPr/>
        </p:nvSpPr>
        <p:spPr>
          <a:xfrm>
            <a:off x="733127" y="1909465"/>
            <a:ext cx="2224906" cy="680442"/>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3D3E44"/>
                </a:solidFill>
                <a:latin typeface="Inter Light" pitchFamily="34" charset="0"/>
                <a:ea typeface="Inter Light" pitchFamily="34" charset="-122"/>
                <a:cs typeface="Inter Light" pitchFamily="34" charset="-120"/>
              </a:rPr>
              <a:t>Част от компютърната система, която създава, обработва и записва звук.</a:t>
            </a:r>
            <a:endParaRPr lang="en-US" sz="1100" dirty="0"/>
          </a:p>
        </p:txBody>
      </p:sp>
      <p:pic>
        <p:nvPicPr>
          <p:cNvPr id="6"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60601" y="1442145"/>
            <a:ext cx="2622724" cy="1535385"/>
          </a:xfrm>
          <a:prstGeom prst="rect">
            <a:avLst/>
          </a:prstGeom>
        </p:spPr>
      </p:pic>
      <p:sp>
        <p:nvSpPr>
          <p:cNvPr id="7" name="Text 3"/>
          <p:cNvSpPr/>
          <p:nvPr/>
        </p:nvSpPr>
        <p:spPr>
          <a:xfrm>
            <a:off x="3497610" y="1602953"/>
            <a:ext cx="2224906" cy="221456"/>
          </a:xfrm>
          <a:prstGeom prst="rect">
            <a:avLst/>
          </a:prstGeom>
          <a:noFill/>
          <a:ln/>
        </p:spPr>
        <p:txBody>
          <a:bodyPr wrap="none" lIns="0" tIns="0" rIns="0" bIns="0" rtlCol="0" anchor="t"/>
          <a:lstStyle/>
          <a:p>
            <a:pPr marL="0" indent="0" algn="l">
              <a:lnSpc>
                <a:spcPct val="104000"/>
              </a:lnSpc>
              <a:buNone/>
            </a:pPr>
            <a:r>
              <a:rPr lang="en-US" sz="1350" dirty="0">
                <a:solidFill>
                  <a:srgbClr val="3D3E44"/>
                </a:solidFill>
                <a:latin typeface="Montserrat Medium" pitchFamily="34" charset="0"/>
                <a:ea typeface="Montserrat Medium" pitchFamily="34" charset="-122"/>
                <a:cs typeface="Montserrat Medium" pitchFamily="34" charset="-120"/>
              </a:rPr>
              <a:t>Видеокарта</a:t>
            </a:r>
            <a:endParaRPr lang="en-US" sz="1350" dirty="0"/>
          </a:p>
        </p:txBody>
      </p:sp>
      <p:sp>
        <p:nvSpPr>
          <p:cNvPr id="8" name="Text 4"/>
          <p:cNvSpPr/>
          <p:nvPr/>
        </p:nvSpPr>
        <p:spPr>
          <a:xfrm>
            <a:off x="3497610" y="1909465"/>
            <a:ext cx="2224906" cy="907256"/>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3D3E44"/>
                </a:solidFill>
                <a:latin typeface="Inter Light" pitchFamily="34" charset="0"/>
                <a:ea typeface="Inter Light" pitchFamily="34" charset="-122"/>
                <a:cs typeface="Inter Light" pitchFamily="34" charset="-120"/>
              </a:rPr>
              <a:t>Част от компютърната система, чрез която се получава и възпроизвежда видеоизображение.</a:t>
            </a:r>
            <a:endParaRPr lang="en-US" sz="1100" dirty="0"/>
          </a:p>
        </p:txBody>
      </p:sp>
      <p:pic>
        <p:nvPicPr>
          <p:cNvPr id="9"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25083" y="1442145"/>
            <a:ext cx="2622724" cy="1535385"/>
          </a:xfrm>
          <a:prstGeom prst="rect">
            <a:avLst/>
          </a:prstGeom>
        </p:spPr>
      </p:pic>
      <p:sp>
        <p:nvSpPr>
          <p:cNvPr id="10" name="Text 5"/>
          <p:cNvSpPr/>
          <p:nvPr/>
        </p:nvSpPr>
        <p:spPr>
          <a:xfrm>
            <a:off x="6262092" y="1602953"/>
            <a:ext cx="2224906" cy="221456"/>
          </a:xfrm>
          <a:prstGeom prst="rect">
            <a:avLst/>
          </a:prstGeom>
          <a:noFill/>
          <a:ln/>
        </p:spPr>
        <p:txBody>
          <a:bodyPr wrap="none" lIns="0" tIns="0" rIns="0" bIns="0" rtlCol="0" anchor="t"/>
          <a:lstStyle/>
          <a:p>
            <a:pPr marL="0" indent="0" algn="l">
              <a:lnSpc>
                <a:spcPct val="104000"/>
              </a:lnSpc>
              <a:buNone/>
            </a:pPr>
            <a:r>
              <a:rPr lang="en-US" sz="1350" dirty="0">
                <a:solidFill>
                  <a:srgbClr val="3D3E44"/>
                </a:solidFill>
                <a:latin typeface="Montserrat Medium" pitchFamily="34" charset="0"/>
                <a:ea typeface="Montserrat Medium" pitchFamily="34" charset="-122"/>
                <a:cs typeface="Montserrat Medium" pitchFamily="34" charset="-120"/>
              </a:rPr>
              <a:t>Тонколонки</a:t>
            </a:r>
            <a:endParaRPr lang="en-US" sz="1350" dirty="0"/>
          </a:p>
        </p:txBody>
      </p:sp>
      <p:sp>
        <p:nvSpPr>
          <p:cNvPr id="11" name="Text 6"/>
          <p:cNvSpPr/>
          <p:nvPr/>
        </p:nvSpPr>
        <p:spPr>
          <a:xfrm>
            <a:off x="6262092" y="1909465"/>
            <a:ext cx="2224906" cy="680442"/>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3D3E44"/>
                </a:solidFill>
                <a:latin typeface="Inter Light" pitchFamily="34" charset="0"/>
                <a:ea typeface="Inter Light" pitchFamily="34" charset="-122"/>
                <a:cs typeface="Inter Light" pitchFamily="34" charset="-120"/>
              </a:rPr>
              <a:t>Изходни периферни устройства, с чиято помощ се възпроизвежда звук.</a:t>
            </a:r>
            <a:endParaRPr lang="en-US" sz="1100" dirty="0"/>
          </a:p>
        </p:txBody>
      </p:sp>
      <p:pic>
        <p:nvPicPr>
          <p:cNvPr id="12" name="Image 3"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6119" y="3119289"/>
            <a:ext cx="2622724" cy="1308571"/>
          </a:xfrm>
          <a:prstGeom prst="rect">
            <a:avLst/>
          </a:prstGeom>
        </p:spPr>
      </p:pic>
      <p:sp>
        <p:nvSpPr>
          <p:cNvPr id="13" name="Text 7"/>
          <p:cNvSpPr/>
          <p:nvPr/>
        </p:nvSpPr>
        <p:spPr>
          <a:xfrm>
            <a:off x="733127" y="3280097"/>
            <a:ext cx="2224906" cy="221456"/>
          </a:xfrm>
          <a:prstGeom prst="rect">
            <a:avLst/>
          </a:prstGeom>
          <a:noFill/>
          <a:ln/>
        </p:spPr>
        <p:txBody>
          <a:bodyPr wrap="none" lIns="0" tIns="0" rIns="0" bIns="0" rtlCol="0" anchor="t"/>
          <a:lstStyle/>
          <a:p>
            <a:pPr marL="0" indent="0" algn="l">
              <a:lnSpc>
                <a:spcPct val="104000"/>
              </a:lnSpc>
              <a:buNone/>
            </a:pPr>
            <a:r>
              <a:rPr lang="en-US" sz="1350" dirty="0">
                <a:solidFill>
                  <a:srgbClr val="3D3E44"/>
                </a:solidFill>
                <a:latin typeface="Montserrat Medium" pitchFamily="34" charset="0"/>
                <a:ea typeface="Montserrat Medium" pitchFamily="34" charset="-122"/>
                <a:cs typeface="Montserrat Medium" pitchFamily="34" charset="-120"/>
              </a:rPr>
              <a:t>Микрофон</a:t>
            </a:r>
            <a:endParaRPr lang="en-US" sz="1350" dirty="0"/>
          </a:p>
        </p:txBody>
      </p:sp>
      <p:sp>
        <p:nvSpPr>
          <p:cNvPr id="14" name="Text 8"/>
          <p:cNvSpPr/>
          <p:nvPr/>
        </p:nvSpPr>
        <p:spPr>
          <a:xfrm>
            <a:off x="733127" y="3586609"/>
            <a:ext cx="2224906" cy="680442"/>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3D3E44"/>
                </a:solidFill>
                <a:latin typeface="Inter Light" pitchFamily="34" charset="0"/>
                <a:ea typeface="Inter Light" pitchFamily="34" charset="-122"/>
                <a:cs typeface="Inter Light" pitchFamily="34" charset="-120"/>
              </a:rPr>
              <a:t>Устройство за въвеждане на звукова информация в компютъра.</a:t>
            </a:r>
            <a:endParaRPr lang="en-US" sz="1100" dirty="0"/>
          </a:p>
        </p:txBody>
      </p:sp>
      <p:pic>
        <p:nvPicPr>
          <p:cNvPr id="15" name="Image 4"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60601" y="3119289"/>
            <a:ext cx="2622724" cy="1308571"/>
          </a:xfrm>
          <a:prstGeom prst="rect">
            <a:avLst/>
          </a:prstGeom>
        </p:spPr>
      </p:pic>
      <p:sp>
        <p:nvSpPr>
          <p:cNvPr id="16" name="Text 9"/>
          <p:cNvSpPr/>
          <p:nvPr/>
        </p:nvSpPr>
        <p:spPr>
          <a:xfrm>
            <a:off x="3497610" y="3280097"/>
            <a:ext cx="2224906" cy="221456"/>
          </a:xfrm>
          <a:prstGeom prst="rect">
            <a:avLst/>
          </a:prstGeom>
          <a:noFill/>
          <a:ln/>
        </p:spPr>
        <p:txBody>
          <a:bodyPr wrap="none" lIns="0" tIns="0" rIns="0" bIns="0" rtlCol="0" anchor="t"/>
          <a:lstStyle/>
          <a:p>
            <a:pPr marL="0" indent="0" algn="l">
              <a:lnSpc>
                <a:spcPct val="104000"/>
              </a:lnSpc>
              <a:buNone/>
            </a:pPr>
            <a:r>
              <a:rPr lang="en-US" sz="1350" dirty="0">
                <a:solidFill>
                  <a:srgbClr val="3D3E44"/>
                </a:solidFill>
                <a:latin typeface="Montserrat Medium" pitchFamily="34" charset="0"/>
                <a:ea typeface="Montserrat Medium" pitchFamily="34" charset="-122"/>
                <a:cs typeface="Montserrat Medium" pitchFamily="34" charset="-120"/>
              </a:rPr>
              <a:t>Слушалки</a:t>
            </a:r>
            <a:endParaRPr lang="en-US" sz="1350" dirty="0"/>
          </a:p>
        </p:txBody>
      </p:sp>
      <p:sp>
        <p:nvSpPr>
          <p:cNvPr id="17" name="Text 10"/>
          <p:cNvSpPr/>
          <p:nvPr/>
        </p:nvSpPr>
        <p:spPr>
          <a:xfrm>
            <a:off x="3497610" y="3586609"/>
            <a:ext cx="2224906" cy="680442"/>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3D3E44"/>
                </a:solidFill>
                <a:latin typeface="Inter Light" pitchFamily="34" charset="0"/>
                <a:ea typeface="Inter Light" pitchFamily="34" charset="-122"/>
                <a:cs typeface="Inter Light" pitchFamily="34" charset="-120"/>
              </a:rPr>
              <a:t>Устройство за индивидуално слушане на музика, реч или друг звуков сигнал.</a:t>
            </a:r>
            <a:endParaRPr lang="en-US" sz="1100" dirty="0"/>
          </a:p>
        </p:txBody>
      </p:sp>
      <p:pic>
        <p:nvPicPr>
          <p:cNvPr id="18" name="Picture 17" descr="_em_logo.png"/>
          <p:cNvPicPr>
            <a:picLocks noChangeAspect="1"/>
          </p:cNvPicPr>
          <p:nvPr/>
        </p:nvPicPr>
        <p:blipFill>
          <a:blip r:embed="rId7"/>
          <a:stretch>
            <a:fillRect/>
          </a:stretch>
        </p:blipFill>
        <p:spPr>
          <a:xfrm>
            <a:off x="8092440" y="4229100"/>
            <a:ext cx="868680" cy="905291"/>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на Office">
  <a:themeElements>
    <a:clrScheme name="О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О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О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593</Words>
  <Application>Microsoft Office PowerPoint</Application>
  <PresentationFormat>Презентация на цял екран (16:9)</PresentationFormat>
  <Paragraphs>71</Paragraphs>
  <Slides>10</Slides>
  <Notes>10</Notes>
  <HiddenSlides>0</HiddenSlides>
  <MMClips>0</MMClips>
  <ScaleCrop>false</ScaleCrop>
  <HeadingPairs>
    <vt:vector size="6" baseType="variant">
      <vt:variant>
        <vt:lpstr>Използвани шрифтове</vt:lpstr>
      </vt:variant>
      <vt:variant>
        <vt:i4>4</vt:i4>
      </vt:variant>
      <vt:variant>
        <vt:lpstr>Тема</vt:lpstr>
      </vt:variant>
      <vt:variant>
        <vt:i4>1</vt:i4>
      </vt:variant>
      <vt:variant>
        <vt:lpstr>Заглавия на слайдовете</vt:lpstr>
      </vt:variant>
      <vt:variant>
        <vt:i4>10</vt:i4>
      </vt:variant>
    </vt:vector>
  </HeadingPairs>
  <TitlesOfParts>
    <vt:vector size="15" baseType="lpstr">
      <vt:lpstr>Inter Light</vt:lpstr>
      <vt:lpstr>Montserrat Medium</vt:lpstr>
      <vt:lpstr>Arial</vt:lpstr>
      <vt:lpstr>Inter Bold</vt:lpstr>
      <vt:lpstr>Office Theme</vt:lpstr>
      <vt:lpstr>Презентация на PowerPoint</vt:lpstr>
      <vt:lpstr>Презентация на PowerPoint</vt:lpstr>
      <vt:lpstr>Презентация на PowerPoint</vt:lpstr>
      <vt:lpstr>Презентация на PowerPoint</vt:lpstr>
      <vt:lpstr>Презентация на PowerPoint</vt:lpstr>
      <vt:lpstr>Презентация на PowerPoint</vt:lpstr>
      <vt:lpstr>Презентация на PowerPoint</vt:lpstr>
      <vt:lpstr>Презентация на PowerPoint</vt:lpstr>
      <vt:lpstr>Презентация на PowerPoint</vt:lpstr>
      <vt:lpstr>Презентация на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Елена Г. Маврова-Ненкова</dc:creator>
  <cp:lastModifiedBy>Elena Nenkova</cp:lastModifiedBy>
  <cp:revision>2</cp:revision>
  <dcterms:created xsi:type="dcterms:W3CDTF">2026-07-22T08:31:22Z</dcterms:created>
  <dcterms:modified xsi:type="dcterms:W3CDTF">2026-07-22T08:34:28Z</dcterms:modified>
</cp:coreProperties>
</file>