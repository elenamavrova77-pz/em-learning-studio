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4.svg" ContentType="image/svg+xml"/>
  <Override PartName="/ppt/media/image16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exandria Medium" panose="020B0604020202020204" charset="-78"/>
      <p:regular r:id="rId13"/>
    </p:embeddedFont>
    <p:embeddedFont>
      <p:font typeface="Manrope" panose="020B0604020202020204" charset="0"/>
      <p:regular r:id="rId14"/>
    </p:embeddedFont>
    <p:embeddedFont>
      <p:font typeface="Manrop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874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509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eg"/><Relationship Id="rId4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e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8767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Електронна поща</a:t>
            </a:r>
            <a:endParaRPr lang="en-US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672730"/>
            <a:ext cx="4722763" cy="67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Една от най-популярните и най-често използвани услуги в интернет за обмен на съобщения, снимки и документи.</a:t>
            </a:r>
            <a:endParaRPr lang="en-US" sz="1400" dirty="0"/>
          </a:p>
        </p:txBody>
      </p:sp>
      <p:sp>
        <p:nvSpPr>
          <p:cNvPr id="5" name="Текстово поле 1">
            <a:extLst>
              <a:ext uri="{FF2B5EF4-FFF2-40B4-BE49-F238E27FC236}">
                <a16:creationId xmlns:a16="http://schemas.microsoft.com/office/drawing/2014/main" id="{561669A0-DAC2-43BD-A39C-6789F4040E75}"/>
              </a:ext>
            </a:extLst>
          </p:cNvPr>
          <p:cNvSpPr txBox="1"/>
          <p:nvPr/>
        </p:nvSpPr>
        <p:spPr>
          <a:xfrm>
            <a:off x="3421380" y="4805983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576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Какво е електронна поща?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50802"/>
            <a:ext cx="4123563" cy="36021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61560" y="1050802"/>
            <a:ext cx="3903956" cy="3136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Електронната поща е предназначена за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обмен на информация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 между потребители – съобщения, снимки, текстови документи и др. Съобщението, което се изпраща чрез нея, се нарича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електронно писмо (e-mail)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За да я използвате, е необходимо да имате създадена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електронна пощенска кутия (акаунт)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. Изпращането и прочитането на електронна поща се осъществява чрез специален софтуер или чрез уеб страницата на пощенския сървър.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833788" y="3987362"/>
            <a:ext cx="3814094" cy="665559"/>
          </a:xfrm>
          <a:prstGeom prst="roundRect">
            <a:avLst>
              <a:gd name="adj" fmla="val 28955"/>
            </a:avLst>
          </a:prstGeom>
          <a:solidFill>
            <a:srgbClr val="CDEF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0693" y="4255923"/>
            <a:ext cx="160586" cy="1284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52864" y="4040528"/>
            <a:ext cx="3189156" cy="5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Всяка пощенска кутия има уникален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имейл адрес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Текстово поле 1">
            <a:extLst>
              <a:ext uri="{FF2B5EF4-FFF2-40B4-BE49-F238E27FC236}">
                <a16:creationId xmlns:a16="http://schemas.microsoft.com/office/drawing/2014/main" id="{A18B6C0B-C746-FD73-C872-2D55408D4878}"/>
              </a:ext>
            </a:extLst>
          </p:cNvPr>
          <p:cNvSpPr txBox="1"/>
          <p:nvPr/>
        </p:nvSpPr>
        <p:spPr>
          <a:xfrm>
            <a:off x="2148840" y="4778351"/>
            <a:ext cx="4729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200" dirty="0"/>
              <a:t>КМИТ, 5 клас, Елена Маврова-Ненкова</a:t>
            </a:r>
          </a:p>
        </p:txBody>
      </p:sp>
      <p:pic>
        <p:nvPicPr>
          <p:cNvPr id="9" name="Picture 8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0925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Имейл</a:t>
            </a: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адресът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46484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Адресът за електронна поща се състои от </a:t>
            </a:r>
            <a:r>
              <a:rPr lang="en-US" sz="1400" b="1" dirty="0">
                <a:solidFill>
                  <a:srgbClr val="5B6E8C"/>
                </a:solidFill>
                <a:ea typeface="Manrope Bold" pitchFamily="34" charset="-122"/>
                <a:cs typeface="Manrope Bold" pitchFamily="34" charset="-120"/>
              </a:rPr>
              <a:t>две части</a:t>
            </a: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, свързани със знака </a:t>
            </a:r>
            <a:r>
              <a:rPr lang="en-US" sz="1400" b="1" dirty="0">
                <a:solidFill>
                  <a:srgbClr val="5B6E8C"/>
                </a:solidFill>
                <a:ea typeface="Manrope Bold" pitchFamily="34" charset="-122"/>
                <a:cs typeface="Manrope Bold" pitchFamily="34" charset="-120"/>
              </a:rPr>
              <a:t>@</a:t>
            </a: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 (чете се „ет" или „къломба"):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6119" y="2077938"/>
            <a:ext cx="4722763" cy="1870025"/>
          </a:xfrm>
          <a:prstGeom prst="roundRect">
            <a:avLst>
              <a:gd name="adj" fmla="val 11372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082701"/>
            <a:ext cx="4713238" cy="1043657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7" name="Text 4"/>
          <p:cNvSpPr/>
          <p:nvPr/>
        </p:nvSpPr>
        <p:spPr>
          <a:xfrm>
            <a:off x="642640" y="222446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Потребителско име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5"/>
          <p:cNvSpPr/>
          <p:nvPr/>
        </p:nvSpPr>
        <p:spPr>
          <a:xfrm>
            <a:off x="642640" y="2530971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Трябва да е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уникално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. Може да съдържа латински букви, цифри и символи: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.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(точка),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-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(тире),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_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(долно тире) — без интервал.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0881" y="3126358"/>
            <a:ext cx="4713238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500881" y="3126358"/>
            <a:ext cx="4713238" cy="19050"/>
          </a:xfrm>
          <a:prstGeom prst="roundRect">
            <a:avLst>
              <a:gd name="adj" fmla="val 1116279"/>
            </a:avLst>
          </a:prstGeom>
          <a:solidFill>
            <a:srgbClr val="B3D5E4"/>
          </a:solidFill>
          <a:ln/>
        </p:spPr>
      </p:sp>
      <p:sp>
        <p:nvSpPr>
          <p:cNvPr id="11" name="Text 8"/>
          <p:cNvSpPr/>
          <p:nvPr/>
        </p:nvSpPr>
        <p:spPr>
          <a:xfrm>
            <a:off x="642640" y="326811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Адрес на пощенския сървър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9"/>
          <p:cNvSpPr/>
          <p:nvPr/>
        </p:nvSpPr>
        <p:spPr>
          <a:xfrm>
            <a:off x="642640" y="357462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Показва сървъра, който предлага услугата.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5037" y="410743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Примери: </a:t>
            </a:r>
            <a:r>
              <a:rPr lang="en-US" sz="1400" b="1" dirty="0">
                <a:solidFill>
                  <a:srgbClr val="5B6E8C"/>
                </a:solidFill>
                <a:ea typeface="Manrope Bold" pitchFamily="34" charset="-122"/>
                <a:cs typeface="Manrope Bold" pitchFamily="34" charset="-120"/>
              </a:rPr>
              <a:t>5_class@abv.bg</a:t>
            </a: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, </a:t>
            </a:r>
            <a:r>
              <a:rPr lang="en-US" sz="1400" b="1" dirty="0">
                <a:solidFill>
                  <a:srgbClr val="5B6E8C"/>
                </a:solidFill>
                <a:ea typeface="Manrope Bold" pitchFamily="34" charset="-122"/>
                <a:cs typeface="Manrope Bold" pitchFamily="34" charset="-120"/>
              </a:rPr>
              <a:t>st_petrov@gmail.com</a:t>
            </a:r>
            <a:endParaRPr lang="en-US" sz="1400" dirty="0"/>
          </a:p>
        </p:txBody>
      </p:sp>
      <p:sp>
        <p:nvSpPr>
          <p:cNvPr id="14" name="Текстово поле 1">
            <a:extLst>
              <a:ext uri="{FF2B5EF4-FFF2-40B4-BE49-F238E27FC236}">
                <a16:creationId xmlns:a16="http://schemas.microsoft.com/office/drawing/2014/main" id="{BED1D132-BB54-60C8-D0FA-A1431B0477A3}"/>
              </a:ext>
            </a:extLst>
          </p:cNvPr>
          <p:cNvSpPr txBox="1"/>
          <p:nvPr/>
        </p:nvSpPr>
        <p:spPr>
          <a:xfrm>
            <a:off x="5214119" y="4803986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>
                <a:solidFill>
                  <a:schemeClr val="bg1"/>
                </a:solidFill>
              </a:rPr>
              <a:t>КМИТ, 5 клас, Елена Маврова-Ненкова</a:t>
            </a:r>
          </a:p>
        </p:txBody>
      </p:sp>
      <p:pic>
        <p:nvPicPr>
          <p:cNvPr id="15" name="Picture 14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729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Популярни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пощенски</a:t>
            </a: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услуги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33798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49178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B6E8C"/>
                </a:solidFill>
                <a:ea typeface="Alexandria Medium" pitchFamily="34" charset="-122"/>
                <a:cs typeface="Alexandria Medium" pitchFamily="34" charset="-120"/>
              </a:rPr>
              <a:t>abv.bg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96119" y="3255690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Най-популярен български сайт за електронна поща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933798"/>
            <a:ext cx="838200" cy="83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9491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B6E8C"/>
                </a:solidFill>
                <a:ea typeface="Alexandria Medium" pitchFamily="34" charset="-122"/>
                <a:cs typeface="Alexandria Medium" pitchFamily="34" charset="-120"/>
              </a:rPr>
              <a:t>mail.bg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578298" y="325569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Друг популярен български пощенски сайт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933798"/>
            <a:ext cx="838200" cy="838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9491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B6E8C"/>
                </a:solidFill>
                <a:ea typeface="Alexandria Medium" pitchFamily="34" charset="-122"/>
                <a:cs typeface="Alexandria Medium" pitchFamily="34" charset="-120"/>
              </a:rPr>
              <a:t>gmail.com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4660553" y="325569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Най-популярен чуждестранен — mail.google.com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933798"/>
            <a:ext cx="838200" cy="838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9491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B6E8C"/>
                </a:solidFill>
                <a:ea typeface="Alexandria Medium" pitchFamily="34" charset="-122"/>
                <a:cs typeface="Alexandria Medium" pitchFamily="34" charset="-120"/>
              </a:rPr>
              <a:t>outlook.com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742807" y="325569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Чуждестранна пощенска услуга на Microsoft</a:t>
            </a:r>
            <a:endParaRPr lang="en-US" sz="1600" dirty="0"/>
          </a:p>
        </p:txBody>
      </p:sp>
      <p:sp>
        <p:nvSpPr>
          <p:cNvPr id="15" name="Текстово поле 1">
            <a:extLst>
              <a:ext uri="{FF2B5EF4-FFF2-40B4-BE49-F238E27FC236}">
                <a16:creationId xmlns:a16="http://schemas.microsoft.com/office/drawing/2014/main" id="{E8332A60-7BB4-5503-9478-A2BC159E32E4}"/>
              </a:ext>
            </a:extLst>
          </p:cNvPr>
          <p:cNvSpPr txBox="1"/>
          <p:nvPr/>
        </p:nvSpPr>
        <p:spPr>
          <a:xfrm>
            <a:off x="2148840" y="4778351"/>
            <a:ext cx="4729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400" dirty="0"/>
              <a:t>КМИТ, 5 клас, Елена Маврова-Ненкова</a:t>
            </a:r>
          </a:p>
        </p:txBody>
      </p:sp>
      <p:pic>
        <p:nvPicPr>
          <p:cNvPr id="16" name="Picture 15" descr="_em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159" y="298729"/>
            <a:ext cx="8151763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Регистрация на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електронна</a:t>
            </a: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поща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764448"/>
            <a:ext cx="8685982" cy="278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B6E8C"/>
                </a:solidFill>
                <a:ea typeface="Manrope Bold" pitchFamily="34" charset="-122"/>
                <a:cs typeface="Manrope Bold" pitchFamily="34" charset="-120"/>
              </a:rPr>
              <a:t>Задача:</a:t>
            </a: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 Извършете регистрация на електронна поща на уеб сайта </a:t>
            </a:r>
            <a:r>
              <a:rPr lang="en-US" sz="1400" b="1" dirty="0">
                <a:solidFill>
                  <a:srgbClr val="5B6E8C"/>
                </a:solidFill>
                <a:ea typeface="Manrope Bold" pitchFamily="34" charset="-122"/>
                <a:cs typeface="Manrope Bold" pitchFamily="34" charset="-120"/>
              </a:rPr>
              <a:t>www.abv.bg</a:t>
            </a:r>
            <a:r>
              <a:rPr lang="en-US" sz="14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07479"/>
            <a:ext cx="8151763" cy="3575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66551" y="3162455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5B6E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Попълнете данни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3"/>
          <p:cNvSpPr/>
          <p:nvPr/>
        </p:nvSpPr>
        <p:spPr>
          <a:xfrm>
            <a:off x="2966551" y="3883871"/>
            <a:ext cx="1232034" cy="27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Въведете име и имейл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30333" y="2784652"/>
            <a:ext cx="1456439" cy="661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5B6E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Завършете регистрацията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5"/>
          <p:cNvSpPr/>
          <p:nvPr/>
        </p:nvSpPr>
        <p:spPr>
          <a:xfrm>
            <a:off x="6834121" y="3603650"/>
            <a:ext cx="1278345" cy="55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Натиснете „Създай АБВ Профил“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2751" y="1228864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5B6E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Посетете abv.bg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7"/>
          <p:cNvSpPr/>
          <p:nvPr/>
        </p:nvSpPr>
        <p:spPr>
          <a:xfrm>
            <a:off x="892730" y="1909542"/>
            <a:ext cx="1486629" cy="57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Натиснете „Регистрирай се“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50944" y="1228864"/>
            <a:ext cx="1232034" cy="44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5B6E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Изберете парола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9"/>
          <p:cNvSpPr/>
          <p:nvPr/>
        </p:nvSpPr>
        <p:spPr>
          <a:xfrm>
            <a:off x="4950944" y="1996550"/>
            <a:ext cx="1232034" cy="27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60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Създайте сигурна парола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4699" y="4487108"/>
            <a:ext cx="8151763" cy="507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E8C"/>
                </a:solidFill>
                <a:ea typeface="Manrope" pitchFamily="34" charset="-122"/>
                <a:cs typeface="Manrope" pitchFamily="34" charset="-120"/>
              </a:rPr>
              <a:t>При регистрацията трябва да изберете парола, с която да имате достъп до пощенската си кутия. Тя трябва да съдържа определен брой символи и да гарантира сигурността на пощата. При извеждане на парола се използват букви, числа и специални символи. Избягвайте да използвате буквите на вашето име и цифрите на рождената си дата.</a:t>
            </a:r>
            <a:endParaRPr lang="en-US" sz="1050" dirty="0"/>
          </a:p>
        </p:txBody>
      </p:sp>
      <p:pic>
        <p:nvPicPr>
          <p:cNvPr id="14" name="Picture 13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2134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Създаване на АБВ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Профил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939850"/>
            <a:ext cx="559874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При регистрацията трябва да попълните следните полета: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238771"/>
            <a:ext cx="5104581" cy="10689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9371" y="1374874"/>
            <a:ext cx="474859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Парола</a:t>
            </a:r>
            <a:endParaRPr lang="en-US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3"/>
          <p:cNvSpPr/>
          <p:nvPr/>
        </p:nvSpPr>
        <p:spPr>
          <a:xfrm>
            <a:off x="689371" y="1628031"/>
            <a:ext cx="4748597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ea typeface="Manrope" pitchFamily="34" charset="-122"/>
                <a:cs typeface="Manrope" pitchFamily="34" charset="-120"/>
              </a:rPr>
              <a:t>Трябва да съдържа определен брой символи и да гарантира сигурността на пощата. Използвайте букви, числа и специални символи. Избягвайте буквите на вашето име и цифрите на рождената си дата.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412355"/>
            <a:ext cx="5104581" cy="7065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89371" y="2548458"/>
            <a:ext cx="474859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Лични данни</a:t>
            </a:r>
            <a:endParaRPr lang="en-US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5"/>
          <p:cNvSpPr/>
          <p:nvPr/>
        </p:nvSpPr>
        <p:spPr>
          <a:xfrm>
            <a:off x="689371" y="2806690"/>
            <a:ext cx="47485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ea typeface="Manrope" pitchFamily="34" charset="-122"/>
                <a:cs typeface="Manrope" pitchFamily="34" charset="-120"/>
              </a:rPr>
              <a:t>Име, семейно име, пол и дата на раждане.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23543"/>
            <a:ext cx="4722763" cy="7065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9371" y="3359646"/>
            <a:ext cx="474859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Мобилен телефон</a:t>
            </a:r>
            <a:endParaRPr lang="en-US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7"/>
          <p:cNvSpPr/>
          <p:nvPr/>
        </p:nvSpPr>
        <p:spPr>
          <a:xfrm>
            <a:off x="689371" y="3612803"/>
            <a:ext cx="47485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ea typeface="Manrope" pitchFamily="34" charset="-122"/>
                <a:cs typeface="Manrope" pitchFamily="34" charset="-120"/>
              </a:rPr>
              <a:t>За възстановяване на забравена парола.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034730"/>
            <a:ext cx="5104581" cy="7065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9371" y="4170834"/>
            <a:ext cx="474859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Пощенско име</a:t>
            </a:r>
            <a:endParaRPr lang="en-US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9"/>
          <p:cNvSpPr/>
          <p:nvPr/>
        </p:nvSpPr>
        <p:spPr>
          <a:xfrm>
            <a:off x="689371" y="4423990"/>
            <a:ext cx="474859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ea typeface="Manrope" pitchFamily="34" charset="-122"/>
                <a:cs typeface="Manrope" pitchFamily="34" charset="-120"/>
              </a:rPr>
              <a:t>Уникалното потребителско име за вашия имейл адрес.</a:t>
            </a:r>
            <a:endParaRPr lang="en-US" sz="1050" dirty="0"/>
          </a:p>
        </p:txBody>
      </p:sp>
      <p:sp>
        <p:nvSpPr>
          <p:cNvPr id="17" name="Текстово поле 1">
            <a:extLst>
              <a:ext uri="{FF2B5EF4-FFF2-40B4-BE49-F238E27FC236}">
                <a16:creationId xmlns:a16="http://schemas.microsoft.com/office/drawing/2014/main" id="{BEEA1F05-FC04-2215-11DC-850EDEF86A65}"/>
              </a:ext>
            </a:extLst>
          </p:cNvPr>
          <p:cNvSpPr txBox="1"/>
          <p:nvPr/>
        </p:nvSpPr>
        <p:spPr>
          <a:xfrm>
            <a:off x="5082778" y="4881890"/>
            <a:ext cx="4729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200" dirty="0"/>
              <a:t>КМИТ, 5 клас, Елена Маврова-Ненкова</a:t>
            </a:r>
          </a:p>
        </p:txBody>
      </p:sp>
      <p:pic>
        <p:nvPicPr>
          <p:cNvPr id="18" name="Picture 17" descr="_em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Успешна</a:t>
            </a: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регистрация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8840" y="1323134"/>
            <a:ext cx="2693729" cy="913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След като щракнете върху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„Създай АБВ Профил"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, се появява съобщение за успешна регистрация.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958840" y="2499470"/>
            <a:ext cx="2693729" cy="1130001"/>
          </a:xfrm>
          <a:prstGeom prst="roundRect">
            <a:avLst>
              <a:gd name="adj" fmla="val 17244"/>
            </a:avLst>
          </a:prstGeom>
          <a:solidFill>
            <a:srgbClr val="B6FCB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261610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6" y="2543412"/>
            <a:ext cx="20257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Вашето АБВ потребителско име е: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ivan_par1975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Вашият имейл адрес е: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ivan_par1975@abv.bg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958840" y="3633451"/>
            <a:ext cx="2693729" cy="609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Влезте в своята поща и изпознайте имейла, който създадохте.</a:t>
            </a:r>
            <a:endParaRPr lang="en-US" sz="1400" dirty="0"/>
          </a:p>
        </p:txBody>
      </p:sp>
      <p:sp>
        <p:nvSpPr>
          <p:cNvPr id="9" name="Текстово поле 1">
            <a:extLst>
              <a:ext uri="{FF2B5EF4-FFF2-40B4-BE49-F238E27FC236}">
                <a16:creationId xmlns:a16="http://schemas.microsoft.com/office/drawing/2014/main" id="{83686BBE-446A-1DFC-BF65-4489B73D16CD}"/>
              </a:ext>
            </a:extLst>
          </p:cNvPr>
          <p:cNvSpPr txBox="1"/>
          <p:nvPr/>
        </p:nvSpPr>
        <p:spPr>
          <a:xfrm>
            <a:off x="2148840" y="4778351"/>
            <a:ext cx="4729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200" dirty="0"/>
              <a:t>КМИТ, 5 клас, Елена Маврова-Ненкова</a:t>
            </a:r>
          </a:p>
        </p:txBody>
      </p:sp>
      <p:pic>
        <p:nvPicPr>
          <p:cNvPr id="10" name="Picture 9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52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Основни</a:t>
            </a: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понятия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931789"/>
            <a:ext cx="2622724" cy="1279996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078310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Електронно писмо (e-mail)</a:t>
            </a:r>
            <a:endParaRPr 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642640" y="2606278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Съобщение, което се изпраща чрез електронна поща.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0601" y="1931789"/>
            <a:ext cx="2622724" cy="1279996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07831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Адрес за електронна поща</a:t>
            </a:r>
            <a:endParaRPr 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6"/>
          <p:cNvSpPr/>
          <p:nvPr/>
        </p:nvSpPr>
        <p:spPr>
          <a:xfrm>
            <a:off x="3407122" y="2384822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Състои се от потребителско име и адрес на пощенски сървър, разделени с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@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25083" y="1931789"/>
            <a:ext cx="2622724" cy="1279996"/>
          </a:xfrm>
          <a:prstGeom prst="roundRect">
            <a:avLst>
              <a:gd name="adj" fmla="val 1661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07831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Пощенска кутия (акаунт)</a:t>
            </a:r>
            <a:endParaRPr 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9"/>
          <p:cNvSpPr/>
          <p:nvPr/>
        </p:nvSpPr>
        <p:spPr>
          <a:xfrm>
            <a:off x="6171605" y="2384822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Лично пространство на пощенския сървър, достъпно с уникален адрес и парола.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6119" y="3371255"/>
            <a:ext cx="8151763" cy="566961"/>
          </a:xfrm>
          <a:prstGeom prst="roundRect">
            <a:avLst>
              <a:gd name="adj" fmla="val 37507"/>
            </a:avLst>
          </a:prstGeom>
          <a:solidFill>
            <a:srgbClr val="CDEFF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572024"/>
            <a:ext cx="177180" cy="14175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72056" y="3476864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Речник: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e-mail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– електронно писмо</a:t>
            </a:r>
            <a:endParaRPr lang="en-US" sz="1400" dirty="0"/>
          </a:p>
        </p:txBody>
      </p:sp>
      <p:sp>
        <p:nvSpPr>
          <p:cNvPr id="15" name="Текстово поле 1">
            <a:extLst>
              <a:ext uri="{FF2B5EF4-FFF2-40B4-BE49-F238E27FC236}">
                <a16:creationId xmlns:a16="http://schemas.microsoft.com/office/drawing/2014/main" id="{7E9DEE9E-D3A6-854D-C1C0-428FEA5EBB48}"/>
              </a:ext>
            </a:extLst>
          </p:cNvPr>
          <p:cNvSpPr txBox="1"/>
          <p:nvPr/>
        </p:nvSpPr>
        <p:spPr>
          <a:xfrm>
            <a:off x="2148840" y="4778351"/>
            <a:ext cx="4729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200" dirty="0"/>
              <a:t>КМИТ, 5 клас, Елена Маврова-Ненкова</a:t>
            </a:r>
          </a:p>
        </p:txBody>
      </p:sp>
      <p:pic>
        <p:nvPicPr>
          <p:cNvPr id="16" name="Picture 15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3309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Правила за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безопасност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644724"/>
            <a:ext cx="8151763" cy="86699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noAutofit/>
          </a:bodyPr>
          <a:lstStyle/>
          <a:p>
            <a:pPr marL="92075" algn="l">
              <a:lnSpc>
                <a:spcPct val="129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Всеки потребител може да получава нежелана електронна поща, наречена </a:t>
            </a:r>
            <a:r>
              <a:rPr lang="en-US" sz="1400" b="1" dirty="0">
                <a:solidFill>
                  <a:srgbClr val="FF0000"/>
                </a:solidFill>
                <a:ea typeface="Manrope Bold" pitchFamily="34" charset="-122"/>
                <a:cs typeface="Manrope Bold" pitchFamily="34" charset="-120"/>
              </a:rPr>
              <a:t>спам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. </a:t>
            </a:r>
            <a:endParaRPr lang="bg-BG" sz="1400" dirty="0">
              <a:ea typeface="Manrope" pitchFamily="34" charset="-122"/>
              <a:cs typeface="Manrope" pitchFamily="34" charset="-120"/>
            </a:endParaRPr>
          </a:p>
          <a:p>
            <a:pPr marL="92075" algn="l">
              <a:lnSpc>
                <a:spcPct val="129000"/>
              </a:lnSpc>
              <a:buNone/>
            </a:pPr>
            <a:r>
              <a:rPr lang="en-US" sz="1400" dirty="0" err="1">
                <a:ea typeface="Manrope" pitchFamily="34" charset="-122"/>
                <a:cs typeface="Manrope" pitchFamily="34" charset="-120"/>
              </a:rPr>
              <a:t>Обикновено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 това са рекламни съобщения, но в някои случаи може да са вируси или други злонамерени съобщения, които могат да навредят на вас или на компютъра ви.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641" y="1818842"/>
            <a:ext cx="199355" cy="199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8018" y="1746333"/>
            <a:ext cx="771986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Не отваряйте съобщения и прикачени файлове от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непознат потребител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2316138"/>
            <a:ext cx="199355" cy="199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018" y="2204025"/>
            <a:ext cx="771986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Не отваряйте съобщение с прикачен файл от познат потребител, което има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страшна тема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. Поискайте потвърждение от изпращача.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2977232"/>
            <a:ext cx="199355" cy="1993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8018" y="2970684"/>
            <a:ext cx="771986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Проверявайте разширенията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 на прикачените файлове. Ако са непознати, консултирайте се с учителя си или с запознат човек.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3638327"/>
            <a:ext cx="199355" cy="1993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018" y="3631778"/>
            <a:ext cx="771986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Не отваряйте писма, маркирани като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спам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, и рекламни съобщения от непознат потребител.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Блокирайте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 адресите, от които ви се изпраща спам.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902" y="4299421"/>
            <a:ext cx="199355" cy="19935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28018" y="4292873"/>
            <a:ext cx="7719864" cy="677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/>
              <a:t>Не отваряйте и не </a:t>
            </a:r>
            <a:r>
              <a:rPr lang="en-US" sz="1400" dirty="0" err="1"/>
              <a:t>изпращайте</a:t>
            </a:r>
            <a:r>
              <a:rPr lang="en-US" sz="1400" dirty="0"/>
              <a:t> </a:t>
            </a:r>
            <a:r>
              <a:rPr lang="en-US" sz="1400" dirty="0" err="1"/>
              <a:t>верижни</a:t>
            </a:r>
            <a:r>
              <a:rPr lang="en-US" sz="1400" dirty="0"/>
              <a:t> </a:t>
            </a:r>
            <a:r>
              <a:rPr lang="en-US" sz="1400" dirty="0" err="1"/>
              <a:t>съобщения</a:t>
            </a:r>
            <a:r>
              <a:rPr lang="en-US" sz="1400" dirty="0"/>
              <a:t> за вирус. Внимавайте с писма, които ви насочват към уеб сайт — той може да се окаже </a:t>
            </a:r>
            <a:r>
              <a:rPr lang="en-US" sz="1400" dirty="0" err="1"/>
              <a:t>фалшив</a:t>
            </a:r>
            <a:r>
              <a:rPr lang="en-US" sz="1400" dirty="0"/>
              <a:t>.</a:t>
            </a:r>
          </a:p>
        </p:txBody>
      </p:sp>
      <p:pic>
        <p:nvPicPr>
          <p:cNvPr id="14" name="Picture 13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66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Любопитно &amp; </a:t>
            </a:r>
            <a:r>
              <a:rPr lang="en-US" sz="25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lexandria Medium" pitchFamily="34" charset="-120"/>
              </a:rPr>
              <a:t>Задачи</a:t>
            </a:r>
            <a:endParaRPr lang="en-US" sz="25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lexandria Medium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2034033"/>
            <a:ext cx="3902943" cy="305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lexandria Medium" pitchFamily="34" charset="-122"/>
                <a:cs typeface="Alexandria Medium" pitchFamily="34" charset="-120"/>
              </a:rPr>
              <a:t>Въпроси и задачи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2397248"/>
            <a:ext cx="3902943" cy="201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Отворете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bg.wikipedia.org/wiki/Електронна_поща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 и прочетете подробности.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Създайте свой профил в </a:t>
            </a:r>
            <a:r>
              <a:rPr lang="en-US" sz="1400" b="1" dirty="0">
                <a:ea typeface="Manrope Bold" pitchFamily="34" charset="-122"/>
                <a:cs typeface="Manrope Bold" pitchFamily="34" charset="-120"/>
              </a:rPr>
              <a:t>mail.google.com</a:t>
            </a:r>
            <a:r>
              <a:rPr lang="en-US" sz="1400" dirty="0">
                <a:ea typeface="Manrope" pitchFamily="34" charset="-122"/>
                <a:cs typeface="Manrope" pitchFamily="34" charset="-120"/>
              </a:rPr>
              <a:t> и изпознайте имейла си.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ea typeface="Manrope" pitchFamily="34" charset="-122"/>
                <a:cs typeface="Manrope" pitchFamily="34" charset="-120"/>
              </a:rPr>
              <a:t>Кои са основните правила за безопасно ползване на електронна поща?</a:t>
            </a:r>
            <a:endParaRPr lang="en-US" sz="1400" dirty="0"/>
          </a:p>
        </p:txBody>
      </p:sp>
      <p:sp>
        <p:nvSpPr>
          <p:cNvPr id="8" name="Текстово поле 1">
            <a:extLst>
              <a:ext uri="{FF2B5EF4-FFF2-40B4-BE49-F238E27FC236}">
                <a16:creationId xmlns:a16="http://schemas.microsoft.com/office/drawing/2014/main" id="{5F0D5EFE-2C44-87A8-914A-80B56747D66C}"/>
              </a:ext>
            </a:extLst>
          </p:cNvPr>
          <p:cNvSpPr txBox="1"/>
          <p:nvPr/>
        </p:nvSpPr>
        <p:spPr>
          <a:xfrm>
            <a:off x="2148840" y="4778351"/>
            <a:ext cx="4729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bg-BG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200" dirty="0"/>
              <a:t>КМИТ, 5 клас, Елена Маврова-Ненкова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E7C216E0-8E2C-3E18-1BF1-E7B379BCB7A3}"/>
              </a:ext>
            </a:extLst>
          </p:cNvPr>
          <p:cNvSpPr/>
          <p:nvPr/>
        </p:nvSpPr>
        <p:spPr>
          <a:xfrm>
            <a:off x="393959" y="1969941"/>
            <a:ext cx="4107135" cy="2550125"/>
          </a:xfrm>
          <a:prstGeom prst="roundRect">
            <a:avLst>
              <a:gd name="adj" fmla="val 16889"/>
            </a:avLst>
          </a:prstGeom>
          <a:solidFill>
            <a:srgbClr val="AAE4FE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6C60B9D-B03F-76F4-8083-76DF4D30583C}"/>
              </a:ext>
            </a:extLst>
          </p:cNvPr>
          <p:cNvSpPr/>
          <p:nvPr/>
        </p:nvSpPr>
        <p:spPr>
          <a:xfrm>
            <a:off x="748382" y="213896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ea typeface="Twemoji Mozilla" pitchFamily="34" charset="-122"/>
                <a:cs typeface="Twemoji Mozilla" pitchFamily="34" charset="-120"/>
              </a:rPr>
              <a:t>🥫</a:t>
            </a:r>
            <a:r>
              <a:rPr lang="en-US" sz="1600" dirty="0">
                <a:solidFill>
                  <a:srgbClr val="000000"/>
                </a:solidFill>
                <a:ea typeface="Alexandria Medium" pitchFamily="34" charset="-122"/>
                <a:cs typeface="Alexandria Medium" pitchFamily="34" charset="-120"/>
              </a:rPr>
              <a:t> Думата „СПАМ"</a:t>
            </a:r>
            <a:endParaRPr lang="en-US" sz="16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B5CC94C-813A-7350-8848-0397C5BF14B9}"/>
              </a:ext>
            </a:extLst>
          </p:cNvPr>
          <p:cNvSpPr/>
          <p:nvPr/>
        </p:nvSpPr>
        <p:spPr>
          <a:xfrm>
            <a:off x="710535" y="2391263"/>
            <a:ext cx="382361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Търговска марка на консерви от свинско месо от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1936 г.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в САЩ. През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1970 г.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придобива световно значение след телевизионен скетч, осмиващ досадната реклама. Постепенно започва да се използва за обозначаване на </a:t>
            </a:r>
            <a:r>
              <a:rPr lang="en-US" sz="1400" b="1" dirty="0">
                <a:solidFill>
                  <a:srgbClr val="000000"/>
                </a:solidFill>
                <a:ea typeface="Manrope Bold" pitchFamily="34" charset="-122"/>
                <a:cs typeface="Manrope Bold" pitchFamily="34" charset="-120"/>
              </a:rPr>
              <a:t>нежелани рекламни съобщения</a:t>
            </a:r>
            <a:r>
              <a:rPr lang="en-US" sz="1400" dirty="0">
                <a:solidFill>
                  <a:srgbClr val="000000"/>
                </a:solidFill>
                <a:ea typeface="Manrope" pitchFamily="34" charset="-122"/>
                <a:cs typeface="Manrope" pitchFamily="34" charset="-120"/>
              </a:rPr>
              <a:t> в компютърните технологии.</a:t>
            </a:r>
            <a:endParaRPr lang="en-US" sz="1400" dirty="0"/>
          </a:p>
        </p:txBody>
      </p:sp>
      <p:pic>
        <p:nvPicPr>
          <p:cNvPr id="12" name="Picture 11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229100"/>
            <a:ext cx="868680" cy="905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831</Words>
  <Application>Microsoft Office PowerPoint</Application>
  <PresentationFormat>Презентация на цял екран (16:9)</PresentationFormat>
  <Paragraphs>89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6" baseType="lpstr">
      <vt:lpstr>Manrope</vt:lpstr>
      <vt:lpstr>Manrope Bold</vt:lpstr>
      <vt:lpstr>Alexandria Medium</vt:lpstr>
      <vt:lpstr>Twemoji Mozilla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4</cp:revision>
  <dcterms:created xsi:type="dcterms:W3CDTF">2026-07-22T07:02:23Z</dcterms:created>
  <dcterms:modified xsi:type="dcterms:W3CDTF">2026-07-22T07:22:37Z</dcterms:modified>
</cp:coreProperties>
</file>