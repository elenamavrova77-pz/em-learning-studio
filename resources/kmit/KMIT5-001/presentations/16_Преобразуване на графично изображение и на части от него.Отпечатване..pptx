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59" r:id="rId1"/>
  </p:sldMasterIdLst>
  <p:notesMasterIdLst>
    <p:notesMasterId r:id="rId10"/>
  </p:notesMasterIdLst>
  <p:sldIdLst>
    <p:sldId id="275" r:id="rId2"/>
    <p:sldId id="283" r:id="rId3"/>
    <p:sldId id="284" r:id="rId4"/>
    <p:sldId id="285" r:id="rId5"/>
    <p:sldId id="286" r:id="rId6"/>
    <p:sldId id="287" r:id="rId7"/>
    <p:sldId id="288" r:id="rId8"/>
    <p:sldId id="276" r:id="rId9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1"/>
      <p:bold r:id="rId12"/>
      <p:italic r:id="rId13"/>
      <p:boldItalic r:id="rId14"/>
    </p:embeddedFont>
    <p:embeddedFont>
      <p:font typeface="Nixie One" panose="020B0604020202020204" charset="0"/>
      <p:regular r:id="rId15"/>
    </p:embeddedFont>
  </p:embeddedFontLst>
  <p:custDataLst>
    <p:tags r:id="rId16"/>
  </p:custDataLst>
  <p:defaultTextStyle>
    <a:defPPr>
      <a:defRPr lang="ru-RU"/>
    </a:defPPr>
    <a:lvl1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algn="l" rtl="0" fontAlgn="base">
      <a:spcBef>
        <a:spcPct val="0"/>
      </a:spcBef>
      <a:spcAft>
        <a:spcPct val="0"/>
      </a:spcAft>
      <a:buClr>
        <a:srgbClr val="000000"/>
      </a:buClr>
      <a:buFont typeface="Arial" charset="0"/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tags" Target="tags/tag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18.xml"/><Relationship Id="rId3" Type="http://schemas.openxmlformats.org/officeDocument/2006/relationships/tags" Target="../tags/tag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3;n"/>
          <p:cNvSpPr>
            <a:spLocks noGrp="1" noRot="1" noChangeAspect="1"/>
          </p:cNvSpPr>
          <p:nvPr>
            <p:ph type="sldImg"/>
            <p:custDataLst>
              <p:tags r:id="rId2"/>
            </p:custDataLst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Google Shape;4;n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136968566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tags" Target="../tags/tag11.xml"/><Relationship Id="rId11" Type="http://schemas.openxmlformats.org/officeDocument/2006/relationships/tags" Target="../tags/tag12.xml"/><Relationship Id="rId12" Type="http://schemas.openxmlformats.org/officeDocument/2006/relationships/tags" Target="../tags/tag13.xml"/><Relationship Id="rId13" Type="http://schemas.openxmlformats.org/officeDocument/2006/relationships/tags" Target="../tags/tag14.xml"/><Relationship Id="rId14" Type="http://schemas.openxmlformats.org/officeDocument/2006/relationships/tags" Target="../tags/tag15.xml"/><Relationship Id="rId15" Type="http://schemas.openxmlformats.org/officeDocument/2006/relationships/tags" Target="../tags/tag16.xml"/><Relationship Id="rId16" Type="http://schemas.openxmlformats.org/officeDocument/2006/relationships/tags" Target="../tags/tag17.xml"/><Relationship Id="rId17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2;p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9100" y="-1581150"/>
            <a:ext cx="8305800" cy="8305800"/>
          </a:xfrm>
          <a:prstGeom prst="ellipse">
            <a:avLst/>
          </a:prstGeom>
          <a:noFill/>
          <a:ln w="9525" cap="flat" algn="ctr">
            <a:solidFill>
              <a:srgbClr val="A1BECC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3" name="Google Shape;173;p11"/>
          <p:cNvSpPr/>
          <p:nvPr>
            <p:custDataLst>
              <p:tags r:id="rId2"/>
            </p:custDataLst>
          </p:nvPr>
        </p:nvSpPr>
        <p:spPr>
          <a:xfrm>
            <a:off x="-163513" y="685800"/>
            <a:ext cx="550863" cy="550863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4" name="Google Shape;174;p11"/>
          <p:cNvSpPr/>
          <p:nvPr>
            <p:custDataLst>
              <p:tags r:id="rId3"/>
            </p:custDataLst>
          </p:nvPr>
        </p:nvSpPr>
        <p:spPr>
          <a:xfrm>
            <a:off x="8204200" y="3898900"/>
            <a:ext cx="447675" cy="447675"/>
          </a:xfrm>
          <a:prstGeom prst="donut">
            <a:avLst>
              <a:gd name="adj" fmla="val 18608"/>
            </a:avLst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5" name="Google Shape;175;p11"/>
          <p:cNvSpPr/>
          <p:nvPr>
            <p:custDataLst>
              <p:tags r:id="rId4"/>
            </p:custDataLst>
          </p:nvPr>
        </p:nvSpPr>
        <p:spPr>
          <a:xfrm>
            <a:off x="100013" y="-196850"/>
            <a:ext cx="741362" cy="741363"/>
          </a:xfrm>
          <a:prstGeom prst="donut">
            <a:avLst>
              <a:gd name="adj" fmla="val 37879"/>
            </a:avLst>
          </a:prstGeom>
          <a:solidFill>
            <a:srgbClr val="00ACC3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6" name="Google Shape;176;p11"/>
          <p:cNvSpPr/>
          <p:nvPr>
            <p:custDataLst>
              <p:tags r:id="rId5"/>
            </p:custDataLst>
          </p:nvPr>
        </p:nvSpPr>
        <p:spPr>
          <a:xfrm>
            <a:off x="419100" y="685800"/>
            <a:ext cx="187325" cy="187325"/>
          </a:xfrm>
          <a:prstGeom prst="ellipse">
            <a:avLst/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7" name="Google Shape;177;p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34375" y="4483100"/>
            <a:ext cx="977900" cy="977900"/>
          </a:xfrm>
          <a:prstGeom prst="ellipse">
            <a:avLst/>
          </a:prstGeom>
          <a:noFill/>
          <a:ln w="9525" cap="flat" algn="ctr">
            <a:solidFill>
              <a:srgbClr val="ED4A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8" name="Google Shape;178;p11"/>
          <p:cNvSpPr/>
          <p:nvPr>
            <p:custDataLst>
              <p:tags r:id="rId7"/>
            </p:custDataLst>
          </p:nvPr>
        </p:nvSpPr>
        <p:spPr>
          <a:xfrm>
            <a:off x="741363" y="4449763"/>
            <a:ext cx="396875" cy="396875"/>
          </a:xfrm>
          <a:prstGeom prst="donut">
            <a:avLst>
              <a:gd name="adj" fmla="val 8754"/>
            </a:avLst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9" name="Google Shape;179;p11"/>
          <p:cNvSpPr/>
          <p:nvPr>
            <p:custDataLst>
              <p:tags r:id="rId8"/>
            </p:custDataLst>
          </p:nvPr>
        </p:nvSpPr>
        <p:spPr>
          <a:xfrm>
            <a:off x="8956675" y="4059238"/>
            <a:ext cx="287338" cy="287337"/>
          </a:xfrm>
          <a:prstGeom prst="ellipse">
            <a:avLst/>
          </a:prstGeom>
          <a:solidFill>
            <a:srgbClr val="ED4A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0" name="Google Shape;180;p11"/>
          <p:cNvSpPr/>
          <p:nvPr>
            <p:custDataLst>
              <p:tags r:id="rId9"/>
            </p:custDataLst>
          </p:nvPr>
        </p:nvSpPr>
        <p:spPr>
          <a:xfrm>
            <a:off x="-163513" y="4278313"/>
            <a:ext cx="741363" cy="741362"/>
          </a:xfrm>
          <a:prstGeom prst="donut">
            <a:avLst>
              <a:gd name="adj" fmla="val 39163"/>
            </a:avLst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1" name="Google Shape;181;p11"/>
          <p:cNvSpPr/>
          <p:nvPr>
            <p:custDataLst>
              <p:tags r:id="rId10"/>
            </p:custDataLst>
          </p:nvPr>
        </p:nvSpPr>
        <p:spPr>
          <a:xfrm>
            <a:off x="8569325" y="4718050"/>
            <a:ext cx="508000" cy="508000"/>
          </a:xfrm>
          <a:prstGeom prst="ellipse">
            <a:avLst/>
          </a:prstGeom>
          <a:solidFill>
            <a:srgbClr val="E8004C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2" name="Google Shape;182;p11"/>
          <p:cNvSpPr/>
          <p:nvPr>
            <p:custDataLst>
              <p:tags r:id="rId11"/>
            </p:custDataLst>
          </p:nvPr>
        </p:nvSpPr>
        <p:spPr>
          <a:xfrm>
            <a:off x="8077200" y="223838"/>
            <a:ext cx="304800" cy="304800"/>
          </a:xfrm>
          <a:prstGeom prst="donut">
            <a:avLst>
              <a:gd name="adj" fmla="val 30568"/>
            </a:avLst>
          </a:prstGeom>
          <a:solidFill>
            <a:srgbClr val="65BB48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3" name="Google Shape;183;p11"/>
          <p:cNvSpPr/>
          <p:nvPr>
            <p:custDataLst>
              <p:tags r:id="rId12"/>
            </p:custDataLst>
          </p:nvPr>
        </p:nvSpPr>
        <p:spPr>
          <a:xfrm>
            <a:off x="8553450" y="328613"/>
            <a:ext cx="585788" cy="585787"/>
          </a:xfrm>
          <a:prstGeom prst="ellipse">
            <a:avLst/>
          </a:prstGeom>
          <a:solidFill>
            <a:srgbClr val="F8BB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4" name="Google Shape;184;p11"/>
          <p:cNvSpPr/>
          <p:nvPr>
            <p:custDataLst>
              <p:tags r:id="rId13"/>
            </p:custDataLst>
          </p:nvPr>
        </p:nvSpPr>
        <p:spPr>
          <a:xfrm>
            <a:off x="8875713" y="1187450"/>
            <a:ext cx="447675" cy="447675"/>
          </a:xfrm>
          <a:prstGeom prst="ellipse">
            <a:avLst/>
          </a:prstGeom>
          <a:solidFill>
            <a:srgbClr val="BBCD00">
              <a:alpha val="8667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5" name="Google Shape;185;p1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8448675" y="223838"/>
            <a:ext cx="793750" cy="793750"/>
          </a:xfrm>
          <a:prstGeom prst="ellipse">
            <a:avLst/>
          </a:prstGeom>
          <a:noFill/>
          <a:ln w="9525" cap="flat" algn="ctr">
            <a:solidFill>
              <a:srgbClr val="F8BB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6" name="Google Shape;186;p11"/>
          <p:cNvSpPr/>
          <p:nvPr>
            <p:custDataLst>
              <p:tags r:id="rId15"/>
            </p:custDataLst>
          </p:nvPr>
        </p:nvSpPr>
        <p:spPr>
          <a:xfrm>
            <a:off x="100013" y="3830638"/>
            <a:ext cx="304800" cy="304800"/>
          </a:xfrm>
          <a:prstGeom prst="ellipse">
            <a:avLst/>
          </a:prstGeom>
          <a:solidFill>
            <a:srgbClr val="00D1C6">
              <a:alpha val="86920"/>
            </a:srgbClr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endParaRPr lang="bg-BG" altLang="bg-BG"/>
          </a:p>
        </p:txBody>
      </p:sp>
      <p:sp>
        <p:nvSpPr>
          <p:cNvPr id="17" name="Google Shape;187;p11"/>
          <p:cNvSpPr txBox="1">
            <a:spLocks noGrp="1"/>
          </p:cNvSpPr>
          <p:nvPr>
            <p:ph type="sldNum" idx="10"/>
            <p:custDataLst>
              <p:tags r:id="rId16"/>
            </p:custDataLst>
          </p:nvPr>
        </p:nvSpPr>
        <p:spPr>
          <a:xfrm>
            <a:off x="4337050" y="4751388"/>
            <a:ext cx="469900" cy="392112"/>
          </a:xfrm>
          <a:ln cap="flat" algn="ctr">
            <a:round/>
            <a:headEnd type="none" w="med" len="med"/>
            <a:tailEnd type="none" w="med" len="med"/>
          </a:ln>
        </p:spPr>
        <p:txBody>
          <a:bodyPr/>
          <a:lstStyle>
            <a:lvl1pPr algn="ctr">
              <a:defRPr/>
            </a:lvl1pPr>
          </a:lstStyle>
          <a:p>
            <a:fld id="{5EF3D7AE-098E-43FA-8D79-176F3C2E230A}" type="slidenum">
              <a:rPr lang="ru-RU" altLang="bg-BG"/>
              <a:pPr/>
              <a:t>‹#›</a:t>
            </a:fld>
            <a:endParaRPr lang="ru-RU" altLang="bg-BG"/>
          </a:p>
        </p:txBody>
      </p:sp>
    </p:spTree>
    <p:extLst>
      <p:ext uri="{BB962C8B-B14F-4D97-AF65-F5344CB8AC3E}">
        <p14:creationId xmlns:p14="http://schemas.microsoft.com/office/powerpoint/2010/main" val="219780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/>
          <p:cNvSpPr>
            <a:spLocks noGrp="1" noChangeArrowheads="1"/>
          </p:cNvSpPr>
          <p:nvPr>
            <p:ph type="title"/>
          </p:nvPr>
        </p:nvSpPr>
        <p:spPr bwMode="auto">
          <a:xfrm>
            <a:off x="2935288" y="909638"/>
            <a:ext cx="52752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/>
          <a:p>
            <a:pPr lvl="0"/>
            <a:endParaRPr lang="bg-BG" altLang="bg-BG">
              <a:sym typeface="Arial" charset="0"/>
            </a:endParaRPr>
          </a:p>
        </p:txBody>
      </p:sp>
      <p:sp>
        <p:nvSpPr>
          <p:cNvPr id="1027" name="Google Shape;7;p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35288" y="1525588"/>
            <a:ext cx="5275262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bg-BG" altLang="bg-BG">
              <a:sym typeface="Arial" charset="0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36000" y="4751388"/>
            <a:ext cx="469900" cy="3921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algn="r" eaLnBrk="0" hangingPunct="0">
              <a:defRPr sz="1200">
                <a:solidFill>
                  <a:srgbClr val="A1BECC"/>
                </a:solidFill>
                <a:latin typeface="Nixie One" charset="0"/>
                <a:sym typeface="Nixie One" charset="0"/>
              </a:defRPr>
            </a:lvl1pPr>
          </a:lstStyle>
          <a:p>
            <a:fld id="{71EAB46A-4FB8-49CE-9625-28B652ADEE0E}" type="slidenum">
              <a:rPr lang="ru-RU" altLang="bg-BG"/>
              <a:pPr/>
              <a:t>‹#›</a:t>
            </a:fld>
            <a:endParaRPr lang="ru-RU" altLang="bg-BG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transition>
    <p:fade thruBlk="1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1pPr>
      <a:lvl2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2pPr>
      <a:lvl3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3pPr>
      <a:lvl4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4pPr>
      <a:lvl5pPr marL="3429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5pPr>
      <a:lvl6pPr marL="8001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6pPr>
      <a:lvl7pPr marL="12573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7pPr>
      <a:lvl8pPr marL="17145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8pPr>
      <a:lvl9pPr marL="2171700" indent="-34290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charset="0"/>
        <a:buChar char="•"/>
        <a:defRPr sz="1400">
          <a:solidFill>
            <a:srgbClr val="000000"/>
          </a:solidFill>
          <a:latin typeface="Arial" charset="0"/>
          <a:cs typeface="Arial" charset="0"/>
          <a:sym typeface="Arial" charset="0"/>
        </a:defRPr>
      </a:lvl9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 поле 5"/>
          <p:cNvSpPr txBox="1"/>
          <p:nvPr/>
        </p:nvSpPr>
        <p:spPr>
          <a:xfrm>
            <a:off x="2272026" y="4546196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147994"/>
            <a:ext cx="1981934" cy="185133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1094590" y="1203598"/>
            <a:ext cx="6747360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36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Преобразуване на графично </a:t>
            </a:r>
          </a:p>
          <a:p>
            <a:pPr algn="ctr"/>
            <a:r>
              <a:rPr lang="bg-BG" sz="36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изображение и </a:t>
            </a:r>
          </a:p>
          <a:p>
            <a:pPr algn="ctr"/>
            <a:r>
              <a:rPr lang="bg-BG" sz="36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на части от него. </a:t>
            </a:r>
          </a:p>
          <a:p>
            <a:pPr algn="ctr"/>
            <a:r>
              <a:rPr lang="bg-BG" sz="36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Отпечатване.</a:t>
            </a:r>
          </a:p>
        </p:txBody>
      </p:sp>
      <p:pic>
        <p:nvPicPr>
          <p:cNvPr id="14340" name="Picture 14339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6275" y="338696"/>
            <a:ext cx="7967663" cy="5001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80" tIns="34290" rIns="68580" bIns="34290" anchor="ctr">
            <a:spAutoFit/>
          </a:bodyPr>
          <a:lstStyle/>
          <a:p>
            <a:pPr defTabSz="685715" fontAlgn="auto"/>
            <a:r>
              <a:rPr lang="ru-RU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1. </a:t>
            </a:r>
            <a:r>
              <a:rPr lang="ru-RU" altLang="ko-KR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Преобразуване</a:t>
            </a:r>
            <a:r>
              <a:rPr lang="ru-RU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на изображение</a:t>
            </a:r>
            <a:endParaRPr lang="ko-KR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13829" y="1226052"/>
            <a:ext cx="7967663" cy="11772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ctr">
            <a:spAutoFit/>
          </a:bodyPr>
          <a:lstStyle/>
          <a:p>
            <a:pPr defTabSz="685715" fontAlgn="auto"/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а) 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Завъртане (</a:t>
            </a:r>
            <a:r>
              <a:rPr lang="en-US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Rotate) 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– 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действие в графичния редактор 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Paint 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разположено в групата инструменти 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Изображение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/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Image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Завъртане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/Rotate</a:t>
            </a:r>
          </a:p>
          <a:p>
            <a:pPr algn="just" defTabSz="685715" fontAlgn="auto"/>
            <a:endParaRPr lang="bg-BG" altLang="ko-KR" sz="1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139702"/>
            <a:ext cx="3741589" cy="238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613829" y="2387506"/>
            <a:ext cx="2664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Преди да използваме някоя от опциите за завъртане, трябва да го  изберем (маркираме).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068" y="3330841"/>
            <a:ext cx="4762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Текстово поле 8"/>
          <p:cNvSpPr txBox="1"/>
          <p:nvPr/>
        </p:nvSpPr>
        <p:spPr>
          <a:xfrm>
            <a:off x="2139163" y="4803998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029" name="Picture 1028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7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76273" y="843558"/>
            <a:ext cx="7967663" cy="31162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ctr">
            <a:spAutoFit/>
          </a:bodyPr>
          <a:lstStyle/>
          <a:p>
            <a:pPr algn="just" defTabSz="685715" fontAlgn="auto"/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б) 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Варианти за промяна спрямо завъртане</a:t>
            </a:r>
          </a:p>
          <a:p>
            <a:pPr marL="257175" indent="-257175" algn="just" defTabSz="685715" fontAlgn="auto">
              <a:buFont typeface="Arial" panose="020B0604020202020204" pitchFamily="34" charset="0"/>
              <a:buChar char="-"/>
            </a:pP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90° надясно (по часовниковата стрелка)</a:t>
            </a:r>
          </a:p>
          <a:p>
            <a:pPr marL="257175" indent="-257175" algn="just" defTabSz="685715" fontAlgn="auto">
              <a:buFont typeface="Arial" panose="020B0604020202020204" pitchFamily="34" charset="0"/>
              <a:buChar char="-"/>
            </a:pP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90° наляво (обратно на часовниковата стрелка)</a:t>
            </a:r>
          </a:p>
          <a:p>
            <a:pPr marL="257175" indent="-257175" algn="just" defTabSz="685715" fontAlgn="auto">
              <a:buFont typeface="Arial" panose="020B0604020202020204" pitchFamily="34" charset="0"/>
              <a:buChar char="-"/>
            </a:pP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180° </a:t>
            </a:r>
          </a:p>
          <a:p>
            <a:pPr algn="just" defTabSz="685715" fontAlgn="auto"/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Тези действия могат да се прилагат многократно до постигане на желания резултат.</a:t>
            </a:r>
          </a:p>
          <a:p>
            <a:pPr algn="just" defTabSz="685715" fontAlgn="auto"/>
            <a:endParaRPr lang="bg-BG" altLang="ko-KR" sz="18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algn="just" defTabSz="685715" fontAlgn="auto"/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в) 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Обръщане </a:t>
            </a:r>
            <a:r>
              <a:rPr lang="en-US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(Flip) 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– 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различава се от завъртането по това, че тук промяната е спрямо долната </a:t>
            </a:r>
            <a:r>
              <a:rPr lang="bg-BG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(</a:t>
            </a:r>
            <a:r>
              <a:rPr lang="en-US" altLang="ko-KR" sz="1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Flip vertical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) или дясната </a:t>
            </a:r>
            <a:r>
              <a:rPr lang="en-US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(Flip horizontal) </a:t>
            </a:r>
            <a:r>
              <a:rPr lang="bg-BG" altLang="ko-KR" sz="18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страна на маркираната област, така че визуално се получава огледален образ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699542"/>
            <a:ext cx="2152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541" y="3795886"/>
            <a:ext cx="21431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Текстово поле 6"/>
          <p:cNvSpPr txBox="1"/>
          <p:nvPr/>
        </p:nvSpPr>
        <p:spPr>
          <a:xfrm>
            <a:off x="2267744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2052" name="Picture 2051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F3D7AE-098E-43FA-8D79-176F3C2E230A}" type="slidenum">
              <a:rPr lang="ru-RU" altLang="bg-BG" smtClean="0"/>
              <a:pPr/>
              <a:t>4</a:t>
            </a:fld>
            <a:endParaRPr lang="ru-RU" altLang="bg-BG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7544" y="529926"/>
            <a:ext cx="6264696" cy="28392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ctr">
            <a:spAutoFit/>
          </a:bodyPr>
          <a:lstStyle/>
          <a:p>
            <a:pPr algn="just" defTabSz="685715"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г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)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Изрязване на определена област (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Crop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)</a:t>
            </a:r>
            <a:r>
              <a:rPr lang="ru-RU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</a:t>
            </a:r>
          </a:p>
          <a:p>
            <a:pPr marL="257175" indent="-257175" defTabSz="685715" fontAlgn="auto">
              <a:buFont typeface="Arial" panose="020B0604020202020204" pitchFamily="34" charset="0"/>
              <a:buChar char="-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След маркиране на определена област се избира командата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Изрязване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Crop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, тогава всичко освен нея изчезва.</a:t>
            </a:r>
          </a:p>
          <a:p>
            <a:pPr algn="just" defTabSz="685715" fontAlgn="auto"/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algn="just" defTabSz="685715" fontAlgn="auto"/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д)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Промяна на размера (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Resize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)</a:t>
            </a:r>
            <a:endParaRPr lang="en-US" altLang="ko-KR" sz="20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</a:endParaRPr>
          </a:p>
          <a:p>
            <a:pPr marL="257175" indent="-257175" defTabSz="685715" fontAlgn="auto">
              <a:buFont typeface="Arial" panose="020B0604020202020204" pitchFamily="34" charset="0"/>
              <a:buChar char="-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Промяната в размера на изображенията се свързва с промяната на броя на пикселите по широчина, височина или и в двете посоки</a:t>
            </a:r>
            <a:endParaRPr lang="ru-RU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666099"/>
            <a:ext cx="19431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7380312" y="668707"/>
            <a:ext cx="100811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953620"/>
            <a:ext cx="1908779" cy="296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авоъгълник 6"/>
          <p:cNvSpPr/>
          <p:nvPr/>
        </p:nvSpPr>
        <p:spPr>
          <a:xfrm>
            <a:off x="7028656" y="2067694"/>
            <a:ext cx="78370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Закръглен правоъгълник 4"/>
          <p:cNvSpPr/>
          <p:nvPr/>
        </p:nvSpPr>
        <p:spPr>
          <a:xfrm>
            <a:off x="7164288" y="2787774"/>
            <a:ext cx="1440160" cy="5813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Текстово поле 8"/>
          <p:cNvSpPr txBox="1"/>
          <p:nvPr/>
        </p:nvSpPr>
        <p:spPr>
          <a:xfrm>
            <a:off x="2267744" y="4817636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3076" name="Picture 3075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4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номер на слайда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F3D7AE-098E-43FA-8D79-176F3C2E230A}" type="slidenum">
              <a:rPr lang="ru-RU" altLang="bg-BG" smtClean="0"/>
              <a:pPr/>
              <a:t>5</a:t>
            </a:fld>
            <a:endParaRPr lang="ru-RU" altLang="bg-BG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FB398CC-13AD-4ED4-8256-7AF641897F6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39552" y="462053"/>
            <a:ext cx="8473678" cy="3770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80" tIns="34290" rIns="68580" bIns="34290" anchor="ctr">
            <a:spAutoFit/>
          </a:bodyPr>
          <a:lstStyle/>
          <a:p>
            <a:pPr defTabSz="685715" fontAlgn="auto"/>
            <a:r>
              <a:rPr lang="ru-RU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е)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Накланяне на изображения</a:t>
            </a:r>
            <a:endParaRPr lang="ko-KR" altLang="en-US" sz="20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9552" y="1193512"/>
            <a:ext cx="5544616" cy="24032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ctr">
            <a:spAutoFit/>
          </a:bodyPr>
          <a:lstStyle/>
          <a:p>
            <a:pPr marL="257175" indent="-257175" defTabSz="685715" fontAlgn="auto">
              <a:spcAft>
                <a:spcPts val="1350"/>
              </a:spcAft>
              <a:buFontTx/>
              <a:buChar char="-"/>
            </a:pPr>
            <a:r>
              <a:rPr lang="ru-RU" altLang="ko-KR" sz="2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Накланянето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на изображения или части от </a:t>
            </a:r>
            <a:r>
              <a:rPr lang="ru-RU" altLang="ko-KR" sz="2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тях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се </a:t>
            </a:r>
            <a:r>
              <a:rPr lang="ru-RU" altLang="ko-KR" sz="2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извършва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от </a:t>
            </a:r>
            <a:r>
              <a:rPr lang="ru-RU" altLang="ko-KR" sz="2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командата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</a:t>
            </a:r>
            <a:r>
              <a:rPr lang="ru-RU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Наклон</a:t>
            </a:r>
            <a:r>
              <a:rPr lang="ru-RU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Skew</a:t>
            </a:r>
          </a:p>
          <a:p>
            <a:pPr marL="257175" indent="-257175" defTabSz="685715" fontAlgn="auto">
              <a:spcAft>
                <a:spcPts val="1350"/>
              </a:spcAft>
              <a:buFontTx/>
              <a:buChar char="-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Наклонът може да се направи спрямо хоризонталната или вертикалната посока, като се посочва под какъв ъгъл да се направи трансформацията</a:t>
            </a:r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771550"/>
            <a:ext cx="2088232" cy="3247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Закръглен правоъгълник 5"/>
          <p:cNvSpPr/>
          <p:nvPr/>
        </p:nvSpPr>
        <p:spPr>
          <a:xfrm>
            <a:off x="6732240" y="2645644"/>
            <a:ext cx="1584176" cy="8622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Правоъгълник 6"/>
          <p:cNvSpPr/>
          <p:nvPr/>
        </p:nvSpPr>
        <p:spPr>
          <a:xfrm>
            <a:off x="6636804" y="921910"/>
            <a:ext cx="78370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Текстово поле 7"/>
          <p:cNvSpPr txBox="1"/>
          <p:nvPr/>
        </p:nvSpPr>
        <p:spPr>
          <a:xfrm>
            <a:off x="2511425" y="481763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9" name="Picture 8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E27F8035-0021-4675-AAB9-A069A72E3D3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1560" y="398823"/>
            <a:ext cx="8061722" cy="5001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80" tIns="34290" rIns="68580" bIns="34290" anchor="ctr">
            <a:spAutoFit/>
          </a:bodyPr>
          <a:lstStyle/>
          <a:p>
            <a:pPr defTabSz="685715" fontAlgn="auto"/>
            <a:r>
              <a:rPr lang="ru-RU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2. </a:t>
            </a:r>
            <a:r>
              <a:rPr lang="ru-RU" altLang="ko-KR" sz="2800" b="1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Отпечатване</a:t>
            </a:r>
            <a:r>
              <a:rPr lang="ru-RU" altLang="ko-KR" sz="28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на изображение</a:t>
            </a:r>
            <a:endParaRPr lang="ko-KR" altLang="en-US" sz="28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3819" y="1039838"/>
            <a:ext cx="8237204" cy="160813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wrap="square" lIns="68580" tIns="34290" rIns="68580" bIns="34290" anchor="ctr">
            <a:spAutoFit/>
          </a:bodyPr>
          <a:lstStyle/>
          <a:p>
            <a:pPr marL="342900" indent="-342900" defTabSz="685715" fontAlgn="auto">
              <a:spcAft>
                <a:spcPts val="0"/>
              </a:spcAft>
              <a:buClr>
                <a:srgbClr val="FFFFFF"/>
              </a:buClr>
              <a:buSzPct val="116000"/>
              <a:buFont typeface="Arial" panose="020B0604020202020204" pitchFamily="34" charset="0"/>
              <a:buChar char="–"/>
            </a:pP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След </a:t>
            </a:r>
            <a:r>
              <a:rPr lang="ru-RU" altLang="ko-KR" sz="2000" dirty="0" err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избор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на </a:t>
            </a:r>
            <a:r>
              <a:rPr lang="ru-RU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Файл</a:t>
            </a:r>
            <a:r>
              <a:rPr lang="ru-RU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File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bg-BG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Печат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/</a:t>
            </a:r>
            <a:r>
              <a:rPr lang="en-US" altLang="ko-KR" sz="20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Print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</a:t>
            </a: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имаме възможност да избираме различни опции: </a:t>
            </a:r>
          </a:p>
          <a:p>
            <a:pPr marL="342900" indent="-342900" defTabSz="685715" fontAlgn="auto">
              <a:spcAft>
                <a:spcPts val="0"/>
              </a:spcAft>
              <a:buClrTx/>
              <a:buSzPct val="116000"/>
              <a:buFont typeface="Wingdings" panose="05000000000000000000" pitchFamily="2" charset="2"/>
              <a:buChar char="ü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Печат/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Print </a:t>
            </a:r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marL="342900" indent="-342900" defTabSz="685715" fontAlgn="auto">
              <a:spcAft>
                <a:spcPts val="0"/>
              </a:spcAft>
              <a:buClrTx/>
              <a:buSzPct val="116000"/>
              <a:buFont typeface="Wingdings" panose="05000000000000000000" pitchFamily="2" charset="2"/>
              <a:buChar char="ü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Настройка на страница/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Page Setup </a:t>
            </a:r>
            <a:endParaRPr lang="bg-BG" altLang="ko-KR" sz="20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marL="342900" indent="-342900" defTabSz="685715" fontAlgn="auto">
              <a:spcAft>
                <a:spcPts val="0"/>
              </a:spcAft>
              <a:buClrTx/>
              <a:buSzPct val="116000"/>
              <a:buFont typeface="Wingdings" panose="05000000000000000000" pitchFamily="2" charset="2"/>
              <a:buChar char="ü"/>
            </a:pPr>
            <a:r>
              <a:rPr lang="bg-BG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Визуализация на печат/</a:t>
            </a:r>
            <a:r>
              <a:rPr lang="en-US" altLang="ko-KR" sz="20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Print preview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283" y="2773396"/>
            <a:ext cx="4536504" cy="225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авоъгълник 5"/>
          <p:cNvSpPr/>
          <p:nvPr/>
        </p:nvSpPr>
        <p:spPr>
          <a:xfrm>
            <a:off x="2241224" y="4580338"/>
            <a:ext cx="1826719" cy="4455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Правоъгълник 6"/>
          <p:cNvSpPr/>
          <p:nvPr/>
        </p:nvSpPr>
        <p:spPr>
          <a:xfrm>
            <a:off x="2241225" y="2931790"/>
            <a:ext cx="50405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4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7534"/>
            <a:ext cx="5472608" cy="281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авоъгълник 2"/>
          <p:cNvSpPr/>
          <p:nvPr/>
        </p:nvSpPr>
        <p:spPr>
          <a:xfrm>
            <a:off x="6139563" y="987573"/>
            <a:ext cx="28720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15" fontAlgn="auto">
              <a:spcAft>
                <a:spcPts val="0"/>
              </a:spcAft>
              <a:buClr>
                <a:srgbClr val="FFFFFF"/>
              </a:buClr>
              <a:buSzPct val="116000"/>
            </a:pPr>
            <a:r>
              <a:rPr lang="en-US" altLang="ko-KR" sz="1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Print</a:t>
            </a:r>
            <a:r>
              <a:rPr lang="en-GB" altLang="ko-KR" sz="1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 </a:t>
            </a:r>
            <a:endParaRPr lang="bg-BG" altLang="ko-KR" sz="16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defTabSz="685715" fontAlgn="auto">
              <a:spcAft>
                <a:spcPts val="0"/>
              </a:spcAft>
              <a:buClr>
                <a:srgbClr val="FFFFFF"/>
              </a:buClr>
              <a:buSzPct val="116000"/>
            </a:pPr>
            <a:r>
              <a:rPr lang="bg-BG" altLang="ko-KR" sz="16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можем да изберем принтера, на който ще се печата, като посочим името му и колко копия да се отпечатат</a:t>
            </a:r>
          </a:p>
        </p:txBody>
      </p:sp>
      <p:sp>
        <p:nvSpPr>
          <p:cNvPr id="4" name="Правоъгълник 3"/>
          <p:cNvSpPr/>
          <p:nvPr/>
        </p:nvSpPr>
        <p:spPr>
          <a:xfrm>
            <a:off x="6176701" y="2787774"/>
            <a:ext cx="20517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15" fontAlgn="auto">
              <a:spcAft>
                <a:spcPts val="0"/>
              </a:spcAft>
              <a:buClr>
                <a:srgbClr val="FFFFFF"/>
              </a:buClr>
              <a:buSzPct val="116000"/>
            </a:pPr>
            <a:r>
              <a:rPr lang="en-US" altLang="ko-KR" sz="1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Page Setup </a:t>
            </a:r>
            <a:endParaRPr lang="bg-BG" altLang="ko-KR" sz="16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pPr defTabSz="685715" fontAlgn="auto">
              <a:spcAft>
                <a:spcPts val="0"/>
              </a:spcAft>
              <a:buClr>
                <a:srgbClr val="FFFFFF"/>
              </a:buClr>
              <a:buSzPct val="116000"/>
            </a:pPr>
            <a:r>
              <a:rPr lang="bg-BG" altLang="ko-KR" sz="16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определя се размерът на хартиения лист, ориентацията и размера на белите полета</a:t>
            </a:r>
          </a:p>
        </p:txBody>
      </p:sp>
      <p:sp>
        <p:nvSpPr>
          <p:cNvPr id="5" name="Правоъгълник 4"/>
          <p:cNvSpPr/>
          <p:nvPr/>
        </p:nvSpPr>
        <p:spPr>
          <a:xfrm>
            <a:off x="3059832" y="3442274"/>
            <a:ext cx="259228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Print Preview </a:t>
            </a:r>
            <a:endParaRPr lang="bg-BG" altLang="ko-KR" sz="1600" b="1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cs typeface="Arial" panose="020B0604020202020204" pitchFamily="34" charset="0"/>
              <a:sym typeface="Wingdings"/>
            </a:endParaRPr>
          </a:p>
          <a:p>
            <a:r>
              <a:rPr lang="bg-BG" altLang="ko-KR" sz="16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Book Antiqua" panose="02040602050305030304" pitchFamily="18" charset="0"/>
                <a:cs typeface="Arial" panose="020B0604020202020204" pitchFamily="34" charset="0"/>
                <a:sym typeface="Wingdings"/>
              </a:rPr>
              <a:t>позволява да видим как ще бъде разположено изображението на листа</a:t>
            </a:r>
            <a:endParaRPr lang="bg-BG" sz="16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>
            <a:off x="4067944" y="2931790"/>
            <a:ext cx="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Съединител &quot;права стрелка&quot; 8"/>
          <p:cNvCxnSpPr/>
          <p:nvPr/>
        </p:nvCxnSpPr>
        <p:spPr>
          <a:xfrm flipV="1">
            <a:off x="5004048" y="1203598"/>
            <a:ext cx="1152128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Съединител &quot;права стрелка&quot; 9"/>
          <p:cNvCxnSpPr/>
          <p:nvPr/>
        </p:nvCxnSpPr>
        <p:spPr>
          <a:xfrm>
            <a:off x="5220072" y="2211710"/>
            <a:ext cx="1008112" cy="5760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Текстово поле 12"/>
          <p:cNvSpPr txBox="1"/>
          <p:nvPr/>
        </p:nvSpPr>
        <p:spPr>
          <a:xfrm>
            <a:off x="2051720" y="4817636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2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авоъгълник 2"/>
          <p:cNvSpPr/>
          <p:nvPr/>
        </p:nvSpPr>
        <p:spPr>
          <a:xfrm>
            <a:off x="2771800" y="160352"/>
            <a:ext cx="346562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bg-BG" sz="36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Упражнение</a:t>
            </a:r>
            <a:endParaRPr lang="bg-BG" sz="36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683568" y="806683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Зад.1</a:t>
            </a:r>
          </a:p>
          <a:p>
            <a:endParaRPr lang="bg-BG" sz="10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Изтеглете файла </a:t>
            </a:r>
            <a:r>
              <a:rPr lang="en-US" sz="1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rotate.png</a:t>
            </a:r>
            <a:r>
              <a:rPr lang="bg-BG" sz="1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приложените материали към урока </a:t>
            </a:r>
            <a:r>
              <a:rPr 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го отворете с програмата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Завъртете изображението на 90</a:t>
            </a:r>
            <a:r>
              <a:rPr lang="bg-BG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наляво и надясно на 180</a:t>
            </a:r>
            <a:r>
              <a:rPr lang="bg-BG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Обърнете изображението по вертикала и хоризонтала.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файла във Вашата работна папка.</a:t>
            </a:r>
          </a:p>
        </p:txBody>
      </p:sp>
      <p:sp>
        <p:nvSpPr>
          <p:cNvPr id="12" name="Текстово поле 11"/>
          <p:cNvSpPr txBox="1"/>
          <p:nvPr/>
        </p:nvSpPr>
        <p:spPr>
          <a:xfrm>
            <a:off x="2411760" y="4659982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755576" y="2931790"/>
            <a:ext cx="8064896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Зад.2</a:t>
            </a:r>
          </a:p>
          <a:p>
            <a:endParaRPr lang="bg-BG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Изтеглете файла </a:t>
            </a:r>
            <a:r>
              <a:rPr lang="en-US" sz="1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kvadrat.png</a:t>
            </a:r>
            <a:r>
              <a:rPr lang="bg-BG" sz="1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приложените материали </a:t>
            </a:r>
            <a:r>
              <a:rPr lang="bg-BG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към урока </a:t>
            </a:r>
            <a:r>
              <a:rPr lang="bg-BG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 отворете с програмата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bg-BG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Наклонете изображението хоризонтално на 30</a:t>
            </a:r>
            <a:r>
              <a:rPr lang="bg-BG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наляво и вертикално на 50</a:t>
            </a:r>
            <a:r>
              <a:rPr lang="bg-BG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файла във Вашата работна папка</a:t>
            </a:r>
          </a:p>
        </p:txBody>
      </p:sp>
      <p:pic>
        <p:nvPicPr>
          <p:cNvPr id="13" name="Picture 12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92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heme/theme1.xml><?xml version="1.0" encoding="utf-8"?>
<a:theme xmlns:a="http://schemas.openxmlformats.org/drawingml/2006/main" name="Puck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ck template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446</Words>
  <Application>Microsoft Office PowerPoint</Application>
  <PresentationFormat>Презентация на цял екран (16:9)</PresentationFormat>
  <Paragraphs>54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4" baseType="lpstr">
      <vt:lpstr>Nixie One</vt:lpstr>
      <vt:lpstr>Times New Roman</vt:lpstr>
      <vt:lpstr>Wingdings</vt:lpstr>
      <vt:lpstr>Book Antiqua</vt:lpstr>
      <vt:lpstr>Arial</vt:lpstr>
      <vt:lpstr>Puck template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Вмъкване на текст в графично изображение. Характеристики на символите</dc:title>
  <dc:creator>Елена Маврова-Ненкова</dc:creator>
  <cp:lastModifiedBy>Elena Nenkova</cp:lastModifiedBy>
  <cp:revision>41</cp:revision>
  <cp:lastPrinted>1601-01-01T00:00:00Z</cp:lastPrinted>
  <dcterms:created xsi:type="dcterms:W3CDTF">1601-01-01T00:00:00Z</dcterms:created>
  <dcterms:modified xsi:type="dcterms:W3CDTF">2026-07-22T09:14:35Z</dcterms:modified>
</cp:coreProperties>
</file>