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raunces Extra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3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e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35182"/>
            <a:ext cx="4722763" cy="1559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Създаване и използване на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собствени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блоков</a:t>
            </a:r>
            <a:r>
              <a:rPr 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е и подпрограми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494211"/>
            <a:ext cx="4722763" cy="851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Упражнение по програмиране с Scratch — задачи за д</a:t>
            </a:r>
            <a:r>
              <a:rPr lang="bg-BG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ъжд</a:t>
            </a:r>
            <a:r>
              <a:rPr lang="en-US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, променливи и сортиране</a:t>
            </a:r>
            <a:endParaRPr lang="en-US" dirty="0"/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A64EB2D0-7D19-1132-002B-8D90F0A4A400}"/>
              </a:ext>
            </a:extLst>
          </p:cNvPr>
          <p:cNvSpPr txBox="1"/>
          <p:nvPr/>
        </p:nvSpPr>
        <p:spPr>
          <a:xfrm>
            <a:off x="-157018" y="4483716"/>
            <a:ext cx="4729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КМИТ, 5 клас, Елена Маврова-Ненкова</a:t>
            </a:r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008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Задача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 1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Д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ъ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ж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д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 с</a:t>
            </a:r>
            <a:r>
              <a:rPr lang="bg-BG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ъс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Fraunces ExtraBold" pitchFamily="34" charset="-122"/>
                <a:cs typeface="Calibri" panose="020F0502020204030204" pitchFamily="34" charset="0"/>
              </a:rPr>
              <a:t> Scratch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41884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Създаваме анимация на дъжд с помощта на герои-капки. Алгоритъмът включва три основни стъпки: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151757"/>
            <a:ext cx="708794" cy="850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75671" y="2293516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Нов герой</a:t>
            </a:r>
            <a:endParaRPr lang="en-US" sz="1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3"/>
          <p:cNvSpPr/>
          <p:nvPr/>
        </p:nvSpPr>
        <p:spPr>
          <a:xfrm>
            <a:off x="4775671" y="2600027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Рисуваме капка в редактора за герои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002310"/>
            <a:ext cx="708794" cy="8505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75671" y="3144069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50 копия</a:t>
            </a:r>
            <a:endParaRPr lang="en-US" sz="1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5"/>
          <p:cNvSpPr/>
          <p:nvPr/>
        </p:nvSpPr>
        <p:spPr>
          <a:xfrm>
            <a:off x="4775671" y="3450580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Създаваме 50 клонинга на героя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852862"/>
            <a:ext cx="708794" cy="850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5671" y="3994621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Движение</a:t>
            </a:r>
            <a:endParaRPr lang="en-US" sz="1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7"/>
          <p:cNvSpPr/>
          <p:nvPr/>
        </p:nvSpPr>
        <p:spPr>
          <a:xfrm>
            <a:off x="4775671" y="4301133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Всяка капка пада отгоре надолу за различно време</a:t>
            </a:r>
            <a:endParaRPr lang="en-US" sz="1400" dirty="0"/>
          </a:p>
        </p:txBody>
      </p:sp>
      <p:pic>
        <p:nvPicPr>
          <p:cNvPr id="14" name="Picture 13" descr="_em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455" y="8864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Изпълнение</a:t>
            </a:r>
            <a:endParaRPr lang="bg-BG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4000"/>
              </a:lnSpc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Стъпка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Създаване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 на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героя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04000"/>
              </a:lnSpc>
            </a:pP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92824" y="394969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715757" y="1557486"/>
            <a:ext cx="310306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Рисуваме капка в редактора. Задаваме: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88939" y="1846139"/>
            <a:ext cx="2645866" cy="153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Блок за стартиране</a:t>
            </a:r>
            <a:endParaRPr lang="en-US" sz="14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Случайна X координата (от -240 до 240)</a:t>
            </a:r>
            <a:endParaRPr lang="en-US" sz="14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Y координата -180 (долната част на сцената)</a:t>
            </a:r>
            <a:endParaRPr lang="en-US" sz="14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Блок „променяне" за движение надолу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05812" y="3879246"/>
            <a:ext cx="2936406" cy="865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Пробваме различни стойности за времето на „променяне", за да намерим най-подходящия ефект.</a:t>
            </a:r>
            <a:endParaRPr lang="en-US" sz="1400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AC23184C-BDAD-A127-0B94-DB10F450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97" t="40539" r="30378" b="18922"/>
          <a:stretch>
            <a:fillRect/>
          </a:stretch>
        </p:blipFill>
        <p:spPr>
          <a:xfrm>
            <a:off x="484908" y="1184157"/>
            <a:ext cx="4655127" cy="3870699"/>
          </a:xfrm>
          <a:prstGeom prst="rect">
            <a:avLst/>
          </a:prstGeom>
        </p:spPr>
      </p:pic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710" y="142685"/>
            <a:ext cx="8239172" cy="1143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Изпълнение</a:t>
            </a:r>
            <a:endParaRPr lang="bg-BG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Стъпка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2: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Клониране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8710" y="1269640"/>
            <a:ext cx="3514772" cy="300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ea typeface="Fraunces ExtraBold" pitchFamily="34" charset="-122"/>
                <a:cs typeface="Fraunces ExtraBold" pitchFamily="34" charset="-120"/>
              </a:rPr>
              <a:t>Блокове за клониране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408709" y="1635797"/>
            <a:ext cx="4107873" cy="885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Използваме блока </a:t>
            </a: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„създай клонинг на себе си"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в цикъл от 50 повторения (секция „Контрол").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8710" y="2224463"/>
            <a:ext cx="4052164" cy="1894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При стартиране на клонинга — задаваме случайно X</a:t>
            </a:r>
            <a:endParaRPr lang="en-US" sz="14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Добавяме забавяне, за да не падат всички едновременно</a:t>
            </a:r>
            <a:endParaRPr lang="en-US" sz="14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 подходящи стойности дъждът трае 5–6 секунди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8710" y="3944183"/>
            <a:ext cx="4006306" cy="763943"/>
          </a:xfrm>
          <a:prstGeom prst="roundRect">
            <a:avLst>
              <a:gd name="adj" fmla="val 17200"/>
            </a:avLst>
          </a:prstGeom>
          <a:solidFill>
            <a:srgbClr val="DDEE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85" y="4044278"/>
            <a:ext cx="269353" cy="215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4238" y="3990054"/>
            <a:ext cx="3600778" cy="810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Въпрос: </a:t>
            </a:r>
            <a:endParaRPr lang="bg-BG" sz="1400" dirty="0">
              <a:solidFill>
                <a:srgbClr val="000000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Как</a:t>
            </a:r>
            <a:r>
              <a:rPr lang="en-US" sz="14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 да направим дъждът да трае 10 секунди?</a:t>
            </a:r>
            <a:endParaRPr lang="en-US" sz="1400" dirty="0"/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5DD77166-62AC-6B99-D059-FD9E7C877E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349" t="49024" r="14772" b="15152"/>
          <a:stretch>
            <a:fillRect/>
          </a:stretch>
        </p:blipFill>
        <p:spPr>
          <a:xfrm>
            <a:off x="4952408" y="896647"/>
            <a:ext cx="4052166" cy="3904189"/>
          </a:xfrm>
          <a:prstGeom prst="rect">
            <a:avLst/>
          </a:prstGeom>
        </p:spPr>
      </p:pic>
      <p:pic>
        <p:nvPicPr>
          <p:cNvPr id="14" name="Picture 13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Задача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</a:t>
            </a:r>
            <a:r>
              <a:rPr lang="bg-BG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оле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т </a:t>
            </a:r>
            <a:r>
              <a:rPr lang="bg-BG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съ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 Scratch</a:t>
            </a:r>
          </a:p>
        </p:txBody>
      </p:sp>
      <p:sp>
        <p:nvSpPr>
          <p:cNvPr id="4" name="Text 1"/>
          <p:cNvSpPr/>
          <p:nvPr/>
        </p:nvSpPr>
        <p:spPr>
          <a:xfrm>
            <a:off x="3925119" y="2667371"/>
            <a:ext cx="4722763" cy="1786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Подобно на дъжда, но капките трябва да се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привличат и летят настрани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в случайна посока. </a:t>
            </a: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Разделяме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п</a:t>
            </a:r>
            <a:r>
              <a:rPr lang="bg-BG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о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л</a:t>
            </a:r>
            <a:r>
              <a:rPr lang="bg-BG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е</a:t>
            </a: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тът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на няколко стъпки, като X координатата се променя с произволно случайно число.</a:t>
            </a:r>
            <a:endParaRPr lang="en-US" sz="1600" dirty="0"/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218" y="5961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Задача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Размяна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стойности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1218" y="16912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Имаме две променливи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A и B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със случайни стойности (1–100). Опитваме да ги разменим: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4656" y="2452130"/>
            <a:ext cx="3937844" cy="1546697"/>
          </a:xfrm>
          <a:prstGeom prst="rect">
            <a:avLst/>
          </a:prstGeom>
          <a:ln/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indent="90488" algn="l">
              <a:lnSpc>
                <a:spcPct val="114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600" dirty="0">
                <a:solidFill>
                  <a:srgbClr val="3B4540"/>
                </a:solidFill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Грешен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подход</a:t>
            </a:r>
            <a:endParaRPr lang="bg-BG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Fraunces ExtraBold" pitchFamily="34" charset="-122"/>
              <a:cs typeface="Fraunces ExtraBold" pitchFamily="34" charset="-120"/>
            </a:endParaRPr>
          </a:p>
          <a:p>
            <a:pPr indent="90488">
              <a:lnSpc>
                <a:spcPct val="114000"/>
              </a:lnSpc>
            </a:pP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Ако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директно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зададем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b="1" dirty="0">
                <a:solidFill>
                  <a:schemeClr val="tx1"/>
                </a:solidFill>
                <a:ea typeface="Nobile Bold" pitchFamily="34" charset="-122"/>
                <a:cs typeface="Nobile Bold" pitchFamily="34" charset="-120"/>
              </a:rPr>
              <a:t>A ← B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, </a:t>
            </a:r>
            <a:endParaRPr lang="bg-BG" sz="1600" dirty="0">
              <a:solidFill>
                <a:schemeClr val="tx1"/>
              </a:solidFill>
              <a:ea typeface="Nobile" pitchFamily="34" charset="-122"/>
              <a:cs typeface="Nobile" pitchFamily="34" charset="-120"/>
            </a:endParaRPr>
          </a:p>
          <a:p>
            <a:pPr indent="90488">
              <a:lnSpc>
                <a:spcPct val="114000"/>
              </a:lnSpc>
            </a:pP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старата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стойност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на A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се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ea typeface="Nobile Bold" pitchFamily="34" charset="-122"/>
                <a:cs typeface="Nobile Bold" pitchFamily="34" charset="-120"/>
              </a:rPr>
              <a:t>губи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и </a:t>
            </a:r>
            <a:endParaRPr lang="bg-BG" sz="1600" dirty="0">
              <a:solidFill>
                <a:schemeClr val="tx1"/>
              </a:solidFill>
              <a:ea typeface="Nobile" pitchFamily="34" charset="-122"/>
              <a:cs typeface="Nobile" pitchFamily="34" charset="-120"/>
            </a:endParaRPr>
          </a:p>
          <a:p>
            <a:pPr indent="90488">
              <a:lnSpc>
                <a:spcPct val="114000"/>
              </a:lnSpc>
            </a:pP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двете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променливи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получават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еднаква</a:t>
            </a:r>
            <a:endParaRPr lang="bg-BG" sz="1600" dirty="0">
              <a:solidFill>
                <a:schemeClr val="tx1"/>
              </a:solidFill>
              <a:ea typeface="Nobile" pitchFamily="34" charset="-122"/>
              <a:cs typeface="Nobile" pitchFamily="34" charset="-120"/>
            </a:endParaRPr>
          </a:p>
          <a:p>
            <a:pPr indent="90488">
              <a:lnSpc>
                <a:spcPct val="114000"/>
              </a:lnSpc>
            </a:pPr>
            <a:r>
              <a:rPr lang="en-US" sz="1600" dirty="0" err="1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стойност</a:t>
            </a:r>
            <a:r>
              <a:rPr lang="en-US" sz="1600" dirty="0">
                <a:solidFill>
                  <a:schemeClr val="tx1"/>
                </a:solidFill>
                <a:ea typeface="Nobile" pitchFamily="34" charset="-122"/>
                <a:cs typeface="Nobile" pitchFamily="34" charset="-120"/>
              </a:rPr>
              <a:t>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algn="l">
              <a:lnSpc>
                <a:spcPct val="114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4993" y="2788889"/>
            <a:ext cx="3817171" cy="137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47605" y="2425674"/>
            <a:ext cx="4107135" cy="1546697"/>
          </a:xfrm>
          <a:prstGeom prst="roundRect">
            <a:avLst>
              <a:gd name="adj" fmla="val 12091"/>
            </a:avLst>
          </a:prstGeom>
          <a:ln/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7" name="Text 5"/>
          <p:cNvSpPr/>
          <p:nvPr/>
        </p:nvSpPr>
        <p:spPr>
          <a:xfrm>
            <a:off x="4765699" y="2550616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00" dirty="0">
                <a:solidFill>
                  <a:srgbClr val="000000"/>
                </a:solidFill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Правилният подход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4789363" y="2788890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Използваме </a:t>
            </a:r>
            <a:r>
              <a:rPr lang="en-US" sz="1600" b="1" dirty="0">
                <a:solidFill>
                  <a:srgbClr val="000000"/>
                </a:solidFill>
                <a:ea typeface="Nobile Bold" pitchFamily="34" charset="-122"/>
                <a:cs typeface="Nobile Bold" pitchFamily="34" charset="-120"/>
              </a:rPr>
              <a:t>допълнителна променлива X</a:t>
            </a:r>
            <a:r>
              <a:rPr lang="en-US" sz="16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89363" y="3143250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X ← A (запазваме A)</a:t>
            </a:r>
            <a:endParaRPr lang="en-US" sz="16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A ← B</a:t>
            </a:r>
            <a:endParaRPr lang="en-US" sz="16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B ← X</a:t>
            </a:r>
            <a:endParaRPr lang="en-US" sz="1600" dirty="0"/>
          </a:p>
        </p:txBody>
      </p:sp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116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Алгоритъм за размяна с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трета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207666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B←X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A←B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39012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X←A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1592" y="3926193"/>
            <a:ext cx="8151763" cy="647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Реализирайте размяната в Scratch с допълнителна променлива X. </a:t>
            </a:r>
            <a:endParaRPr lang="bg-BG" sz="1400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Добавете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блок за изчисляване при натискане на клавиш (напр. „интервал") и проверете резултата.</a:t>
            </a:r>
            <a:endParaRPr lang="en-US" sz="1400" dirty="0"/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293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Задача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4</a:t>
            </a:r>
            <a:r>
              <a:rPr lang="bg-BG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Размяна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без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трета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20" y="1745442"/>
            <a:ext cx="8151688" cy="63937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Може ли да разменим A и B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без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допълнителна променлива? </a:t>
            </a:r>
            <a:endParaRPr lang="bg-BG" sz="1600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Да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, с аритметични операции: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6119" y="252658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66833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Стъпка 1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637877" y="297485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A ← A + 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60601" y="252658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266833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Стъпка</a:t>
            </a:r>
            <a:r>
              <a:rPr lang="en-US" dirty="0">
                <a:solidFill>
                  <a:srgbClr val="405449"/>
                </a:solidFill>
                <a:ea typeface="Fraunces ExtraBold" pitchFamily="34" charset="-122"/>
                <a:cs typeface="Fraunces ExtraBold" pitchFamily="34" charset="-120"/>
              </a:rPr>
              <a:t> 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2360" y="297485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B ← A − 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25083" y="2526581"/>
            <a:ext cx="2622724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2668339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Стъпка 3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66842" y="2974851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A ← A −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119" y="3502893"/>
            <a:ext cx="8151763" cy="7019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След трите стъпки стойностите на A и B са разменени. </a:t>
            </a:r>
            <a:endParaRPr lang="bg-BG" sz="1600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r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Проверете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 конкретни числа!</a:t>
            </a:r>
            <a:endParaRPr lang="en-US" sz="1600" dirty="0"/>
          </a:p>
        </p:txBody>
      </p:sp>
      <p:pic>
        <p:nvPicPr>
          <p:cNvPr id="14" name="Picture 13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026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Подреждане на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три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числа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4685" y="1249894"/>
            <a:ext cx="4037315" cy="493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B4540"/>
                </a:solidFill>
                <a:ea typeface="Fraunces ExtraBold" pitchFamily="34" charset="-122"/>
                <a:cs typeface="Fraunces ExtraBold" pitchFamily="34" charset="-120"/>
              </a:rPr>
              <a:t>Алгоритъм за сортиране</a:t>
            </a:r>
            <a:endParaRPr lang="en-US" b="1" dirty="0"/>
          </a:p>
        </p:txBody>
      </p:sp>
      <p:sp>
        <p:nvSpPr>
          <p:cNvPr id="5" name="Text 2"/>
          <p:cNvSpPr/>
          <p:nvPr/>
        </p:nvSpPr>
        <p:spPr>
          <a:xfrm>
            <a:off x="534684" y="1715850"/>
            <a:ext cx="4037315" cy="97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Създайте блок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„подреждане"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с променливи A, B, C и помощна X: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4685" y="2389835"/>
            <a:ext cx="4037315" cy="165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Ако A &gt; B → размени A и B</a:t>
            </a:r>
            <a:endParaRPr lang="en-US" sz="1600" dirty="0"/>
          </a:p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Ако B &gt; C → размени B и C</a:t>
            </a:r>
            <a:endParaRPr lang="en-US" sz="1600" dirty="0"/>
          </a:p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Ако A &gt; B → размени A и 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6119" y="3496750"/>
            <a:ext cx="4037315" cy="107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Резултат: </a:t>
            </a:r>
            <a:r>
              <a:rPr lang="en-US" sz="16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A ≤ B ≤ C</a:t>
            </a:r>
            <a:r>
              <a:rPr lang="en-US" sz="16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Изведете съобщения: „Най-малкото е A", „Второто е B", „Третото е C".</a:t>
            </a:r>
            <a:endParaRPr lang="en-US" sz="1600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F1231CE0-2838-99FA-8CC9-86986366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1" t="16087" r="67803" b="9091"/>
          <a:stretch>
            <a:fillRect/>
          </a:stretch>
        </p:blipFill>
        <p:spPr>
          <a:xfrm>
            <a:off x="4765964" y="248477"/>
            <a:ext cx="3102953" cy="4646546"/>
          </a:xfrm>
          <a:prstGeom prst="rect">
            <a:avLst/>
          </a:prstGeom>
        </p:spPr>
      </p:pic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4035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Сортиране на поредица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от</a:t>
            </a:r>
            <a:r>
              <a:rPr lang="en-US" sz="2800" b="1" dirty="0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3B454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числа</a:t>
            </a:r>
            <a:endParaRPr lang="en-US" sz="2800" b="1" dirty="0">
              <a:solidFill>
                <a:srgbClr val="3B454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6847" y="1906984"/>
            <a:ext cx="4671626" cy="835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Съществуват различни алгоритми за сортиране. </a:t>
            </a:r>
            <a:endParaRPr lang="bg-BG" sz="1400" dirty="0">
              <a:solidFill>
                <a:srgbClr val="405449"/>
              </a:solidFill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Един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от най-простите е </a:t>
            </a: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„Методът на </a:t>
            </a:r>
            <a:r>
              <a:rPr lang="en-US" sz="1400" b="1" dirty="0" err="1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измерението</a:t>
            </a:r>
            <a:r>
              <a:rPr lang="en-US" sz="1400" b="1" dirty="0">
                <a:solidFill>
                  <a:srgbClr val="405449"/>
                </a:solidFill>
                <a:ea typeface="Nobile Bold" pitchFamily="34" charset="-122"/>
                <a:cs typeface="Nobile Bold" pitchFamily="34" charset="-120"/>
              </a:rPr>
              <a:t>"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</a:t>
            </a:r>
            <a:r>
              <a:rPr lang="bg-BG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847" y="2933980"/>
            <a:ext cx="5080335" cy="16077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825" y="3163443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40544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Fraunces ExtraBold" pitchFamily="34" charset="-122"/>
                <a:cs typeface="Fraunces ExtraBold" pitchFamily="34" charset="-120"/>
              </a:rPr>
              <a:t>Задача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3"/>
          <p:cNvSpPr/>
          <p:nvPr/>
        </p:nvSpPr>
        <p:spPr>
          <a:xfrm>
            <a:off x="630825" y="3474796"/>
            <a:ext cx="4672378" cy="973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Отворете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bg-BG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сайта </a:t>
            </a:r>
            <a:r>
              <a:rPr lang="en-US" sz="1400" b="1" u="sng" dirty="0">
                <a:solidFill>
                  <a:srgbClr val="438951"/>
                </a:solidFill>
                <a:ea typeface="Nobile Bold" pitchFamily="34" charset="-122"/>
                <a:cs typeface="Nobile Bold" pitchFamily="34" charset="-120"/>
              </a:rPr>
              <a:t>www.kmit.com</a:t>
            </a:r>
            <a:r>
              <a:rPr lang="bg-BG" sz="1400" b="1" u="sng" dirty="0">
                <a:solidFill>
                  <a:srgbClr val="438951"/>
                </a:solidFill>
                <a:ea typeface="Nobile Bold" pitchFamily="34" charset="-122"/>
                <a:cs typeface="Nobile Bold" pitchFamily="34" charset="-120"/>
              </a:rPr>
              <a:t>, 5 клас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и </a:t>
            </a:r>
            <a:r>
              <a:rPr lang="bg-BG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намерете линка „Сортиране по метода на мехурчето“. Р</a:t>
            </a:r>
            <a:r>
              <a:rPr lang="en-US" sz="1400" dirty="0" err="1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азгледайте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bg-BG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видеото</a:t>
            </a:r>
            <a:r>
              <a:rPr lang="en-US" sz="1400" dirty="0">
                <a:solidFill>
                  <a:srgbClr val="405449"/>
                </a:solidFill>
                <a:ea typeface="Nobile" pitchFamily="34" charset="-122"/>
                <a:cs typeface="Nobile" pitchFamily="34" charset="-120"/>
              </a:rPr>
              <a:t>. Опитайте се да обясните с думи действието по подреждане.</a:t>
            </a:r>
            <a:endParaRPr lang="en-US" sz="1400" dirty="0"/>
          </a:p>
        </p:txBody>
      </p:sp>
      <p:pic>
        <p:nvPicPr>
          <p:cNvPr id="8" name="Picture 7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3895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557</Words>
  <Application>Microsoft Office PowerPoint</Application>
  <PresentationFormat>Презентация на цял екран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7" baseType="lpstr">
      <vt:lpstr>Nobile Bold</vt:lpstr>
      <vt:lpstr>Twemoji Mozilla</vt:lpstr>
      <vt:lpstr>Fraunces ExtraBold</vt:lpstr>
      <vt:lpstr>Nobile</vt:lpstr>
      <vt:lpstr>Calibri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3</cp:revision>
  <dcterms:created xsi:type="dcterms:W3CDTF">2026-07-22T10:43:05Z</dcterms:created>
  <dcterms:modified xsi:type="dcterms:W3CDTF">2026-07-22T12:09:18Z</dcterms:modified>
</cp:coreProperties>
</file>