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sldIdLst>
    <p:sldId id="256" r:id="rId2"/>
    <p:sldId id="257" r:id="rId3"/>
    <p:sldId id="259" r:id="rId4"/>
    <p:sldId id="258" r:id="rId5"/>
    <p:sldId id="262" r:id="rId6"/>
    <p:sldId id="260" r:id="rId7"/>
  </p:sldIdLst>
  <p:sldSz cx="9144000" cy="6858000" type="screen4x3"/>
  <p:notesSz cx="6858000" cy="9144000"/>
  <p:defaultTextStyle>
    <a:defPPr>
      <a:defRPr lang="bg-BG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522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Заглавен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05000"/>
            <a:ext cx="7543800" cy="2593975"/>
          </a:xfrm>
        </p:spPr>
        <p:txBody>
          <a:bodyPr anchor="b"/>
          <a:lstStyle>
            <a:lvl1pPr>
              <a:defRPr sz="6600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4572000"/>
            <a:ext cx="6461760" cy="1066800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bg-BG"/>
              <a:t>Щракнете за редакция стил подзагл. обр.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35390D20-E608-1A00-E906-E71FEEBFEB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73A8F2B-19C8-493E-B90B-4E296C2CAC72}" type="slidenum">
              <a:rPr lang="bg-BG" altLang="bg-BG"/>
              <a:pPr/>
              <a:t>‹#›</a:t>
            </a:fld>
            <a:endParaRPr lang="bg-BG" altLang="bg-B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B25798-F566-7CD9-6504-50CE0BFA9A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bg-BG" altLang="bg-BG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A5035B86-8399-A0B9-5581-7FF7BB370F9A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bg-BG" altLang="bg-BG"/>
          </a:p>
        </p:txBody>
      </p:sp>
    </p:spTree>
    <p:extLst>
      <p:ext uri="{BB962C8B-B14F-4D97-AF65-F5344CB8AC3E}">
        <p14:creationId xmlns:p14="http://schemas.microsoft.com/office/powerpoint/2010/main" val="36071472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лавие и съдържа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Редакт. стил загл. образец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9708F3C-1FD1-488E-CE3E-D72D98AD1C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FD81597-7721-4884-8E8A-D916EC6ED034}" type="slidenum">
              <a:rPr lang="bg-BG" altLang="bg-BG"/>
              <a:pPr/>
              <a:t>‹#›</a:t>
            </a:fld>
            <a:endParaRPr lang="bg-BG" altLang="bg-B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D14DFB-7EC1-090C-C06E-D1AE1CD9C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bg-BG" altLang="bg-BG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B5B880DD-B728-85EC-996D-6C1AFE76CF3E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bg-BG" altLang="bg-BG"/>
          </a:p>
        </p:txBody>
      </p:sp>
    </p:spTree>
    <p:extLst>
      <p:ext uri="{BB962C8B-B14F-4D97-AF65-F5344CB8AC3E}">
        <p14:creationId xmlns:p14="http://schemas.microsoft.com/office/powerpoint/2010/main" val="27496290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лавка на секци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486400"/>
            <a:ext cx="7659687" cy="1168400"/>
          </a:xfrm>
        </p:spPr>
        <p:txBody>
          <a:bodyPr anchor="t"/>
          <a:lstStyle>
            <a:lvl1pPr algn="l">
              <a:defRPr sz="3600" b="0" cap="all"/>
            </a:lvl1pPr>
          </a:lstStyle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852863"/>
            <a:ext cx="6135687" cy="16335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386F1FEC-2E97-701C-9125-C1F89EC4A1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BA6D094-324A-486A-88F6-16D91DAC946D}" type="slidenum">
              <a:rPr lang="bg-BG" altLang="bg-BG"/>
              <a:pPr/>
              <a:t>‹#›</a:t>
            </a:fld>
            <a:endParaRPr lang="bg-BG" altLang="bg-B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077566-C9D7-A405-250E-2DB15FE45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bg-BG" altLang="bg-BG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ACF743A5-1081-4167-B292-FED8E45D5147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bg-BG" altLang="bg-BG"/>
          </a:p>
        </p:txBody>
      </p:sp>
    </p:spTree>
    <p:extLst>
      <p:ext uri="{BB962C8B-B14F-4D97-AF65-F5344CB8AC3E}">
        <p14:creationId xmlns:p14="http://schemas.microsoft.com/office/powerpoint/2010/main" val="10908254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е съдържани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Редакт. стил загл. образец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96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1625871-8B54-28D3-F913-D63227B27B5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1B265AF-DB13-4170-B507-81CA78CF9035}" type="slidenum">
              <a:rPr lang="bg-BG" altLang="bg-BG"/>
              <a:pPr/>
              <a:t>‹#›</a:t>
            </a:fld>
            <a:endParaRPr lang="bg-BG" altLang="bg-BG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A519541C-B77C-8AF0-F126-A871F6456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bg-BG" altLang="bg-BG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32435E71-4412-38A1-8FA4-F7A295128845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bg-BG" altLang="bg-BG"/>
          </a:p>
        </p:txBody>
      </p:sp>
    </p:spTree>
    <p:extLst>
      <p:ext uri="{BB962C8B-B14F-4D97-AF65-F5344CB8AC3E}">
        <p14:creationId xmlns:p14="http://schemas.microsoft.com/office/powerpoint/2010/main" val="42667668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bg-BG"/>
              <a:t>Редакт. стил загл. образец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196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196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CCE5D34-9BFD-F7C5-848B-7402E049EE1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B205FC5-78B5-413D-BB4A-6E1ABE781451}" type="slidenum">
              <a:rPr lang="bg-BG" altLang="bg-BG"/>
              <a:pPr/>
              <a:t>‹#›</a:t>
            </a:fld>
            <a:endParaRPr lang="bg-BG" altLang="bg-BG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C8F5F291-2B63-314F-A0AC-B6CC76965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bg-BG" altLang="bg-BG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0E22AB40-8A86-BA00-2515-EC951FBC2C9C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bg-BG" altLang="bg-BG"/>
          </a:p>
        </p:txBody>
      </p:sp>
    </p:spTree>
    <p:extLst>
      <p:ext uri="{BB962C8B-B14F-4D97-AF65-F5344CB8AC3E}">
        <p14:creationId xmlns:p14="http://schemas.microsoft.com/office/powerpoint/2010/main" val="9869754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Само заглав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Редакт. стил загл. образец</a:t>
            </a:r>
            <a:endParaRPr lang="en-US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8AC9D6C-2723-F2D5-665B-CC1939169B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2DEC9D1-E057-4590-96D7-C26F1905A7A6}" type="slidenum">
              <a:rPr lang="bg-BG" altLang="bg-BG"/>
              <a:pPr/>
              <a:t>‹#›</a:t>
            </a:fld>
            <a:endParaRPr lang="bg-BG" altLang="bg-BG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8C18583A-BA6D-39D4-931C-21A36CC4ED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bg-BG" altLang="bg-BG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07E6E029-5425-A6EA-5F4A-0AD8B8D850E9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bg-BG" altLang="bg-BG"/>
          </a:p>
        </p:txBody>
      </p:sp>
    </p:spTree>
    <p:extLst>
      <p:ext uri="{BB962C8B-B14F-4D97-AF65-F5344CB8AC3E}">
        <p14:creationId xmlns:p14="http://schemas.microsoft.com/office/powerpoint/2010/main" val="11938183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разе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1D22B4AC-C240-224B-24B8-8C074B8006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43BD302-1AB1-467D-A56A-9703F1C89D84}" type="slidenum">
              <a:rPr lang="bg-BG" altLang="bg-BG"/>
              <a:pPr/>
              <a:t>‹#›</a:t>
            </a:fld>
            <a:endParaRPr lang="bg-BG" altLang="bg-BG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5BB37B4-1BBC-FD40-3F87-83F3CE08D5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bg-BG" altLang="bg-B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A0772D-E663-E48D-3E5F-AFF5D34FC4CD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bg-BG" altLang="bg-BG"/>
          </a:p>
        </p:txBody>
      </p:sp>
    </p:spTree>
    <p:extLst>
      <p:ext uri="{BB962C8B-B14F-4D97-AF65-F5344CB8AC3E}">
        <p14:creationId xmlns:p14="http://schemas.microsoft.com/office/powerpoint/2010/main" val="3370082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Съдържание с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1" y="5495544"/>
            <a:ext cx="7772400" cy="594360"/>
          </a:xfrm>
        </p:spPr>
        <p:txBody>
          <a:bodyPr anchor="b"/>
          <a:lstStyle>
            <a:lvl1pPr algn="ctr">
              <a:defRPr sz="2200" b="1"/>
            </a:lvl1pPr>
          </a:lstStyle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799" y="6096000"/>
            <a:ext cx="7772401" cy="6096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04800" y="381000"/>
            <a:ext cx="7772400" cy="4942840"/>
          </a:xfrm>
        </p:spPr>
        <p:txBody>
          <a:bodyPr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D3312960-F89C-076D-138F-3FEDA6DD8001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BAEBF63-1E8B-4732-AA54-C5516730D814}" type="slidenum">
              <a:rPr lang="bg-BG" altLang="bg-BG"/>
              <a:pPr/>
              <a:t>‹#›</a:t>
            </a:fld>
            <a:endParaRPr lang="bg-BG" altLang="bg-B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C8E611-8138-2F87-C58B-AFB42C3674E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bg-BG" altLang="bg-BG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D4315526-57A9-B532-689B-B5D1DEA6051D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bg-BG" altLang="bg-BG"/>
          </a:p>
        </p:txBody>
      </p:sp>
    </p:spTree>
    <p:extLst>
      <p:ext uri="{BB962C8B-B14F-4D97-AF65-F5344CB8AC3E}">
        <p14:creationId xmlns:p14="http://schemas.microsoft.com/office/powerpoint/2010/main" val="10177377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Картина с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5495278"/>
            <a:ext cx="7772400" cy="594626"/>
          </a:xfrm>
        </p:spPr>
        <p:txBody>
          <a:bodyPr anchor="b"/>
          <a:lstStyle>
            <a:lvl1pPr algn="ctr">
              <a:defRPr sz="2200" b="1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458200" cy="54864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bg-BG" noProof="0"/>
              <a:t>Щракнете върху иконата, за да добавите картина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1752" y="6096000"/>
            <a:ext cx="7772400" cy="612648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0B439F7-1C32-22B4-2F3C-57F9712D507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E2CB153-81E0-4B96-9AF0-C3E012AF136C}" type="slidenum">
              <a:rPr lang="bg-BG" altLang="bg-BG"/>
              <a:pPr/>
              <a:t>‹#›</a:t>
            </a:fld>
            <a:endParaRPr lang="bg-BG" altLang="bg-BG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BA30C13-91A8-6A45-7ACF-0064DE2F1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bg-BG" altLang="bg-BG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8E97FC8E-585A-0203-519B-D35CD6ECB7BB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bg-BG" altLang="bg-BG"/>
          </a:p>
        </p:txBody>
      </p:sp>
    </p:spTree>
    <p:extLst>
      <p:ext uri="{BB962C8B-B14F-4D97-AF65-F5344CB8AC3E}">
        <p14:creationId xmlns:p14="http://schemas.microsoft.com/office/powerpoint/2010/main" val="32600261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лавие и вертикален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Редакт. стил загл. образец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4B04C2B-AC24-E94A-4D17-63704C7247F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0AE1384-5495-45B6-B65F-2169151F6D2B}" type="slidenum">
              <a:rPr lang="bg-BG" altLang="bg-BG"/>
              <a:pPr/>
              <a:t>‹#›</a:t>
            </a:fld>
            <a:endParaRPr lang="bg-BG" altLang="bg-B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EAE093-6E84-C3B6-ABD0-B5E5AE7E75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bg-BG" altLang="bg-BG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75FC5EFA-B875-AA6A-9103-1226A10B961E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bg-BG" altLang="bg-BG"/>
          </a:p>
        </p:txBody>
      </p:sp>
    </p:spTree>
    <p:extLst>
      <p:ext uri="{BB962C8B-B14F-4D97-AF65-F5344CB8AC3E}">
        <p14:creationId xmlns:p14="http://schemas.microsoft.com/office/powerpoint/2010/main" val="42389185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но заглавие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1752600" cy="5851525"/>
          </a:xfrm>
        </p:spPr>
        <p:txBody>
          <a:bodyPr vert="eaVert" anchor="b" anchorCtr="0"/>
          <a:lstStyle/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03DBAB6-EF0C-2499-57B2-1B9C8C8B0C5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9B3A430-1529-48C9-A4C6-3C0A98D02A0A}" type="slidenum">
              <a:rPr lang="bg-BG" altLang="bg-BG"/>
              <a:pPr/>
              <a:t>‹#›</a:t>
            </a:fld>
            <a:endParaRPr lang="bg-BG" altLang="bg-B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2D7E6A-9B53-D729-B513-A2CD5661A6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bg-BG" altLang="bg-BG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C52BEFE8-4B3A-EA3B-F16E-DE88140D8C02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bg-BG" altLang="bg-BG"/>
          </a:p>
        </p:txBody>
      </p:sp>
    </p:spTree>
    <p:extLst>
      <p:ext uri="{BB962C8B-B14F-4D97-AF65-F5344CB8AC3E}">
        <p14:creationId xmlns:p14="http://schemas.microsoft.com/office/powerpoint/2010/main" val="297119383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7C6AAA-5B03-6D54-7DD6-BF2D562988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7620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352A2E39-15AF-8139-649F-666624FF330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7620000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bg-BG" alt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 altLang="bg-BG"/>
              <a:t>Второ ниво</a:t>
            </a:r>
          </a:p>
          <a:p>
            <a:pPr lvl="2"/>
            <a:r>
              <a:rPr lang="bg-BG" altLang="bg-BG"/>
              <a:t>Трето ниво</a:t>
            </a:r>
          </a:p>
          <a:p>
            <a:pPr lvl="3"/>
            <a:r>
              <a:rPr lang="bg-BG" altLang="bg-BG"/>
              <a:t>Четвърто ниво</a:t>
            </a:r>
          </a:p>
          <a:p>
            <a:pPr lvl="4"/>
            <a:r>
              <a:rPr lang="bg-BG" altLang="bg-BG"/>
              <a:t>Пето ниво</a:t>
            </a:r>
            <a:endParaRPr lang="en-US" altLang="bg-BG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EDA1D71-6DEA-82DF-42CD-C9D7D9CFF6D5}"/>
              </a:ext>
            </a:extLst>
          </p:cNvPr>
          <p:cNvSpPr/>
          <p:nvPr/>
        </p:nvSpPr>
        <p:spPr>
          <a:xfrm>
            <a:off x="8458200" y="0"/>
            <a:ext cx="6858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DF45360-4D30-8DA6-18DA-9FC2A28D7CE3}"/>
              </a:ext>
            </a:extLst>
          </p:cNvPr>
          <p:cNvSpPr/>
          <p:nvPr/>
        </p:nvSpPr>
        <p:spPr>
          <a:xfrm>
            <a:off x="8458200" y="5486400"/>
            <a:ext cx="6858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768777-6DFA-F730-1166-A75D900DEC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1225" y="5648325"/>
            <a:ext cx="549275" cy="396875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fld id="{9E11A99F-FFA4-46D2-9B17-A46A0FB2BD9F}" type="slidenum">
              <a:rPr lang="bg-BG" altLang="bg-BG"/>
              <a:pPr/>
              <a:t>‹#›</a:t>
            </a:fld>
            <a:endParaRPr lang="bg-BG" altLang="bg-B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3F5A5F-C719-5924-0F50-33B3FC6765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7587456" y="4048919"/>
            <a:ext cx="23669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bg-BG" altLang="bg-B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99E932-2601-8534-3223-F7AD93F292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7551738" y="1646237"/>
            <a:ext cx="2438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bg-BG" altLang="bg-BG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600" kern="1200" spc="-1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600">
          <a:solidFill>
            <a:schemeClr val="tx2"/>
          </a:solidFill>
          <a:latin typeface="Cambria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600">
          <a:solidFill>
            <a:schemeClr val="tx2"/>
          </a:solidFill>
          <a:latin typeface="Cambria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600">
          <a:solidFill>
            <a:schemeClr val="tx2"/>
          </a:solidFill>
          <a:latin typeface="Cambria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600">
          <a:solidFill>
            <a:schemeClr val="tx2"/>
          </a:solidFill>
          <a:latin typeface="Cambria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600">
          <a:solidFill>
            <a:schemeClr val="tx2"/>
          </a:solidFill>
          <a:latin typeface="Cambria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600">
          <a:solidFill>
            <a:schemeClr val="tx2"/>
          </a:solidFill>
          <a:latin typeface="Cambria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600">
          <a:solidFill>
            <a:schemeClr val="tx2"/>
          </a:solidFill>
          <a:latin typeface="Cambria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600">
          <a:solidFill>
            <a:schemeClr val="tx2"/>
          </a:solidFill>
          <a:latin typeface="Cambria" pitchFamily="18" charset="0"/>
        </a:defRPr>
      </a:lvl9pPr>
    </p:titleStyle>
    <p:bodyStyle>
      <a:lvl1pPr marL="3429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39763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04888" indent="-228600" algn="l" rtl="0" eaLnBrk="0" fontAlgn="base" hangingPunct="0">
        <a:spcBef>
          <a:spcPct val="20000"/>
        </a:spcBef>
        <a:spcAft>
          <a:spcPct val="0"/>
        </a:spcAft>
        <a:buClr>
          <a:srgbClr val="5BD078"/>
        </a:buClr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3pPr>
      <a:lvl4pPr marL="1279525" indent="-228600" algn="l" rtl="0" eaLnBrk="0" fontAlgn="base" hangingPunct="0">
        <a:spcBef>
          <a:spcPct val="20000"/>
        </a:spcBef>
        <a:spcAft>
          <a:spcPct val="0"/>
        </a:spcAft>
        <a:buClr>
          <a:srgbClr val="A5D028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163" indent="-228600" algn="l" rtl="0" eaLnBrk="0" fontAlgn="base" hangingPunct="0">
        <a:spcBef>
          <a:spcPct val="20000"/>
        </a:spcBef>
        <a:spcAft>
          <a:spcPct val="0"/>
        </a:spcAft>
        <a:buClr>
          <a:srgbClr val="F5C040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.png"/><Relationship Id="rId3" Type="http://schemas.openxmlformats.org/officeDocument/2006/relationships/hyperlink" Target="http://www.google.bg/" TargetMode="External"/><Relationship Id="rId4" Type="http://schemas.openxmlformats.org/officeDocument/2006/relationships/hyperlink" Target="http://www.dir.bg/" TargetMode="External"/><Relationship Id="rId5" Type="http://schemas.openxmlformats.org/officeDocument/2006/relationships/hyperlink" Target="http://www.all.bg/" TargetMode="External"/><Relationship Id="rId6" Type="http://schemas.openxmlformats.org/officeDocument/2006/relationships/hyperlink" Target="http://www.triada.bg/" TargetMode="External"/><Relationship Id="rId7" Type="http://schemas.openxmlformats.org/officeDocument/2006/relationships/hyperlink" Target="http://www.yahoo.com/" TargetMode="External"/><Relationship Id="rId8" Type="http://schemas.openxmlformats.org/officeDocument/2006/relationships/hyperlink" Target="http://www.lycos.com/" TargetMode="External"/><Relationship Id="rId9" Type="http://schemas.openxmlformats.org/officeDocument/2006/relationships/hyperlink" Target="http://www.altawista.com/" TargetMode="External"/><Relationship Id="rId10" Type="http://schemas.openxmlformats.org/officeDocument/2006/relationships/hyperlink" Target="http://www.hotbot.com/" TargetMode="External"/><Relationship Id="rId11" Type="http://schemas.openxmlformats.org/officeDocument/2006/relationships/hyperlink" Target="http://www.goto.com/" TargetMode="External"/><Relationship Id="rId12" Type="http://schemas.openxmlformats.org/officeDocument/2006/relationships/hyperlink" Target="http://www.canada.com/" TargetMode="External"/><Relationship Id="rId13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www.google.bg/" TargetMode="Externa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4">
            <a:extLst>
              <a:ext uri="{FF2B5EF4-FFF2-40B4-BE49-F238E27FC236}">
                <a16:creationId xmlns:a16="http://schemas.microsoft.com/office/drawing/2014/main" id="{F8861EF0-4663-4430-5E1D-F188964D01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447800"/>
            <a:ext cx="4876800" cy="300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8" name="Rectangle 2">
            <a:extLst>
              <a:ext uri="{FF2B5EF4-FFF2-40B4-BE49-F238E27FC236}">
                <a16:creationId xmlns:a16="http://schemas.microsoft.com/office/drawing/2014/main" id="{0EB6B687-317B-6A4A-509A-7F66B60F9490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31825" y="1257816"/>
            <a:ext cx="7658100" cy="2882900"/>
          </a:xfrm>
        </p:spPr>
        <p:txBody>
          <a:bodyPr/>
          <a:lstStyle/>
          <a:p>
            <a:pPr algn="r" eaLnBrk="1" fontAlgn="auto" hangingPunct="1">
              <a:spcAft>
                <a:spcPts val="0"/>
              </a:spcAft>
              <a:defRPr/>
            </a:pPr>
            <a:r>
              <a:rPr lang="bg-BG" altLang="bg-BG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Търсене на информация в Интернет</a:t>
            </a:r>
          </a:p>
        </p:txBody>
      </p:sp>
      <p:pic>
        <p:nvPicPr>
          <p:cNvPr id="4100" name="Picture 4">
            <a:extLst>
              <a:ext uri="{FF2B5EF4-FFF2-40B4-BE49-F238E27FC236}">
                <a16:creationId xmlns:a16="http://schemas.microsoft.com/office/drawing/2014/main" id="{9BA6BA3D-FD23-5757-97A9-0BC076EB00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467" y="3581400"/>
            <a:ext cx="5400675" cy="2958786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Текстово поле 1">
            <a:extLst>
              <a:ext uri="{FF2B5EF4-FFF2-40B4-BE49-F238E27FC236}">
                <a16:creationId xmlns:a16="http://schemas.microsoft.com/office/drawing/2014/main" id="{25B778C0-09E8-7EF7-9427-DACD9F0750B0}"/>
              </a:ext>
            </a:extLst>
          </p:cNvPr>
          <p:cNvSpPr txBox="1"/>
          <p:nvPr/>
        </p:nvSpPr>
        <p:spPr>
          <a:xfrm>
            <a:off x="2096366" y="227112"/>
            <a:ext cx="47290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bg-BG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bg-BG" sz="1600" dirty="0"/>
              <a:t>КМИТ, 5 клас, Елена Маврова-Ненкова</a:t>
            </a:r>
          </a:p>
        </p:txBody>
      </p:sp>
      <p:pic>
        <p:nvPicPr>
          <p:cNvPr id="4101" name="Picture 4100" descr="_em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5943600"/>
            <a:ext cx="868680" cy="90529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4">
            <a:extLst>
              <a:ext uri="{FF2B5EF4-FFF2-40B4-BE49-F238E27FC236}">
                <a16:creationId xmlns:a16="http://schemas.microsoft.com/office/drawing/2014/main" id="{EC0F90D5-38C5-4163-22E4-959105CD9E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371600"/>
            <a:ext cx="3429000" cy="2947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18" name="Rectangle 2">
            <a:extLst>
              <a:ext uri="{FF2B5EF4-FFF2-40B4-BE49-F238E27FC236}">
                <a16:creationId xmlns:a16="http://schemas.microsoft.com/office/drawing/2014/main" id="{F71543BE-C908-B8EB-51AF-BF240CB6DA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620000" cy="11430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bg-BG" altLang="bg-BG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 Търсещи машини („търсачки“)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05AAB47B-E679-5091-EFD0-9B572F20B1D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8600" y="3581400"/>
            <a:ext cx="8229600" cy="4038600"/>
          </a:xfrm>
        </p:spPr>
        <p:txBody>
          <a:bodyPr rtlCol="0">
            <a:normAutofit/>
          </a:bodyPr>
          <a:lstStyle/>
          <a:p>
            <a:pPr marL="114300" indent="0" algn="ctr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bg-BG" altLang="bg-BG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Търсещи машини </a:t>
            </a:r>
            <a:r>
              <a:rPr lang="bg-BG" altLang="bg-BG" sz="3200" dirty="0"/>
              <a:t>(</a:t>
            </a:r>
            <a:r>
              <a:rPr lang="en-US" altLang="bg-BG" sz="3200" dirty="0"/>
              <a:t>Search engines</a:t>
            </a:r>
            <a:r>
              <a:rPr lang="bg-BG" altLang="bg-BG" sz="3200" dirty="0"/>
              <a:t>)</a:t>
            </a:r>
            <a:r>
              <a:rPr lang="en-US" altLang="bg-BG" sz="3200" dirty="0"/>
              <a:t>- </a:t>
            </a:r>
            <a:r>
              <a:rPr lang="bg-BG" altLang="bg-BG" sz="3200" dirty="0"/>
              <a:t>специални страници, които помагат на потребителите по-лесно да намират информацията, която търсят.</a:t>
            </a:r>
          </a:p>
        </p:txBody>
      </p:sp>
      <p:sp>
        <p:nvSpPr>
          <p:cNvPr id="2" name="Текстово поле 1">
            <a:extLst>
              <a:ext uri="{FF2B5EF4-FFF2-40B4-BE49-F238E27FC236}">
                <a16:creationId xmlns:a16="http://schemas.microsoft.com/office/drawing/2014/main" id="{30455870-C503-6D28-A4D6-91CE1BE4D197}"/>
              </a:ext>
            </a:extLst>
          </p:cNvPr>
          <p:cNvSpPr txBox="1"/>
          <p:nvPr/>
        </p:nvSpPr>
        <p:spPr>
          <a:xfrm>
            <a:off x="1978891" y="6375499"/>
            <a:ext cx="47290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bg-BG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bg-BG" sz="1400" dirty="0"/>
              <a:t>КМИТ, 5 клас, Елена Маврова-Ненкова</a:t>
            </a:r>
          </a:p>
        </p:txBody>
      </p:sp>
      <p:pic>
        <p:nvPicPr>
          <p:cNvPr id="9220" name="Picture 9219" descr="_em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5943600"/>
            <a:ext cx="868680" cy="90529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5">
            <a:extLst>
              <a:ext uri="{FF2B5EF4-FFF2-40B4-BE49-F238E27FC236}">
                <a16:creationId xmlns:a16="http://schemas.microsoft.com/office/drawing/2014/main" id="{DD4E28B3-2C46-8635-2F6B-44992DC306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8" y="152400"/>
            <a:ext cx="5027612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66" name="Rectangle 2">
            <a:extLst>
              <a:ext uri="{FF2B5EF4-FFF2-40B4-BE49-F238E27FC236}">
                <a16:creationId xmlns:a16="http://schemas.microsoft.com/office/drawing/2014/main" id="{EED08755-DFAB-6C1C-A17A-2030AF864DD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1081088"/>
            <a:ext cx="7620000" cy="1143000"/>
          </a:xfrm>
        </p:spPr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bg-BG" altLang="bg-BG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Популярни</a:t>
            </a:r>
            <a:r>
              <a:rPr lang="bg-BG" altLang="bg-BG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търсещи машини</a:t>
            </a:r>
          </a:p>
        </p:txBody>
      </p:sp>
      <p:sp>
        <p:nvSpPr>
          <p:cNvPr id="4100" name="Rectangle 3">
            <a:extLst>
              <a:ext uri="{FF2B5EF4-FFF2-40B4-BE49-F238E27FC236}">
                <a16:creationId xmlns:a16="http://schemas.microsoft.com/office/drawing/2014/main" id="{832DE26C-BF78-07A9-2032-14A72B9FDE68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692150" y="2590800"/>
            <a:ext cx="3657600" cy="3352800"/>
          </a:xfrm>
        </p:spPr>
        <p:txBody>
          <a:bodyPr/>
          <a:lstStyle/>
          <a:p>
            <a:pPr eaLnBrk="1" hangingPunct="1"/>
            <a:r>
              <a:rPr lang="bg-BG" altLang="bg-BG" b="1"/>
              <a:t>Български</a:t>
            </a:r>
            <a:endParaRPr lang="en-US" altLang="bg-BG" b="1"/>
          </a:p>
          <a:p>
            <a:pPr lvl="1" eaLnBrk="1" hangingPunct="1"/>
            <a:r>
              <a:rPr lang="en-US" altLang="bg-BG">
                <a:hlinkClick r:id="rId3"/>
              </a:rPr>
              <a:t>www.google.bg</a:t>
            </a:r>
            <a:endParaRPr lang="bg-BG" altLang="bg-BG"/>
          </a:p>
          <a:p>
            <a:pPr lvl="1" eaLnBrk="1" hangingPunct="1"/>
            <a:r>
              <a:rPr lang="en-US" altLang="bg-BG">
                <a:hlinkClick r:id="rId4"/>
              </a:rPr>
              <a:t>www.dir.bg</a:t>
            </a:r>
            <a:endParaRPr lang="en-US" altLang="bg-BG"/>
          </a:p>
          <a:p>
            <a:pPr lvl="1" eaLnBrk="1" hangingPunct="1"/>
            <a:r>
              <a:rPr lang="en-US" altLang="bg-BG">
                <a:hlinkClick r:id="rId5"/>
              </a:rPr>
              <a:t>www.all.bg</a:t>
            </a:r>
            <a:endParaRPr lang="en-US" altLang="bg-BG"/>
          </a:p>
          <a:p>
            <a:pPr lvl="1" eaLnBrk="1" hangingPunct="1"/>
            <a:r>
              <a:rPr lang="en-US" altLang="bg-BG"/>
              <a:t>www.search.bg</a:t>
            </a:r>
          </a:p>
          <a:p>
            <a:pPr lvl="1" eaLnBrk="1" hangingPunct="1"/>
            <a:r>
              <a:rPr lang="en-US" altLang="bg-BG">
                <a:hlinkClick r:id="rId6"/>
              </a:rPr>
              <a:t>www.triada.bg</a:t>
            </a:r>
            <a:endParaRPr lang="en-US" altLang="bg-BG"/>
          </a:p>
          <a:p>
            <a:pPr lvl="1" eaLnBrk="1" hangingPunct="1"/>
            <a:r>
              <a:rPr lang="en-US" altLang="bg-BG"/>
              <a:t>www.webinfo.bg</a:t>
            </a:r>
          </a:p>
        </p:txBody>
      </p:sp>
      <p:sp>
        <p:nvSpPr>
          <p:cNvPr id="4101" name="Rectangle 4">
            <a:extLst>
              <a:ext uri="{FF2B5EF4-FFF2-40B4-BE49-F238E27FC236}">
                <a16:creationId xmlns:a16="http://schemas.microsoft.com/office/drawing/2014/main" id="{3EF5D7CE-1C69-E797-366B-9DE332D16D8B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>
          <a:xfrm>
            <a:off x="4267200" y="2514600"/>
            <a:ext cx="3657600" cy="3752850"/>
          </a:xfrm>
        </p:spPr>
        <p:txBody>
          <a:bodyPr/>
          <a:lstStyle/>
          <a:p>
            <a:pPr eaLnBrk="1" hangingPunct="1"/>
            <a:r>
              <a:rPr lang="bg-BG" altLang="bg-BG" b="1"/>
              <a:t>Чуждестранни</a:t>
            </a:r>
            <a:endParaRPr lang="en-US" altLang="bg-BG" b="1"/>
          </a:p>
          <a:p>
            <a:pPr lvl="1" eaLnBrk="1" hangingPunct="1"/>
            <a:r>
              <a:rPr lang="en-US" altLang="bg-BG">
                <a:hlinkClick r:id="rId7"/>
              </a:rPr>
              <a:t>www.yahoo.com</a:t>
            </a:r>
            <a:endParaRPr lang="bg-BG" altLang="bg-BG"/>
          </a:p>
          <a:p>
            <a:pPr lvl="1" eaLnBrk="1" hangingPunct="1"/>
            <a:r>
              <a:rPr lang="en-US" altLang="bg-BG">
                <a:hlinkClick r:id="rId8"/>
              </a:rPr>
              <a:t>www.lycos.com</a:t>
            </a:r>
            <a:endParaRPr lang="en-US" altLang="bg-BG"/>
          </a:p>
          <a:p>
            <a:pPr lvl="1" eaLnBrk="1" hangingPunct="1"/>
            <a:r>
              <a:rPr lang="en-US" altLang="bg-BG">
                <a:hlinkClick r:id="rId9"/>
              </a:rPr>
              <a:t>www.altawista.com</a:t>
            </a:r>
            <a:endParaRPr lang="en-US" altLang="bg-BG"/>
          </a:p>
          <a:p>
            <a:pPr lvl="1" eaLnBrk="1" hangingPunct="1"/>
            <a:r>
              <a:rPr lang="en-US" altLang="bg-BG">
                <a:hlinkClick r:id="rId10"/>
              </a:rPr>
              <a:t>www.hotbot.com</a:t>
            </a:r>
            <a:endParaRPr lang="en-US" altLang="bg-BG"/>
          </a:p>
          <a:p>
            <a:pPr lvl="1" eaLnBrk="1" hangingPunct="1"/>
            <a:r>
              <a:rPr lang="en-US" altLang="bg-BG">
                <a:hlinkClick r:id="rId11"/>
              </a:rPr>
              <a:t>www.goto.com</a:t>
            </a:r>
            <a:endParaRPr lang="en-US" altLang="bg-BG"/>
          </a:p>
          <a:p>
            <a:pPr lvl="1" eaLnBrk="1" hangingPunct="1"/>
            <a:r>
              <a:rPr lang="en-US" altLang="bg-BG">
                <a:hlinkClick r:id="rId12"/>
              </a:rPr>
              <a:t>www.canada.com</a:t>
            </a:r>
            <a:endParaRPr lang="en-US" altLang="bg-BG"/>
          </a:p>
          <a:p>
            <a:pPr lvl="1" eaLnBrk="1" hangingPunct="1"/>
            <a:r>
              <a:rPr lang="en-US" altLang="bg-BG"/>
              <a:t>www.directhit.com</a:t>
            </a:r>
            <a:endParaRPr lang="bg-BG" altLang="bg-BG"/>
          </a:p>
        </p:txBody>
      </p:sp>
      <p:sp>
        <p:nvSpPr>
          <p:cNvPr id="2" name="Текстово поле 1">
            <a:extLst>
              <a:ext uri="{FF2B5EF4-FFF2-40B4-BE49-F238E27FC236}">
                <a16:creationId xmlns:a16="http://schemas.microsoft.com/office/drawing/2014/main" id="{04BD6CC9-81CB-D0FB-67B6-99E717E72E91}"/>
              </a:ext>
            </a:extLst>
          </p:cNvPr>
          <p:cNvSpPr txBox="1"/>
          <p:nvPr/>
        </p:nvSpPr>
        <p:spPr>
          <a:xfrm>
            <a:off x="2207491" y="6404073"/>
            <a:ext cx="47290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bg-BG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bg-BG" sz="1400" dirty="0"/>
              <a:t>КМИТ, 5 клас, Елена Маврова-Ненкова</a:t>
            </a:r>
          </a:p>
        </p:txBody>
      </p:sp>
      <p:pic>
        <p:nvPicPr>
          <p:cNvPr id="11267" name="Picture 11266" descr="_em_logo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92440" y="5943600"/>
            <a:ext cx="868680" cy="90529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A595F2BC-3A4F-BDEB-2460-6E1BE7DE94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bg-BG" altLang="bg-BG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 Търсене по ключова дума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A1FCF42D-8239-0276-3CD3-F2F3B828F08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04800" y="1600200"/>
            <a:ext cx="8229600" cy="5105400"/>
          </a:xfrm>
        </p:spPr>
        <p:txBody>
          <a:bodyPr rtlCol="0">
            <a:normAutofit/>
          </a:bodyPr>
          <a:lstStyle/>
          <a:p>
            <a:pPr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bg-BG" altLang="bg-BG" sz="2800" dirty="0"/>
              <a:t>Търсенето се осъществява с </a:t>
            </a:r>
            <a:r>
              <a:rPr lang="bg-BG" altLang="bg-BG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ключови думи </a:t>
            </a:r>
            <a:r>
              <a:rPr lang="bg-BG" altLang="bg-BG" sz="2800" dirty="0"/>
              <a:t>(</a:t>
            </a:r>
            <a:r>
              <a:rPr lang="en-US" altLang="bg-BG" sz="2800" dirty="0"/>
              <a:t>keywords</a:t>
            </a:r>
            <a:r>
              <a:rPr lang="bg-BG" altLang="bg-BG" sz="2800" dirty="0"/>
              <a:t>). </a:t>
            </a:r>
            <a:r>
              <a:rPr lang="bg-BG" altLang="bg-BG" sz="2800" i="1" dirty="0"/>
              <a:t>Напр.: „хотел“, „спа хотел“, и т.н.</a:t>
            </a:r>
            <a:endParaRPr lang="en-US" altLang="bg-BG" sz="2800" i="1" dirty="0"/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bg-BG" altLang="bg-BG" sz="2800" dirty="0"/>
              <a:t>Подборът на ключови думи има голямо значение за намиране на информацията.</a:t>
            </a: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bg-BG" altLang="bg-BG" sz="2800" dirty="0"/>
              <a:t>Правила за търсене:</a:t>
            </a:r>
          </a:p>
          <a:p>
            <a:pPr marL="640080" lvl="1"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bg-BG" altLang="bg-BG" sz="2400" dirty="0"/>
              <a:t>В </a:t>
            </a:r>
            <a:r>
              <a:rPr lang="bg-BG" altLang="bg-BG" sz="2400" b="1" dirty="0"/>
              <a:t>кавички</a:t>
            </a:r>
            <a:r>
              <a:rPr lang="bg-BG" altLang="bg-BG" sz="2400" dirty="0"/>
              <a:t> се търси фраза, указана точно както е в кавичките;</a:t>
            </a:r>
          </a:p>
          <a:p>
            <a:pPr marL="640080" lvl="1"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bg-BG" altLang="bg-BG" sz="2400" dirty="0"/>
              <a:t>Знака </a:t>
            </a:r>
            <a:r>
              <a:rPr lang="bg-BG" altLang="bg-BG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минус</a:t>
            </a:r>
            <a:r>
              <a:rPr lang="bg-BG" altLang="bg-BG" sz="2400" dirty="0"/>
              <a:t> пред дума указва, че тази дума не трябва да присъства в страницата, която търсим;</a:t>
            </a:r>
          </a:p>
          <a:p>
            <a:pPr marL="640080" lvl="1"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bg-BG" altLang="bg-BG" sz="2400" dirty="0"/>
              <a:t>Знака </a:t>
            </a:r>
            <a:r>
              <a:rPr lang="bg-BG" altLang="bg-BG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плюс</a:t>
            </a:r>
            <a:r>
              <a:rPr lang="bg-BG" altLang="bg-BG" sz="2400" dirty="0"/>
              <a:t> пред дума указва, че тази дума задължително трябва да присъства в страницата, която търсим;</a:t>
            </a:r>
          </a:p>
        </p:txBody>
      </p:sp>
      <p:pic>
        <p:nvPicPr>
          <p:cNvPr id="10244" name="Picture 10243" descr="_e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5943600"/>
            <a:ext cx="868680" cy="90529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F825431A-5682-2E69-F309-DC5C6A820D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8950" y="3276600"/>
            <a:ext cx="7620000" cy="11430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bg-BG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4. Други начини за търсене</a:t>
            </a:r>
          </a:p>
        </p:txBody>
      </p:sp>
      <p:sp>
        <p:nvSpPr>
          <p:cNvPr id="6147" name="Контейнер за съдържание 2">
            <a:extLst>
              <a:ext uri="{FF2B5EF4-FFF2-40B4-BE49-F238E27FC236}">
                <a16:creationId xmlns:a16="http://schemas.microsoft.com/office/drawing/2014/main" id="{35651577-9B68-8082-E88C-BCD0B61AFD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572000"/>
            <a:ext cx="7620000" cy="6858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Char char="ü"/>
            </a:pPr>
            <a:r>
              <a:rPr lang="bg-BG" altLang="bg-BG" sz="2800"/>
              <a:t> Чрез гласови команди за търсене (микрофон)</a:t>
            </a:r>
          </a:p>
        </p:txBody>
      </p:sp>
      <p:sp>
        <p:nvSpPr>
          <p:cNvPr id="4" name="Заглавие 1">
            <a:extLst>
              <a:ext uri="{FF2B5EF4-FFF2-40B4-BE49-F238E27FC236}">
                <a16:creationId xmlns:a16="http://schemas.microsoft.com/office/drawing/2014/main" id="{0FDA92C5-9427-4C84-00B0-05FED09852DF}"/>
              </a:ext>
            </a:extLst>
          </p:cNvPr>
          <p:cNvSpPr txBox="1">
            <a:spLocks/>
          </p:cNvSpPr>
          <p:nvPr/>
        </p:nvSpPr>
        <p:spPr>
          <a:xfrm>
            <a:off x="457200" y="304800"/>
            <a:ext cx="7620000" cy="1143000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spcBef>
                <a:spcPct val="0"/>
              </a:spcBef>
              <a:buNone/>
              <a:defRPr sz="4600" kern="1200" cap="none" spc="-100" baseline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r>
              <a:rPr lang="bg-BG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3. Разширено (допълнително) търсене</a:t>
            </a:r>
          </a:p>
        </p:txBody>
      </p:sp>
      <p:sp>
        <p:nvSpPr>
          <p:cNvPr id="5" name="Контейнер за съдържание 2">
            <a:extLst>
              <a:ext uri="{FF2B5EF4-FFF2-40B4-BE49-F238E27FC236}">
                <a16:creationId xmlns:a16="http://schemas.microsoft.com/office/drawing/2014/main" id="{D588DD45-F2A0-B9BB-9A2D-0295CF9A1C77}"/>
              </a:ext>
            </a:extLst>
          </p:cNvPr>
          <p:cNvSpPr txBox="1">
            <a:spLocks/>
          </p:cNvSpPr>
          <p:nvPr/>
        </p:nvSpPr>
        <p:spPr>
          <a:xfrm>
            <a:off x="592138" y="1676400"/>
            <a:ext cx="7620000" cy="1219200"/>
          </a:xfrm>
          <a:prstGeom prst="rect">
            <a:avLst/>
          </a:prstGeom>
        </p:spPr>
        <p:txBody>
          <a:bodyPr>
            <a:normAutofit fontScale="70000" lnSpcReduction="20000"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  <a:buFont typeface="Wingdings" panose="05000000000000000000" pitchFamily="2" charset="2"/>
              <a:buChar char="ü"/>
              <a:defRPr/>
            </a:pPr>
            <a:r>
              <a:rPr lang="bg-BG" sz="2800" dirty="0"/>
              <a:t> </a:t>
            </a:r>
            <a:r>
              <a:rPr lang="bg-BG" sz="4000" dirty="0"/>
              <a:t>Уточняване на допълнителни критерии към ключовата дума. </a:t>
            </a:r>
            <a:r>
              <a:rPr lang="bg-BG" altLang="bg-BG" sz="4000" i="1" dirty="0"/>
              <a:t>Напр.: „всички държави“, „България“ и т.н.</a:t>
            </a:r>
            <a:endParaRPr lang="en-US" altLang="bg-BG" sz="4000" i="1" dirty="0"/>
          </a:p>
          <a:p>
            <a:pPr fontAlgn="auto">
              <a:spcAft>
                <a:spcPts val="0"/>
              </a:spcAft>
              <a:buFont typeface="Wingdings" panose="05000000000000000000" pitchFamily="2" charset="2"/>
              <a:buChar char="ü"/>
              <a:defRPr/>
            </a:pPr>
            <a:endParaRPr lang="bg-BG" sz="4000" dirty="0"/>
          </a:p>
        </p:txBody>
      </p:sp>
      <p:sp>
        <p:nvSpPr>
          <p:cNvPr id="3" name="Текстово поле 2">
            <a:extLst>
              <a:ext uri="{FF2B5EF4-FFF2-40B4-BE49-F238E27FC236}">
                <a16:creationId xmlns:a16="http://schemas.microsoft.com/office/drawing/2014/main" id="{14D36898-981D-9D6A-77E7-31A13390930B}"/>
              </a:ext>
            </a:extLst>
          </p:cNvPr>
          <p:cNvSpPr txBox="1"/>
          <p:nvPr/>
        </p:nvSpPr>
        <p:spPr>
          <a:xfrm>
            <a:off x="2207491" y="6404073"/>
            <a:ext cx="47290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bg-BG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bg-BG" sz="1400" dirty="0"/>
              <a:t>КМИТ, 5 клас, Елена Маврова-Ненкова</a:t>
            </a:r>
          </a:p>
        </p:txBody>
      </p:sp>
      <p:pic>
        <p:nvPicPr>
          <p:cNvPr id="6148" name="Picture 6147" descr="_e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5943600"/>
            <a:ext cx="868680" cy="90529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1B375B40-3DB1-346F-31ED-F5FE7A2C22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bg-BG" altLang="bg-BG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Практически задачи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456C04EA-74FE-6D0A-1484-C2E3D8E6402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2057400"/>
            <a:ext cx="8229600" cy="3200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bg-BG" altLang="bg-BG" sz="2800"/>
              <a:t>Заредете браузърите </a:t>
            </a:r>
            <a:r>
              <a:rPr lang="en-US" altLang="bg-BG" sz="2800"/>
              <a:t>Microsoft Edge </a:t>
            </a:r>
            <a:r>
              <a:rPr lang="bg-BG" altLang="bg-BG" sz="2800"/>
              <a:t>и </a:t>
            </a:r>
            <a:r>
              <a:rPr lang="en-US" altLang="bg-BG" sz="2800"/>
              <a:t>Google Chrome;</a:t>
            </a:r>
          </a:p>
          <a:p>
            <a:pPr eaLnBrk="1" hangingPunct="1">
              <a:lnSpc>
                <a:spcPct val="90000"/>
              </a:lnSpc>
            </a:pPr>
            <a:r>
              <a:rPr lang="bg-BG" altLang="bg-BG" sz="2800"/>
              <a:t>Заредете търсачката </a:t>
            </a:r>
            <a:r>
              <a:rPr lang="en-US" altLang="bg-BG" sz="2800">
                <a:hlinkClick r:id="rId2"/>
              </a:rPr>
              <a:t>www.google.bg</a:t>
            </a:r>
            <a:r>
              <a:rPr lang="en-US" altLang="bg-BG" sz="2800"/>
              <a:t>;</a:t>
            </a:r>
          </a:p>
          <a:p>
            <a:pPr eaLnBrk="1" hangingPunct="1">
              <a:lnSpc>
                <a:spcPct val="90000"/>
              </a:lnSpc>
            </a:pPr>
            <a:r>
              <a:rPr lang="bg-BG" altLang="bg-BG" sz="2800"/>
              <a:t>Намерете информация, свързана с ключовата фраза „Канарски острови“;</a:t>
            </a:r>
          </a:p>
          <a:p>
            <a:pPr eaLnBrk="1" hangingPunct="1">
              <a:lnSpc>
                <a:spcPct val="90000"/>
              </a:lnSpc>
            </a:pPr>
            <a:r>
              <a:rPr lang="bg-BG" altLang="bg-BG" sz="2800"/>
              <a:t>Сравнете получените резултати с двата браузъра;</a:t>
            </a:r>
          </a:p>
        </p:txBody>
      </p:sp>
      <p:sp>
        <p:nvSpPr>
          <p:cNvPr id="2" name="Текстово поле 1">
            <a:extLst>
              <a:ext uri="{FF2B5EF4-FFF2-40B4-BE49-F238E27FC236}">
                <a16:creationId xmlns:a16="http://schemas.microsoft.com/office/drawing/2014/main" id="{90CF1673-9D2D-A8F0-3DCE-62CD4149BED7}"/>
              </a:ext>
            </a:extLst>
          </p:cNvPr>
          <p:cNvSpPr txBox="1"/>
          <p:nvPr/>
        </p:nvSpPr>
        <p:spPr>
          <a:xfrm>
            <a:off x="2207491" y="6404073"/>
            <a:ext cx="47290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bg-BG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bg-BG" sz="1400" dirty="0"/>
              <a:t>КМИТ, 5 клас, Елена Маврова-Ненкова</a:t>
            </a:r>
          </a:p>
        </p:txBody>
      </p:sp>
      <p:pic>
        <p:nvPicPr>
          <p:cNvPr id="13315" name="Picture 13314" descr="_em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5943600"/>
            <a:ext cx="868680" cy="905291"/>
          </a:xfrm>
          <a:prstGeom prst="rect">
            <a:avLst/>
          </a:prstGeom>
        </p:spPr>
      </p:pic>
    </p:spTree>
  </p:cSld>
  <p:clrMapOvr>
    <a:masterClrMapping/>
  </p:clrMapOvr>
</p:sld>
</file>

<file path=ppt/theme/_rels/them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Съседство">
  <a:themeElements>
    <a:clrScheme name="Вълна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Оffice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ъседство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75000">
              <a:schemeClr val="phClr">
                <a:shade val="100000"/>
                <a:satMod val="115000"/>
              </a:schemeClr>
            </a:gs>
            <a:gs pos="100000">
              <a:schemeClr val="phClr">
                <a:shade val="70000"/>
                <a:satMod val="130000"/>
              </a:schemeClr>
            </a:gs>
          </a:gsLst>
          <a:path path="circle">
            <a:fillToRect l="20000" t="50000" r="10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7000"/>
              </a:schemeClr>
              <a:schemeClr val="phClr">
                <a:shade val="96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Adjacency</Template>
  <TotalTime>105</TotalTime>
  <Words>316</Words>
  <Application>Microsoft Office PowerPoint</Application>
  <PresentationFormat>Презентация на цял екран (4:3)</PresentationFormat>
  <Paragraphs>40</Paragraphs>
  <Slides>6</Slides>
  <Notes>0</Notes>
  <HiddenSlides>0</HiddenSlides>
  <MMClips>0</MMClips>
  <ScaleCrop>false</ScaleCrop>
  <HeadingPairs>
    <vt:vector size="6" baseType="variant">
      <vt:variant>
        <vt:lpstr>Използвани шрифтове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Заглавия на слайдовете</vt:lpstr>
      </vt:variant>
      <vt:variant>
        <vt:i4>6</vt:i4>
      </vt:variant>
    </vt:vector>
  </HeadingPairs>
  <TitlesOfParts>
    <vt:vector size="12" baseType="lpstr">
      <vt:lpstr>Verdana</vt:lpstr>
      <vt:lpstr>Arial</vt:lpstr>
      <vt:lpstr>Cambria</vt:lpstr>
      <vt:lpstr>Calibri</vt:lpstr>
      <vt:lpstr>Wingdings</vt:lpstr>
      <vt:lpstr>Съседство</vt:lpstr>
      <vt:lpstr>Търсене на информация в Интернет</vt:lpstr>
      <vt:lpstr>1. Търсещи машини („търсачки“)</vt:lpstr>
      <vt:lpstr>Популярни търсещи машини</vt:lpstr>
      <vt:lpstr>2. Търсене по ключова дума</vt:lpstr>
      <vt:lpstr>4. Други начини за търсене</vt:lpstr>
      <vt:lpstr>Практически задачи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Елена Г. Маврова-Ненкова</dc:creator>
  <cp:lastModifiedBy>Elena Nenkova</cp:lastModifiedBy>
  <cp:revision>7</cp:revision>
  <cp:lastPrinted>1601-01-01T00:00:00Z</cp:lastPrinted>
  <dcterms:created xsi:type="dcterms:W3CDTF">1601-01-01T00:00:00Z</dcterms:created>
  <dcterms:modified xsi:type="dcterms:W3CDTF">2026-07-22T08:10:27Z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